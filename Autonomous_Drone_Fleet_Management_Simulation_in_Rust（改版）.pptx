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80" r:id="rId11"/>
    <p:sldId id="271" r:id="rId12"/>
    <p:sldId id="264" r:id="rId13"/>
    <p:sldId id="265" r:id="rId14"/>
    <p:sldId id="266" r:id="rId15"/>
    <p:sldId id="267" r:id="rId16"/>
    <p:sldId id="268" r:id="rId17"/>
    <p:sldId id="269" r:id="rId18"/>
    <p:sldId id="270" r:id="rId19"/>
  </p:sldIdLst>
  <p:sldSz cx="17475200" cy="9753600"/>
  <p:notesSz cx="17475200" cy="9753600"/>
  <p:defaultTextStyle>
    <a:defPPr>
      <a:defRPr kern="0"/>
    </a:defPPr>
  </p:defaultTextStyle>
  <p:extLst>
    <p:ext uri="{EFAFB233-063F-42B5-8137-9DF3F51BA10A}">
      <p15:sldGuideLst xmlns:p15="http://schemas.microsoft.com/office/powerpoint/2012/main">
        <p15:guide id="1" orient="horz" pos="2711" userDrawn="1">
          <p15:clr>
            <a:srgbClr val="A4A3A4"/>
          </p15:clr>
        </p15:guide>
        <p15:guide id="2" pos="211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howGuides="1">
      <p:cViewPr varScale="1">
        <p:scale>
          <a:sx n="78" d="100"/>
          <a:sy n="78" d="100"/>
        </p:scale>
        <p:origin x="-1536" y="-84"/>
      </p:cViewPr>
      <p:guideLst>
        <p:guide orient="horz" pos="2711"/>
        <p:guide pos="211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2" Type="http://schemas.openxmlformats.org/officeDocument/2006/relationships/tableStyles" Target="tableStyles.xml"/><Relationship Id="rId21" Type="http://schemas.openxmlformats.org/officeDocument/2006/relationships/viewProps" Target="viewProps.xml"/><Relationship Id="rId20" Type="http://schemas.openxmlformats.org/officeDocument/2006/relationships/presProps" Target="presProps.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7572587" cy="489374"/>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9898569" y="0"/>
            <a:ext cx="7572587" cy="489374"/>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5811520" y="1219200"/>
            <a:ext cx="5852160" cy="329184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1747520" y="4693920"/>
            <a:ext cx="13980160" cy="384048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9264227"/>
            <a:ext cx="7572587" cy="489373"/>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9898569" y="9264227"/>
            <a:ext cx="7572587" cy="489373"/>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en-US"/>
              <a:t>Good morning everyone.</a:t>
            </a:r>
            <a:endParaRPr lang="en-US" altLang="en-US"/>
          </a:p>
          <a:p>
            <a:r>
              <a:rPr lang="en-US" altLang="en-US"/>
              <a:t>I’m excited to present our final project — an autonomous </a:t>
            </a:r>
            <a:r>
              <a:rPr lang="zh-CN" altLang="en-US"/>
              <a:t>（饿套你门死）</a:t>
            </a:r>
            <a:r>
              <a:rPr lang="en-US" altLang="zh-CN"/>
              <a:t>drone </a:t>
            </a:r>
            <a:r>
              <a:rPr lang="zh-CN" altLang="en-US"/>
              <a:t>（撞）</a:t>
            </a:r>
            <a:r>
              <a:rPr lang="en-US" altLang="zh-CN"/>
              <a:t>fleet </a:t>
            </a:r>
            <a:r>
              <a:rPr lang="zh-CN" altLang="en-US"/>
              <a:t>（福李特）</a:t>
            </a:r>
            <a:r>
              <a:rPr lang="en-US" altLang="zh-CN"/>
              <a:t>management simulation </a:t>
            </a:r>
            <a:r>
              <a:rPr lang="zh-CN" altLang="en-US"/>
              <a:t>（</a:t>
            </a:r>
            <a:r>
              <a:rPr lang="en-US" altLang="zh-CN"/>
              <a:t>c</a:t>
            </a:r>
            <a:r>
              <a:rPr lang="zh-CN" altLang="en-US"/>
              <a:t>米雷神）</a:t>
            </a:r>
            <a:r>
              <a:rPr lang="en-US" altLang="zh-CN"/>
              <a:t>built entirely </a:t>
            </a:r>
            <a:r>
              <a:rPr lang="zh-CN" altLang="en-US"/>
              <a:t>（因太饿哩）</a:t>
            </a:r>
            <a:r>
              <a:rPr lang="en-US" altLang="zh-CN"/>
              <a:t>in Rust.</a:t>
            </a:r>
            <a:endParaRPr lang="en-US" altLang="zh-CN"/>
          </a:p>
          <a:p>
            <a:r>
              <a:rPr lang="en-US" altLang="zh-CN"/>
              <a:t>Let’s dive </a:t>
            </a:r>
            <a:r>
              <a:rPr lang="zh-CN" altLang="en-US"/>
              <a:t>（带）</a:t>
            </a:r>
            <a:r>
              <a:rPr lang="en-US" altLang="zh-CN"/>
              <a:t>into what this system does, how it’s designed</a:t>
            </a:r>
            <a:r>
              <a:rPr lang="zh-CN" altLang="en-US"/>
              <a:t>（地赛特）</a:t>
            </a:r>
            <a:r>
              <a:rPr lang="en-US" altLang="zh-CN"/>
              <a:t>, and what we’ve achieved.</a:t>
            </a:r>
            <a:endParaRPr lang="en-US" altLang="zh-C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en-US"/>
              <a:t>First, let’s look at the project overview. This is a centralized </a:t>
            </a:r>
            <a:r>
              <a:rPr lang="zh-CN" altLang="en-US"/>
              <a:t>（三臭来死特）</a:t>
            </a:r>
            <a:r>
              <a:rPr lang="en-US" altLang="zh-CN"/>
              <a:t>command and control simulation with three key features</a:t>
            </a:r>
            <a:r>
              <a:rPr lang="zh-CN" altLang="en-US"/>
              <a:t>（非扯死）</a:t>
            </a:r>
            <a:r>
              <a:rPr lang="en-US" altLang="zh-CN"/>
              <a:t>: multiple</a:t>
            </a:r>
            <a:r>
              <a:rPr lang="zh-CN" altLang="en-US"/>
              <a:t>（模特步）</a:t>
            </a:r>
            <a:r>
              <a:rPr lang="en-US" altLang="zh-CN"/>
              <a:t> drone simulators connect to a central server, a web-based GUI shows real-time drone status </a:t>
            </a:r>
            <a:r>
              <a:rPr lang="zh-CN" altLang="en-US"/>
              <a:t>（斯坦李死）</a:t>
            </a:r>
            <a:r>
              <a:rPr lang="en-US" altLang="zh-CN"/>
              <a:t>on an interactive map, and operators can send commands like Takeoff, Land, and FlyTo to individual </a:t>
            </a:r>
            <a:r>
              <a:rPr lang="zh-CN" altLang="en-US"/>
              <a:t>（印地威特博）</a:t>
            </a:r>
            <a:r>
              <a:rPr lang="en-US" altLang="zh-CN"/>
              <a:t>drones.</a:t>
            </a:r>
            <a:endParaRPr lang="en-US" altLang="zh-CN"/>
          </a:p>
          <a:p>
            <a:r>
              <a:rPr lang="en-US" altLang="zh-CN"/>
              <a:t>Our core goal was to build a complete system covering robotics control, network communication, and graphical user interfaces — all working together seamlessly.</a:t>
            </a:r>
            <a:endParaRPr lang="en-US" altLang="zh-CN"/>
          </a:p>
          <a:p>
            <a:r>
              <a:rPr lang="en-US" altLang="zh-CN"/>
              <a:t>Now, let’s talk about the technology stack. We used Rust as the main language for its safety and performance.</a:t>
            </a:r>
            <a:endParaRPr lang="en-US" altLang="zh-CN"/>
          </a:p>
          <a:p>
            <a:r>
              <a:rPr lang="en-US" altLang="zh-CN"/>
              <a:t>For the frontend, we chose Leaflet.js with OpenStreetMap for the interactive map, plus vanilla </a:t>
            </a:r>
            <a:r>
              <a:rPr lang="zh-CN" altLang="en-US"/>
              <a:t>（维里那）</a:t>
            </a:r>
            <a:r>
              <a:rPr lang="en-US" altLang="zh-CN"/>
              <a:t>JavaScript for simplicity.</a:t>
            </a:r>
            <a:r>
              <a:rPr lang="zh-CN" altLang="en-US"/>
              <a:t>（森</a:t>
            </a:r>
            <a:r>
              <a:rPr lang="en-US" altLang="zh-CN"/>
              <a:t>per</a:t>
            </a:r>
            <a:r>
              <a:rPr lang="zh-CN" altLang="en-US"/>
              <a:t>死题】</a:t>
            </a:r>
            <a:endParaRPr lang="en-US" altLang="zh-CN"/>
          </a:p>
          <a:p>
            <a:r>
              <a:rPr lang="en-US" altLang="zh-CN"/>
              <a:t>On the backend, we used Tokio as the async </a:t>
            </a:r>
            <a:r>
              <a:rPr lang="zh-CN" altLang="en-US"/>
              <a:t>（饿</a:t>
            </a:r>
            <a:r>
              <a:rPr lang="en-US" altLang="zh-CN"/>
              <a:t>c</a:t>
            </a:r>
            <a:r>
              <a:rPr lang="zh-CN" altLang="en-US"/>
              <a:t>）</a:t>
            </a:r>
            <a:r>
              <a:rPr lang="en-US" altLang="zh-CN"/>
              <a:t>runtime and Axum as the web framework — both perfect for building efficient</a:t>
            </a:r>
            <a:r>
              <a:rPr lang="zh-CN" altLang="en-US"/>
              <a:t>（饿非神特）</a:t>
            </a:r>
            <a:r>
              <a:rPr lang="en-US" altLang="zh-CN"/>
              <a:t>, concurrent systems.</a:t>
            </a:r>
            <a:endParaRPr lang="en-US" altLang="zh-C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en-US"/>
              <a:t>The system architecture follows a four-component design. First, the Command GUI: a web interface for operators to monitor and send commands. Second, the Command Server — the central hub that manages state, handles drone connections, and exposes a control API. It uses two ports: 3000 for HTTP API and 8080 for TCP drone connections. Third, the Drone Simulators: they mimic flight dynamics and communicate with the server via long-lived TCP connections. Fourth, the Protocol Library — a shared Rust crate that defines data structures like DroneStatus and DroneCommand for system-wide communication.</a:t>
            </a:r>
            <a:endParaRPr lang="en-US"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en-US"/>
              <a:t>The success of this system rests on three core engineering pillars. Let’s start with Pillar 1: The Communication Protocol. We needed a reliable way for distributed components to talk. Instead of using MAVLink (a standard drone protocol), we built a custom JSON-over-TCP protocol. Why? Because JSON is human-readable — great for debugging without special tools. Rust’s serde library makes serialization and deserialization easy, speeding up development. And for a local simulation, bandwidth isn’t an issue, so JSON’s verbosity is acceptable. Each message is a single line of JSON ending with a newline, which simplifies parsing</a:t>
            </a:r>
            <a:endParaRPr lang="en-US"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en-US"/>
              <a:t>The core data structures are straightforward. DroneCommand is an enum with Takeoff, Land, and FlyTo (which includes a GPS coordinate).</a:t>
            </a:r>
            <a:endParaRPr lang="en-US"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en-US"/>
              <a:t>DroneStatus is a struct with drone ID, position (GPS coordinate), battery level, and a flying status flag. Here’s an example of how messages flow: when a user clicks “Take Off” for Drone 001, the server sends a JSON command like {"drone_id":"XiG001","command":"TakeOff"}. The drone then reports its status every 5 seconds with a message that includes its position, battery level, and flying state.</a:t>
            </a:r>
            <a:endParaRPr lang="en-US"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en-US"/>
              <a:t>Moving to Pillar 2: The Asynchronous Server Core. The big challenge here was handling high concurrency with low overhead. The server needs to manage multiple long-lived TCP drone connections and many short HTTP requests from the GUI. A traditional thread-per-connection model would be inefficient, so we used Tokio’s async runtime. Async tasks give up the CPU while waiting for I/O, letting a small number of threads handle thousands of concurrent operations.</a:t>
            </a:r>
            <a:endParaRPr lang="en-US"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en-US"/>
              <a:t>The server uses shared state with Arc&lt;Mutex&gt; for safe access across async tasks — one for drone statuses andon for communication channels. For each drone connection, we create an mpsc channel (a message queue) with a capacity of 100. This decouples API handlers from TCP write logic, ensuring commands are sent in order without blocking. The server also runs two main async tasks: a TCP listener for drones and an HTTP API server for the GUI. Both work concurrently without interfering</a:t>
            </a:r>
            <a:endParaRPr lang="en-US"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en-US"/>
              <a:t>Now, Pillar 3: The Real-Time GUI Architecture. We wanted a responsive interface that feels native. So we used a decoupled frontend-backend design. The backend is a lightweight Rust server that only serves static files (HTML, CSS, JS). The frontend is a single-page app with Leaflet.js for maps. This separation lets frontend and backend be developed independently, and leverages the browser’s fast rendering engine for smooth animations.</a:t>
            </a:r>
            <a:endParaRPr lang="en-US"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en-US"/>
              <a:t>To achieve real-time updates, the frontend uses a simple timer: it sends a GET request to /api/statuses every second. The server responds with a JSON array of all drone statuses. The frontend then updates the map markers and sidebar status list. We optimized smoothness by having the drone simulator use linear interpolation — moving in 30 small steps over 6 seconds. Even with 1-second GUI refreshes, the markers move fluidly thanks to Leaflet’s animations.</a:t>
            </a:r>
            <a:endParaRPr lang="en-US"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en-US"/>
              <a:t>Let’s see the system in action. The GUI shows an interactive map with drone positions and flight trajectories (last 50 points). The sidebar lists all drones with their status — you can click a drone to select it, then send Takeoff, Land, or FlyTo commands. To set a waypoint, just click the map, and the drone will fly there.</a:t>
            </a:r>
            <a:endParaRPr lang="en-US"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en-US"/>
              <a:t>Let’s check the implemented features. For Drone Simulation: GPS positioning, battery consumption, smooth flight animation, and command execution. For Command Server: concurrent drone management, async command queuing, and HTTP API for status queries and commands. For the GUI: real-time map display, trajectory drawing, interactive controls, and a user-friendly design.</a:t>
            </a:r>
            <a:endParaRPr lang="en-US"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en-US"/>
              <a:t>Working on this project taught us a lot. We mastered Rust’s ownership model, async/await with Tokio, and concurrent state management with Arc and Mutex. We gained practical experience with TCP and HTTP programming, and learned how to design modular systems with Cargo workspaces. We also understood the trade-offs in protocol design and the benefits of frontend-backend separation.</a:t>
            </a:r>
            <a:endParaRPr lang="en-US"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en-US"/>
              <a:t>This project is more than a simulator — it’s a demonstration of how good architectural choices come together to make a robust system. The simple protocol, non-blocking server, and decoupled UI each play a key role in making the system work smoothly.</a:t>
            </a:r>
            <a:endParaRPr lang="en-US" altLang="en-US"/>
          </a:p>
          <a:p>
            <a:r>
              <a:rPr lang="en-US" altLang="en-US"/>
              <a:t>For future work, we have several improvements in mind. First, replace HTTP polling with WebSockets for lower latency real-time updates. Second, add a database for data persistence — storing flight logs and trajectories for later analysis. Third, implement a heartbeat mechanism for drones to handle reconnections automatically. Fourth, add authentication and authorization to secure the command API.</a:t>
            </a:r>
            <a:endParaRPr lang="en-US"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en-US"/>
              <a:t>In conclusion, this project successfully delivers a complete autonomous drone fleet management simulation. It combines Rust’s strengths in safety and concurrency with practical web and network programming to create a functional, user-friendly system. The three core pillars — communication protocol, async server, and real-time GUI — work in harmony to meet the project’s goals.</a:t>
            </a:r>
            <a:endParaRPr lang="en-US" altLang="en-US"/>
          </a:p>
          <a:p>
            <a:r>
              <a:rPr lang="en-US" altLang="en-US"/>
              <a:t>Thank you for your attention. We’re happy to answer any questions!</a:t>
            </a:r>
            <a:endParaRPr lang="en-US"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1310640" y="3023616"/>
            <a:ext cx="14853920" cy="2048255"/>
          </a:xfrm>
          <a:prstGeom prst="rect">
            <a:avLst/>
          </a:prstGeom>
        </p:spPr>
        <p:txBody>
          <a:bodyPr wrap="square" lIns="0" tIns="0" rIns="0" bIns="0">
            <a:spAutoFit/>
          </a:bodyPr>
          <a:lstStyle>
            <a:lvl1pPr>
              <a:defRPr sz="5700" b="0" i="0">
                <a:solidFill>
                  <a:srgbClr val="181818"/>
                </a:solidFill>
                <a:latin typeface="Arial MT"/>
                <a:cs typeface="Arial MT"/>
              </a:defRPr>
            </a:lvl1pPr>
          </a:lstStyle>
          <a:p/>
        </p:txBody>
      </p:sp>
      <p:sp>
        <p:nvSpPr>
          <p:cNvPr id="3" name="Holder 3"/>
          <p:cNvSpPr>
            <a:spLocks noGrp="1"/>
          </p:cNvSpPr>
          <p:nvPr>
            <p:ph type="subTitle" idx="4"/>
          </p:nvPr>
        </p:nvSpPr>
        <p:spPr>
          <a:xfrm>
            <a:off x="2621280" y="5462016"/>
            <a:ext cx="12232640" cy="2438400"/>
          </a:xfrm>
          <a:prstGeom prst="rect">
            <a:avLst/>
          </a:prstGeom>
        </p:spPr>
        <p:txBody>
          <a:bodyPr wrap="square" lIns="0" tIns="0" rIns="0" bIns="0">
            <a:spAutoFit/>
          </a:bodyPr>
          <a:lstStyle>
            <a:lvl1pPr>
              <a:defRPr b="0" i="0">
                <a:solidFill>
                  <a:schemeClr val="tx1"/>
                </a:solidFill>
              </a:defRPr>
            </a:lvl1pPr>
          </a:lstStyle>
          <a:p/>
        </p:txBody>
      </p:sp>
      <p:sp>
        <p:nvSpPr>
          <p:cNvPr id="4" name="Holder 4"/>
          <p:cNvSpPr>
            <a:spLocks noGrp="1"/>
          </p:cNvSpPr>
          <p:nvPr>
            <p:ph type="ftr" sz="quarter" idx="5"/>
          </p:nvPr>
        </p:nvSpPr>
        <p:spPr/>
        <p:txBody>
          <a:bodyPr lIns="0" tIns="0" rIns="0" bIns="0"/>
          <a:lstStyle>
            <a:lvl1pPr>
              <a:defRPr sz="1300" b="0" i="0">
                <a:solidFill>
                  <a:schemeClr val="tx1"/>
                </a:solidFill>
                <a:latin typeface="Arial MT"/>
                <a:cs typeface="Arial MT"/>
              </a:defRPr>
            </a:lvl1pPr>
          </a:lstStyle>
          <a:p>
            <a:pPr marL="12700">
              <a:lnSpc>
                <a:spcPts val="1555"/>
              </a:lnSpc>
            </a:pPr>
            <a:r>
              <a:rPr dirty="0"/>
              <a:t>G</a:t>
            </a:r>
            <a:r>
              <a:rPr spc="490" dirty="0"/>
              <a:t> </a:t>
            </a:r>
            <a:r>
              <a:rPr spc="-10" dirty="0"/>
              <a:t>NotebookLM</a:t>
            </a:r>
            <a:endParaRPr spc="-10" dirty="0"/>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5700" b="0" i="0">
                <a:solidFill>
                  <a:srgbClr val="181818"/>
                </a:solidFill>
                <a:latin typeface="Arial MT"/>
                <a:cs typeface="Arial MT"/>
              </a:defRPr>
            </a:lvl1pPr>
          </a:lstStyle>
          <a:p/>
        </p:txBody>
      </p:sp>
      <p:sp>
        <p:nvSpPr>
          <p:cNvPr id="3" name="Holder 3"/>
          <p:cNvSpPr>
            <a:spLocks noGrp="1"/>
          </p:cNvSpPr>
          <p:nvPr>
            <p:ph type="body" idx="1"/>
          </p:nvPr>
        </p:nvSpPr>
        <p:spPr/>
        <p:txBody>
          <a:bodyPr lIns="0" tIns="0" rIns="0" bIns="0"/>
          <a:lstStyle>
            <a:lvl1pPr>
              <a:defRPr b="0" i="0">
                <a:solidFill>
                  <a:schemeClr val="tx1"/>
                </a:solidFill>
              </a:defRPr>
            </a:lvl1pPr>
          </a:lstStyle>
          <a:p/>
        </p:txBody>
      </p:sp>
      <p:sp>
        <p:nvSpPr>
          <p:cNvPr id="4" name="Holder 4"/>
          <p:cNvSpPr>
            <a:spLocks noGrp="1"/>
          </p:cNvSpPr>
          <p:nvPr>
            <p:ph type="ftr" sz="quarter" idx="5"/>
          </p:nvPr>
        </p:nvSpPr>
        <p:spPr/>
        <p:txBody>
          <a:bodyPr lIns="0" tIns="0" rIns="0" bIns="0"/>
          <a:lstStyle>
            <a:lvl1pPr>
              <a:defRPr sz="1300" b="0" i="0">
                <a:solidFill>
                  <a:schemeClr val="tx1"/>
                </a:solidFill>
                <a:latin typeface="Arial MT"/>
                <a:cs typeface="Arial MT"/>
              </a:defRPr>
            </a:lvl1pPr>
          </a:lstStyle>
          <a:p>
            <a:pPr marL="12700">
              <a:lnSpc>
                <a:spcPts val="1555"/>
              </a:lnSpc>
            </a:pPr>
            <a:r>
              <a:rPr dirty="0"/>
              <a:t>G</a:t>
            </a:r>
            <a:r>
              <a:rPr spc="490" dirty="0"/>
              <a:t> </a:t>
            </a:r>
            <a:r>
              <a:rPr spc="-10" dirty="0"/>
              <a:t>NotebookLM</a:t>
            </a:r>
            <a:endParaRPr spc="-10" dirty="0"/>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5700" b="0" i="0">
                <a:solidFill>
                  <a:srgbClr val="181818"/>
                </a:solidFill>
                <a:latin typeface="Arial MT"/>
                <a:cs typeface="Arial MT"/>
              </a:defRPr>
            </a:lvl1pPr>
          </a:lstStyle>
          <a:p/>
        </p:txBody>
      </p:sp>
      <p:sp>
        <p:nvSpPr>
          <p:cNvPr id="3" name="Holder 3"/>
          <p:cNvSpPr>
            <a:spLocks noGrp="1"/>
          </p:cNvSpPr>
          <p:nvPr>
            <p:ph sz="half" idx="2"/>
          </p:nvPr>
        </p:nvSpPr>
        <p:spPr>
          <a:xfrm>
            <a:off x="878251" y="2068688"/>
            <a:ext cx="7395845" cy="5953125"/>
          </a:xfrm>
          <a:prstGeom prst="rect">
            <a:avLst/>
          </a:prstGeom>
        </p:spPr>
        <p:txBody>
          <a:bodyPr wrap="square" lIns="0" tIns="0" rIns="0" bIns="0">
            <a:spAutoFit/>
          </a:bodyPr>
          <a:lstStyle>
            <a:lvl1pPr>
              <a:defRPr sz="3600" b="0" i="0">
                <a:solidFill>
                  <a:schemeClr val="tx1"/>
                </a:solidFill>
                <a:latin typeface="Arial MT"/>
                <a:cs typeface="Arial MT"/>
              </a:defRPr>
            </a:lvl1pPr>
          </a:lstStyle>
          <a:p/>
        </p:txBody>
      </p:sp>
      <p:sp>
        <p:nvSpPr>
          <p:cNvPr id="4" name="Holder 4"/>
          <p:cNvSpPr>
            <a:spLocks noGrp="1"/>
          </p:cNvSpPr>
          <p:nvPr>
            <p:ph sz="half" idx="3"/>
          </p:nvPr>
        </p:nvSpPr>
        <p:spPr>
          <a:xfrm>
            <a:off x="12049921" y="1763996"/>
            <a:ext cx="4859655" cy="5819140"/>
          </a:xfrm>
          <a:prstGeom prst="rect">
            <a:avLst/>
          </a:prstGeom>
        </p:spPr>
        <p:txBody>
          <a:bodyPr wrap="square" lIns="0" tIns="0" rIns="0" bIns="0">
            <a:spAutoFit/>
          </a:bodyPr>
          <a:lstStyle>
            <a:lvl1pPr>
              <a:defRPr sz="2950" b="0" i="0">
                <a:solidFill>
                  <a:srgbClr val="161616"/>
                </a:solidFill>
                <a:latin typeface="Arial MT"/>
                <a:cs typeface="Arial MT"/>
              </a:defRPr>
            </a:lvl1pPr>
          </a:lstStyle>
          <a:p/>
        </p:txBody>
      </p:sp>
      <p:sp>
        <p:nvSpPr>
          <p:cNvPr id="5" name="Holder 5"/>
          <p:cNvSpPr>
            <a:spLocks noGrp="1"/>
          </p:cNvSpPr>
          <p:nvPr>
            <p:ph type="ftr" sz="quarter" idx="5"/>
          </p:nvPr>
        </p:nvSpPr>
        <p:spPr/>
        <p:txBody>
          <a:bodyPr lIns="0" tIns="0" rIns="0" bIns="0"/>
          <a:lstStyle>
            <a:lvl1pPr>
              <a:defRPr sz="1300" b="0" i="0">
                <a:solidFill>
                  <a:schemeClr val="tx1"/>
                </a:solidFill>
                <a:latin typeface="Arial MT"/>
                <a:cs typeface="Arial MT"/>
              </a:defRPr>
            </a:lvl1pPr>
          </a:lstStyle>
          <a:p>
            <a:pPr marL="12700">
              <a:lnSpc>
                <a:spcPts val="1555"/>
              </a:lnSpc>
            </a:pPr>
            <a:r>
              <a:rPr dirty="0"/>
              <a:t>G</a:t>
            </a:r>
            <a:r>
              <a:rPr spc="490" dirty="0"/>
              <a:t> </a:t>
            </a:r>
            <a:r>
              <a:rPr spc="-10" dirty="0"/>
              <a:t>NotebookLM</a:t>
            </a:r>
            <a:endParaRPr spc="-10" dirty="0"/>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5700" b="0" i="0">
                <a:solidFill>
                  <a:srgbClr val="181818"/>
                </a:solidFill>
                <a:latin typeface="Arial MT"/>
                <a:cs typeface="Arial MT"/>
              </a:defRPr>
            </a:lvl1pPr>
          </a:lstStyle>
          <a:p/>
        </p:txBody>
      </p:sp>
      <p:sp>
        <p:nvSpPr>
          <p:cNvPr id="3" name="Holder 3"/>
          <p:cNvSpPr>
            <a:spLocks noGrp="1"/>
          </p:cNvSpPr>
          <p:nvPr>
            <p:ph type="ftr" sz="quarter" idx="5"/>
          </p:nvPr>
        </p:nvSpPr>
        <p:spPr/>
        <p:txBody>
          <a:bodyPr lIns="0" tIns="0" rIns="0" bIns="0"/>
          <a:lstStyle>
            <a:lvl1pPr>
              <a:defRPr sz="1300" b="0" i="0">
                <a:solidFill>
                  <a:schemeClr val="tx1"/>
                </a:solidFill>
                <a:latin typeface="Arial MT"/>
                <a:cs typeface="Arial MT"/>
              </a:defRPr>
            </a:lvl1pPr>
          </a:lstStyle>
          <a:p>
            <a:pPr marL="12700">
              <a:lnSpc>
                <a:spcPts val="1555"/>
              </a:lnSpc>
            </a:pPr>
            <a:r>
              <a:rPr dirty="0"/>
              <a:t>G</a:t>
            </a:r>
            <a:r>
              <a:rPr spc="490" dirty="0"/>
              <a:t> </a:t>
            </a:r>
            <a:r>
              <a:rPr spc="-10" dirty="0"/>
              <a:t>NotebookLM</a:t>
            </a:r>
            <a:endParaRPr spc="-10" dirty="0"/>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defRPr sz="1300" b="0" i="0">
                <a:solidFill>
                  <a:schemeClr val="tx1"/>
                </a:solidFill>
                <a:latin typeface="Arial MT"/>
                <a:cs typeface="Arial MT"/>
              </a:defRPr>
            </a:lvl1pPr>
          </a:lstStyle>
          <a:p>
            <a:pPr marL="12700">
              <a:lnSpc>
                <a:spcPts val="1555"/>
              </a:lnSpc>
            </a:pPr>
            <a:r>
              <a:rPr dirty="0"/>
              <a:t>G</a:t>
            </a:r>
            <a:r>
              <a:rPr spc="490" dirty="0"/>
              <a:t> </a:t>
            </a:r>
            <a:r>
              <a:rPr spc="-10" dirty="0"/>
              <a:t>NotebookLM</a:t>
            </a:r>
            <a:endParaRPr spc="-10" dirty="0"/>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1D8BD707-D9CF-40AE-B4C6-C98DA3205C09}" type="datetimeFigureOut">
              <a:rPr lang="en-US"/>
            </a:fld>
            <a:endParaRPr lang="en-US"/>
          </a:p>
        </p:txBody>
      </p:sp>
      <p:sp>
        <p:nvSpPr>
          <p:cNvPr id="3" name="页脚占位符 2"/>
          <p:cNvSpPr>
            <a:spLocks noGrp="1"/>
          </p:cNvSpPr>
          <p:nvPr>
            <p:ph type="ftr" sz="quarter" idx="11"/>
          </p:nvPr>
        </p:nvSpPr>
        <p:spPr/>
        <p:txBody>
          <a:bodyPr/>
          <a:lstStyle/>
          <a:p>
            <a:pPr marL="12700">
              <a:lnSpc>
                <a:spcPts val="1555"/>
              </a:lnSpc>
            </a:pPr>
            <a:r>
              <a:rPr dirty="0"/>
              <a:t>G</a:t>
            </a:r>
            <a:r>
              <a:rPr spc="490" dirty="0"/>
              <a:t> </a:t>
            </a:r>
            <a:r>
              <a:rPr spc="-10" dirty="0"/>
              <a:t>NotebookLM</a:t>
            </a:r>
            <a:endParaRPr spc="-10" dirty="0"/>
          </a:p>
        </p:txBody>
      </p:sp>
      <p:sp>
        <p:nvSpPr>
          <p:cNvPr id="4" name="灯片编号占位符 3"/>
          <p:cNvSpPr>
            <a:spLocks noGrp="1"/>
          </p:cNvSpPr>
          <p:nvPr>
            <p:ph type="sldNum" sz="quarter" idx="12"/>
          </p:nvPr>
        </p:nvSpPr>
        <p:spPr/>
        <p:txBody>
          <a:bodyPr/>
          <a:lstStyle/>
          <a:p>
            <a:fld id="{B6F15528-21DE-4FAA-801E-634DDDAF4B2B}" type="slidenum">
              <a:rPr/>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theme" Target="../theme/theme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648580" y="445205"/>
            <a:ext cx="15838370" cy="1264778"/>
          </a:xfrm>
          <a:prstGeom prst="rect">
            <a:avLst/>
          </a:prstGeom>
        </p:spPr>
        <p:txBody>
          <a:bodyPr wrap="square" lIns="0" tIns="0" rIns="0" bIns="0">
            <a:spAutoFit/>
          </a:bodyPr>
          <a:lstStyle>
            <a:lvl1pPr>
              <a:defRPr sz="5700" b="0" i="0">
                <a:solidFill>
                  <a:srgbClr val="181818"/>
                </a:solidFill>
                <a:latin typeface="Arial MT"/>
                <a:cs typeface="Arial MT"/>
              </a:defRPr>
            </a:lvl1pPr>
          </a:lstStyle>
          <a:p/>
        </p:txBody>
      </p:sp>
      <p:sp>
        <p:nvSpPr>
          <p:cNvPr id="3" name="Holder 3"/>
          <p:cNvSpPr>
            <a:spLocks noGrp="1"/>
          </p:cNvSpPr>
          <p:nvPr>
            <p:ph type="body" idx="1"/>
          </p:nvPr>
        </p:nvSpPr>
        <p:spPr>
          <a:xfrm>
            <a:off x="884225" y="2570965"/>
            <a:ext cx="15838169" cy="6121400"/>
          </a:xfrm>
          <a:prstGeom prst="rect">
            <a:avLst/>
          </a:prstGeom>
        </p:spPr>
        <p:txBody>
          <a:bodyPr wrap="square" lIns="0" tIns="0" rIns="0" bIns="0">
            <a:spAutoFit/>
          </a:bodyPr>
          <a:lstStyle>
            <a:lvl1pPr>
              <a:defRPr b="0" i="0">
                <a:solidFill>
                  <a:schemeClr val="tx1"/>
                </a:solidFill>
              </a:defRPr>
            </a:lvl1pPr>
          </a:lstStyle>
          <a:p/>
        </p:txBody>
      </p:sp>
      <p:sp>
        <p:nvSpPr>
          <p:cNvPr id="4" name="Holder 4"/>
          <p:cNvSpPr>
            <a:spLocks noGrp="1"/>
          </p:cNvSpPr>
          <p:nvPr>
            <p:ph type="ftr" sz="quarter" idx="5"/>
          </p:nvPr>
        </p:nvSpPr>
        <p:spPr>
          <a:xfrm>
            <a:off x="16107384" y="9455853"/>
            <a:ext cx="1232534" cy="212725"/>
          </a:xfrm>
          <a:prstGeom prst="rect">
            <a:avLst/>
          </a:prstGeom>
        </p:spPr>
        <p:txBody>
          <a:bodyPr wrap="square" lIns="0" tIns="0" rIns="0" bIns="0">
            <a:spAutoFit/>
          </a:bodyPr>
          <a:lstStyle>
            <a:lvl1pPr>
              <a:defRPr sz="1300" b="0" i="0">
                <a:solidFill>
                  <a:schemeClr val="tx1"/>
                </a:solidFill>
                <a:latin typeface="Arial MT"/>
                <a:cs typeface="Arial MT"/>
              </a:defRPr>
            </a:lvl1pPr>
          </a:lstStyle>
          <a:p>
            <a:pPr marL="12700">
              <a:lnSpc>
                <a:spcPts val="1555"/>
              </a:lnSpc>
            </a:pPr>
            <a:r>
              <a:rPr dirty="0"/>
              <a:t>G</a:t>
            </a:r>
            <a:r>
              <a:rPr spc="490" dirty="0"/>
              <a:t> </a:t>
            </a:r>
            <a:r>
              <a:rPr spc="-10" dirty="0"/>
              <a:t>NotebookLM</a:t>
            </a:r>
            <a:endParaRPr spc="-10" dirty="0"/>
          </a:p>
        </p:txBody>
      </p:sp>
      <p:sp>
        <p:nvSpPr>
          <p:cNvPr id="5" name="Holder 5"/>
          <p:cNvSpPr>
            <a:spLocks noGrp="1"/>
          </p:cNvSpPr>
          <p:nvPr>
            <p:ph type="dt" sz="half" idx="6"/>
          </p:nvPr>
        </p:nvSpPr>
        <p:spPr>
          <a:xfrm>
            <a:off x="873760" y="9070848"/>
            <a:ext cx="4019296" cy="48768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fld>
            <a:endParaRPr lang="en-US"/>
          </a:p>
        </p:txBody>
      </p:sp>
      <p:sp>
        <p:nvSpPr>
          <p:cNvPr id="6" name="Holder 6"/>
          <p:cNvSpPr>
            <a:spLocks noGrp="1"/>
          </p:cNvSpPr>
          <p:nvPr>
            <p:ph type="sldNum" sz="quarter" idx="7"/>
          </p:nvPr>
        </p:nvSpPr>
        <p:spPr>
          <a:xfrm>
            <a:off x="12582144" y="9070848"/>
            <a:ext cx="4019296" cy="48768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rPr/>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6" Type="http://schemas.openxmlformats.org/officeDocument/2006/relationships/notesSlide" Target="../notesSlides/notesSlide2.xml"/><Relationship Id="rId5" Type="http://schemas.openxmlformats.org/officeDocument/2006/relationships/slideLayout" Target="../slideLayouts/slideLayout3.xml"/><Relationship Id="rId4" Type="http://schemas.openxmlformats.org/officeDocument/2006/relationships/image" Target="../media/image5.png"/><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image" Target="../media/image2.png"/></Relationships>
</file>

<file path=ppt/slides/_rels/slide3.xml.rels><?xml version="1.0" encoding="UTF-8" standalone="yes"?>
<Relationships xmlns="http://schemas.openxmlformats.org/package/2006/relationships"><Relationship Id="rId6" Type="http://schemas.openxmlformats.org/officeDocument/2006/relationships/notesSlide" Target="../notesSlides/notesSlide3.xml"/><Relationship Id="rId5" Type="http://schemas.openxmlformats.org/officeDocument/2006/relationships/slideLayout" Target="../slideLayouts/slideLayout2.xml"/><Relationship Id="rId4" Type="http://schemas.openxmlformats.org/officeDocument/2006/relationships/image" Target="../media/image9.png"/><Relationship Id="rId3" Type="http://schemas.openxmlformats.org/officeDocument/2006/relationships/image" Target="../media/image8.jpeg"/><Relationship Id="rId2" Type="http://schemas.openxmlformats.org/officeDocument/2006/relationships/image" Target="../media/image7.jpeg"/><Relationship Id="rId1" Type="http://schemas.openxmlformats.org/officeDocument/2006/relationships/image" Target="../media/image6.jpeg"/></Relationships>
</file>

<file path=ppt/slides/_rels/slide4.xml.rels><?xml version="1.0" encoding="UTF-8" standalone="yes"?>
<Relationships xmlns="http://schemas.openxmlformats.org/package/2006/relationships"><Relationship Id="rId5" Type="http://schemas.openxmlformats.org/officeDocument/2006/relationships/notesSlide" Target="../notesSlides/notesSlide4.xml"/><Relationship Id="rId4" Type="http://schemas.openxmlformats.org/officeDocument/2006/relationships/slideLayout" Target="../slideLayouts/slideLayout2.xml"/><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image" Target="../media/image10.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5" Type="http://schemas.openxmlformats.org/officeDocument/2006/relationships/notesSlide" Target="../notesSlides/notesSlide6.xml"/><Relationship Id="rId4" Type="http://schemas.openxmlformats.org/officeDocument/2006/relationships/slideLayout" Target="../slideLayouts/slideLayout3.xml"/><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image" Target="../media/image13.jpeg"/></Relationships>
</file>

<file path=ppt/slides/_rels/slide7.xml.rels><?xml version="1.0" encoding="UTF-8" standalone="yes"?>
<Relationships xmlns="http://schemas.openxmlformats.org/package/2006/relationships"><Relationship Id="rId4" Type="http://schemas.openxmlformats.org/officeDocument/2006/relationships/notesSlide" Target="../notesSlides/notesSlide7.xml"/><Relationship Id="rId3" Type="http://schemas.openxmlformats.org/officeDocument/2006/relationships/slideLayout" Target="../slideLayouts/slideLayout3.xml"/><Relationship Id="rId2" Type="http://schemas.openxmlformats.org/officeDocument/2006/relationships/image" Target="../media/image17.jpeg"/><Relationship Id="rId1" Type="http://schemas.openxmlformats.org/officeDocument/2006/relationships/image" Target="../media/image16.jpeg"/></Relationships>
</file>

<file path=ppt/slides/_rels/slide8.xml.rels><?xml version="1.0" encoding="UTF-8" standalone="yes"?>
<Relationships xmlns="http://schemas.openxmlformats.org/package/2006/relationships"><Relationship Id="rId4" Type="http://schemas.openxmlformats.org/officeDocument/2006/relationships/notesSlide" Target="../notesSlides/notesSlide8.xml"/><Relationship Id="rId3" Type="http://schemas.openxmlformats.org/officeDocument/2006/relationships/slideLayout" Target="../slideLayouts/slideLayout3.xml"/><Relationship Id="rId2" Type="http://schemas.openxmlformats.org/officeDocument/2006/relationships/image" Target="../media/image19.png"/><Relationship Id="rId1" Type="http://schemas.openxmlformats.org/officeDocument/2006/relationships/image" Target="../media/image18.jpeg"/></Relationships>
</file>

<file path=ppt/slides/_rels/slide9.xml.rels><?xml version="1.0" encoding="UTF-8" standalone="yes"?>
<Relationships xmlns="http://schemas.openxmlformats.org/package/2006/relationships"><Relationship Id="rId7" Type="http://schemas.openxmlformats.org/officeDocument/2006/relationships/notesSlide" Target="../notesSlides/notesSlide9.xml"/><Relationship Id="rId6" Type="http://schemas.openxmlformats.org/officeDocument/2006/relationships/slideLayout" Target="../slideLayouts/slideLayout3.xml"/><Relationship Id="rId5" Type="http://schemas.openxmlformats.org/officeDocument/2006/relationships/image" Target="../media/image24.png"/><Relationship Id="rId4" Type="http://schemas.openxmlformats.org/officeDocument/2006/relationships/image" Target="../media/image23.png"/><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image" Target="../media/image20.png"/></Relationships>
</file>

<file path=ppt/slides/_rels/slide10.xml.rels><?xml version="1.0" encoding="UTF-8" standalone="yes"?>
<Relationships xmlns="http://schemas.openxmlformats.org/package/2006/relationships"><Relationship Id="rId5" Type="http://schemas.openxmlformats.org/officeDocument/2006/relationships/notesSlide" Target="../notesSlides/notesSlide10.xml"/><Relationship Id="rId4" Type="http://schemas.openxmlformats.org/officeDocument/2006/relationships/slideLayout" Target="../slideLayouts/slideLayout2.xml"/><Relationship Id="rId3" Type="http://schemas.openxmlformats.org/officeDocument/2006/relationships/image" Target="../media/image27.jpeg"/><Relationship Id="rId2" Type="http://schemas.openxmlformats.org/officeDocument/2006/relationships/image" Target="../media/image26.jpeg"/><Relationship Id="rId1" Type="http://schemas.openxmlformats.org/officeDocument/2006/relationships/image" Target="../media/image25.jpe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image" Target="../media/image28.jpeg"/></Relationships>
</file>

<file path=ppt/slides/_rels/slide12.xml.rels><?xml version="1.0" encoding="UTF-8" standalone="yes"?>
<Relationships xmlns="http://schemas.openxmlformats.org/package/2006/relationships"><Relationship Id="rId4" Type="http://schemas.openxmlformats.org/officeDocument/2006/relationships/notesSlide" Target="../notesSlides/notesSlide12.xml"/><Relationship Id="rId3" Type="http://schemas.openxmlformats.org/officeDocument/2006/relationships/slideLayout" Target="../slideLayouts/slideLayout2.xml"/><Relationship Id="rId2" Type="http://schemas.openxmlformats.org/officeDocument/2006/relationships/image" Target="../media/image30.png"/><Relationship Id="rId1" Type="http://schemas.openxmlformats.org/officeDocument/2006/relationships/image" Target="../media/image29.jpe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14.xml.rels><?xml version="1.0" encoding="UTF-8" standalone="yes"?>
<Relationships xmlns="http://schemas.openxmlformats.org/package/2006/relationships"><Relationship Id="rId5" Type="http://schemas.openxmlformats.org/officeDocument/2006/relationships/notesSlide" Target="../notesSlides/notesSlide14.xml"/><Relationship Id="rId4" Type="http://schemas.openxmlformats.org/officeDocument/2006/relationships/slideLayout" Target="../slideLayouts/slideLayout2.xml"/><Relationship Id="rId3" Type="http://schemas.openxmlformats.org/officeDocument/2006/relationships/image" Target="../media/image33.jpeg"/><Relationship Id="rId2" Type="http://schemas.openxmlformats.org/officeDocument/2006/relationships/image" Target="../media/image32.jpeg"/><Relationship Id="rId1" Type="http://schemas.openxmlformats.org/officeDocument/2006/relationships/image" Target="../media/image31.jpeg"/></Relationships>
</file>

<file path=ppt/slides/_rels/slide15.xml.rels><?xml version="1.0" encoding="UTF-8" standalone="yes"?>
<Relationships xmlns="http://schemas.openxmlformats.org/package/2006/relationships"><Relationship Id="rId4" Type="http://schemas.openxmlformats.org/officeDocument/2006/relationships/notesSlide" Target="../notesSlides/notesSlide15.xml"/><Relationship Id="rId3" Type="http://schemas.openxmlformats.org/officeDocument/2006/relationships/slideLayout" Target="../slideLayouts/slideLayout2.xml"/><Relationship Id="rId2" Type="http://schemas.openxmlformats.org/officeDocument/2006/relationships/image" Target="../media/image35.png"/><Relationship Id="rId1" Type="http://schemas.openxmlformats.org/officeDocument/2006/relationships/image" Target="../media/image34.png"/></Relationships>
</file>

<file path=ppt/slides/_rels/slide16.xml.rels><?xml version="1.0" encoding="UTF-8" standalone="yes"?>
<Relationships xmlns="http://schemas.openxmlformats.org/package/2006/relationships"><Relationship Id="rId9" Type="http://schemas.openxmlformats.org/officeDocument/2006/relationships/image" Target="../media/image44.jpeg"/><Relationship Id="rId8" Type="http://schemas.openxmlformats.org/officeDocument/2006/relationships/image" Target="../media/image43.png"/><Relationship Id="rId7" Type="http://schemas.openxmlformats.org/officeDocument/2006/relationships/image" Target="../media/image42.png"/><Relationship Id="rId6" Type="http://schemas.openxmlformats.org/officeDocument/2006/relationships/image" Target="../media/image41.jpeg"/><Relationship Id="rId5" Type="http://schemas.openxmlformats.org/officeDocument/2006/relationships/image" Target="../media/image40.jpeg"/><Relationship Id="rId4" Type="http://schemas.openxmlformats.org/officeDocument/2006/relationships/image" Target="../media/image39.jpeg"/><Relationship Id="rId3" Type="http://schemas.openxmlformats.org/officeDocument/2006/relationships/image" Target="../media/image38.jpeg"/><Relationship Id="rId2" Type="http://schemas.openxmlformats.org/officeDocument/2006/relationships/image" Target="../media/image37.jpeg"/><Relationship Id="rId11" Type="http://schemas.openxmlformats.org/officeDocument/2006/relationships/notesSlide" Target="../notesSlides/notesSlide16.xml"/><Relationship Id="rId10" Type="http://schemas.openxmlformats.org/officeDocument/2006/relationships/slideLayout" Target="../slideLayouts/slideLayout3.xml"/><Relationship Id="rId1" Type="http://schemas.openxmlformats.org/officeDocument/2006/relationships/image" Target="../media/image36.jpeg"/></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1" cstate="print"/>
          <a:stretch>
            <a:fillRect/>
          </a:stretch>
        </p:blipFill>
        <p:spPr>
          <a:xfrm>
            <a:off x="0" y="0"/>
            <a:ext cx="17475200" cy="8534400"/>
          </a:xfrm>
          <a:prstGeom prst="rect">
            <a:avLst/>
          </a:prstGeom>
        </p:spPr>
      </p:pic>
      <p:sp>
        <p:nvSpPr>
          <p:cNvPr id="3" name="object 3"/>
          <p:cNvSpPr txBox="1">
            <a:spLocks noGrp="1"/>
          </p:cNvSpPr>
          <p:nvPr>
            <p:ph type="title"/>
          </p:nvPr>
        </p:nvSpPr>
        <p:spPr>
          <a:xfrm>
            <a:off x="3316112" y="3356680"/>
            <a:ext cx="10786745" cy="2244090"/>
          </a:xfrm>
          <a:prstGeom prst="rect">
            <a:avLst/>
          </a:prstGeom>
        </p:spPr>
        <p:txBody>
          <a:bodyPr vert="horz" wrap="square" lIns="0" tIns="15240" rIns="0" bIns="0" rtlCol="0">
            <a:spAutoFit/>
          </a:bodyPr>
          <a:lstStyle/>
          <a:p>
            <a:pPr algn="ctr">
              <a:lnSpc>
                <a:spcPts val="8755"/>
              </a:lnSpc>
              <a:spcBef>
                <a:spcPts val="120"/>
              </a:spcBef>
            </a:pPr>
            <a:r>
              <a:rPr sz="7550" spc="80" dirty="0">
                <a:solidFill>
                  <a:srgbClr val="212121"/>
                </a:solidFill>
              </a:rPr>
              <a:t>Autonomous</a:t>
            </a:r>
            <a:r>
              <a:rPr sz="7550" spc="-45" dirty="0">
                <a:solidFill>
                  <a:srgbClr val="212121"/>
                </a:solidFill>
              </a:rPr>
              <a:t> </a:t>
            </a:r>
            <a:r>
              <a:rPr sz="7550" dirty="0">
                <a:solidFill>
                  <a:srgbClr val="1F1F1F"/>
                </a:solidFill>
              </a:rPr>
              <a:t>Drone</a:t>
            </a:r>
            <a:r>
              <a:rPr sz="7550" spc="-325" dirty="0">
                <a:solidFill>
                  <a:srgbClr val="1F1F1F"/>
                </a:solidFill>
              </a:rPr>
              <a:t> </a:t>
            </a:r>
            <a:r>
              <a:rPr sz="7550" spc="-10" dirty="0">
                <a:solidFill>
                  <a:srgbClr val="212121"/>
                </a:solidFill>
              </a:rPr>
              <a:t>Fleet</a:t>
            </a:r>
            <a:endParaRPr sz="7550"/>
          </a:p>
          <a:p>
            <a:pPr algn="ctr">
              <a:lnSpc>
                <a:spcPts val="8695"/>
              </a:lnSpc>
            </a:pPr>
            <a:r>
              <a:rPr sz="7500" dirty="0">
                <a:solidFill>
                  <a:srgbClr val="212121"/>
                </a:solidFill>
              </a:rPr>
              <a:t>Management</a:t>
            </a:r>
            <a:r>
              <a:rPr sz="7500" spc="175" dirty="0">
                <a:solidFill>
                  <a:srgbClr val="212121"/>
                </a:solidFill>
              </a:rPr>
              <a:t> </a:t>
            </a:r>
            <a:r>
              <a:rPr sz="7500" spc="-10" dirty="0">
                <a:solidFill>
                  <a:srgbClr val="212121"/>
                </a:solidFill>
              </a:rPr>
              <a:t>System</a:t>
            </a:r>
            <a:endParaRPr sz="7500"/>
          </a:p>
        </p:txBody>
      </p:sp>
      <p:sp>
        <p:nvSpPr>
          <p:cNvPr id="6" name="object 6"/>
          <p:cNvSpPr txBox="1">
            <a:spLocks noGrp="1"/>
          </p:cNvSpPr>
          <p:nvPr>
            <p:ph type="ftr" sz="quarter" idx="5"/>
          </p:nvPr>
        </p:nvSpPr>
        <p:spPr>
          <a:prstGeom prst="rect">
            <a:avLst/>
          </a:prstGeom>
        </p:spPr>
        <p:txBody>
          <a:bodyPr vert="horz" wrap="square" lIns="0" tIns="0" rIns="0" bIns="0" rtlCol="0">
            <a:spAutoFit/>
          </a:bodyPr>
          <a:lstStyle/>
          <a:p>
            <a:pPr marL="12700">
              <a:lnSpc>
                <a:spcPts val="1555"/>
              </a:lnSpc>
            </a:pPr>
            <a:r>
              <a:rPr dirty="0"/>
              <a:t>G</a:t>
            </a:r>
            <a:r>
              <a:rPr spc="490" dirty="0"/>
              <a:t> </a:t>
            </a:r>
            <a:r>
              <a:rPr spc="-10" dirty="0"/>
              <a:t>NotebookLM</a:t>
            </a:r>
            <a:endParaRPr spc="-10" dirty="0"/>
          </a:p>
        </p:txBody>
      </p:sp>
      <p:sp>
        <p:nvSpPr>
          <p:cNvPr id="4" name="object 4"/>
          <p:cNvSpPr txBox="1"/>
          <p:nvPr/>
        </p:nvSpPr>
        <p:spPr>
          <a:xfrm>
            <a:off x="4306129" y="5709355"/>
            <a:ext cx="8844280" cy="702945"/>
          </a:xfrm>
          <a:prstGeom prst="rect">
            <a:avLst/>
          </a:prstGeom>
        </p:spPr>
        <p:txBody>
          <a:bodyPr vert="horz" wrap="square" lIns="0" tIns="12065" rIns="0" bIns="0" rtlCol="0">
            <a:spAutoFit/>
          </a:bodyPr>
          <a:lstStyle/>
          <a:p>
            <a:pPr marL="12700">
              <a:lnSpc>
                <a:spcPct val="100000"/>
              </a:lnSpc>
              <a:spcBef>
                <a:spcPts val="95"/>
              </a:spcBef>
            </a:pPr>
            <a:r>
              <a:rPr sz="4450" spc="-445" dirty="0">
                <a:solidFill>
                  <a:srgbClr val="1C1C1C"/>
                </a:solidFill>
                <a:latin typeface="Arial MT"/>
                <a:cs typeface="Arial MT"/>
              </a:rPr>
              <a:t>A</a:t>
            </a:r>
            <a:r>
              <a:rPr sz="4450" spc="15" dirty="0">
                <a:solidFill>
                  <a:srgbClr val="1C1C1C"/>
                </a:solidFill>
                <a:latin typeface="Arial MT"/>
                <a:cs typeface="Arial MT"/>
              </a:rPr>
              <a:t> </a:t>
            </a:r>
            <a:r>
              <a:rPr sz="4450" spc="-114" dirty="0">
                <a:solidFill>
                  <a:srgbClr val="0F0F0F"/>
                </a:solidFill>
                <a:latin typeface="Arial MT"/>
                <a:cs typeface="Arial MT"/>
              </a:rPr>
              <a:t>Comprehensive</a:t>
            </a:r>
            <a:r>
              <a:rPr sz="4450" spc="-170" dirty="0">
                <a:solidFill>
                  <a:srgbClr val="0F0F0F"/>
                </a:solidFill>
                <a:latin typeface="Arial MT"/>
                <a:cs typeface="Arial MT"/>
              </a:rPr>
              <a:t> </a:t>
            </a:r>
            <a:r>
              <a:rPr sz="4450" spc="-45" dirty="0">
                <a:solidFill>
                  <a:srgbClr val="111111"/>
                </a:solidFill>
                <a:latin typeface="Arial MT"/>
                <a:cs typeface="Arial MT"/>
              </a:rPr>
              <a:t>Simulation</a:t>
            </a:r>
            <a:r>
              <a:rPr sz="4450" spc="-10" dirty="0">
                <a:solidFill>
                  <a:srgbClr val="111111"/>
                </a:solidFill>
                <a:latin typeface="Arial MT"/>
                <a:cs typeface="Arial MT"/>
              </a:rPr>
              <a:t> </a:t>
            </a:r>
            <a:r>
              <a:rPr sz="4450" dirty="0">
                <a:solidFill>
                  <a:srgbClr val="0F0F0F"/>
                </a:solidFill>
                <a:latin typeface="Arial MT"/>
                <a:cs typeface="Arial MT"/>
              </a:rPr>
              <a:t>in</a:t>
            </a:r>
            <a:r>
              <a:rPr sz="4450" spc="-310" dirty="0">
                <a:solidFill>
                  <a:srgbClr val="0F0F0F"/>
                </a:solidFill>
                <a:latin typeface="Arial MT"/>
                <a:cs typeface="Arial MT"/>
              </a:rPr>
              <a:t> </a:t>
            </a:r>
            <a:r>
              <a:rPr sz="4450" spc="-40" dirty="0">
                <a:solidFill>
                  <a:srgbClr val="131313"/>
                </a:solidFill>
                <a:latin typeface="Arial MT"/>
                <a:cs typeface="Arial MT"/>
              </a:rPr>
              <a:t>Rust</a:t>
            </a:r>
            <a:endParaRPr sz="4450">
              <a:latin typeface="Arial MT"/>
              <a:cs typeface="Arial MT"/>
            </a:endParaRPr>
          </a:p>
        </p:txBody>
      </p:sp>
      <p:sp>
        <p:nvSpPr>
          <p:cNvPr id="5" name="object 5"/>
          <p:cNvSpPr txBox="1"/>
          <p:nvPr/>
        </p:nvSpPr>
        <p:spPr>
          <a:xfrm>
            <a:off x="3377836" y="8971562"/>
            <a:ext cx="11664950" cy="384810"/>
          </a:xfrm>
          <a:prstGeom prst="rect">
            <a:avLst/>
          </a:prstGeom>
        </p:spPr>
        <p:txBody>
          <a:bodyPr vert="horz" wrap="square" lIns="0" tIns="15875" rIns="0" bIns="0" rtlCol="0">
            <a:spAutoFit/>
          </a:bodyPr>
          <a:lstStyle/>
          <a:p>
            <a:pPr marL="12700">
              <a:lnSpc>
                <a:spcPct val="100000"/>
              </a:lnSpc>
              <a:spcBef>
                <a:spcPts val="125"/>
              </a:spcBef>
            </a:pPr>
            <a:r>
              <a:rPr sz="2400" spc="-35" dirty="0">
                <a:solidFill>
                  <a:srgbClr val="0A0A0A"/>
                </a:solidFill>
                <a:latin typeface="Arial MT"/>
                <a:cs typeface="Arial MT"/>
              </a:rPr>
              <a:t>Final</a:t>
            </a:r>
            <a:r>
              <a:rPr sz="2400" spc="-160" dirty="0">
                <a:solidFill>
                  <a:srgbClr val="0A0A0A"/>
                </a:solidFill>
                <a:latin typeface="Arial MT"/>
                <a:cs typeface="Arial MT"/>
              </a:rPr>
              <a:t> </a:t>
            </a:r>
            <a:r>
              <a:rPr sz="2400" spc="-25" dirty="0">
                <a:solidFill>
                  <a:srgbClr val="050505"/>
                </a:solidFill>
                <a:latin typeface="Arial MT"/>
                <a:cs typeface="Arial MT"/>
              </a:rPr>
              <a:t>Project</a:t>
            </a:r>
            <a:r>
              <a:rPr sz="2400" dirty="0">
                <a:solidFill>
                  <a:srgbClr val="050505"/>
                </a:solidFill>
                <a:latin typeface="Arial MT"/>
                <a:cs typeface="Arial MT"/>
              </a:rPr>
              <a:t> </a:t>
            </a:r>
            <a:r>
              <a:rPr sz="2400" spc="-40" dirty="0">
                <a:solidFill>
                  <a:srgbClr val="080808"/>
                </a:solidFill>
                <a:latin typeface="Arial MT"/>
                <a:cs typeface="Arial MT"/>
              </a:rPr>
              <a:t>Presentation</a:t>
            </a:r>
            <a:r>
              <a:rPr sz="2400" spc="-110" dirty="0">
                <a:solidFill>
                  <a:srgbClr val="080808"/>
                </a:solidFill>
                <a:latin typeface="Arial MT"/>
                <a:cs typeface="Arial MT"/>
              </a:rPr>
              <a:t> </a:t>
            </a:r>
            <a:r>
              <a:rPr sz="2400" dirty="0">
                <a:latin typeface="Arial MT"/>
                <a:cs typeface="Arial MT"/>
              </a:rPr>
              <a:t>|</a:t>
            </a:r>
            <a:r>
              <a:rPr sz="2400" spc="-175" dirty="0">
                <a:latin typeface="Arial MT"/>
                <a:cs typeface="Arial MT"/>
              </a:rPr>
              <a:t> </a:t>
            </a:r>
            <a:r>
              <a:rPr sz="2400" spc="-185" dirty="0">
                <a:solidFill>
                  <a:srgbClr val="050505"/>
                </a:solidFill>
                <a:latin typeface="Arial MT"/>
                <a:cs typeface="Arial MT"/>
              </a:rPr>
              <a:t>CS-</a:t>
            </a:r>
            <a:r>
              <a:rPr sz="2400" spc="-70" dirty="0">
                <a:solidFill>
                  <a:srgbClr val="050505"/>
                </a:solidFill>
                <a:latin typeface="Arial MT"/>
                <a:cs typeface="Arial MT"/>
              </a:rPr>
              <a:t>499</a:t>
            </a:r>
            <a:r>
              <a:rPr sz="2400" spc="-15" dirty="0">
                <a:solidFill>
                  <a:srgbClr val="050505"/>
                </a:solidFill>
                <a:latin typeface="Arial MT"/>
                <a:cs typeface="Arial MT"/>
              </a:rPr>
              <a:t> </a:t>
            </a:r>
            <a:r>
              <a:rPr sz="2400" spc="-75" dirty="0">
                <a:solidFill>
                  <a:srgbClr val="080808"/>
                </a:solidFill>
                <a:latin typeface="Arial MT"/>
                <a:cs typeface="Arial MT"/>
              </a:rPr>
              <a:t>Advanced</a:t>
            </a:r>
            <a:r>
              <a:rPr sz="2400" spc="-80" dirty="0">
                <a:solidFill>
                  <a:srgbClr val="080808"/>
                </a:solidFill>
                <a:latin typeface="Arial MT"/>
                <a:cs typeface="Arial MT"/>
              </a:rPr>
              <a:t> </a:t>
            </a:r>
            <a:r>
              <a:rPr sz="2400" spc="-45" dirty="0">
                <a:solidFill>
                  <a:srgbClr val="050505"/>
                </a:solidFill>
                <a:latin typeface="Arial MT"/>
                <a:cs typeface="Arial MT"/>
              </a:rPr>
              <a:t>Systems</a:t>
            </a:r>
            <a:r>
              <a:rPr sz="2400" spc="-95" dirty="0">
                <a:solidFill>
                  <a:srgbClr val="050505"/>
                </a:solidFill>
                <a:latin typeface="Arial MT"/>
                <a:cs typeface="Arial MT"/>
              </a:rPr>
              <a:t> </a:t>
            </a:r>
            <a:r>
              <a:rPr sz="2400" dirty="0">
                <a:latin typeface="Arial MT"/>
                <a:cs typeface="Arial MT"/>
              </a:rPr>
              <a:t>|</a:t>
            </a:r>
            <a:r>
              <a:rPr sz="2400" spc="-190" dirty="0">
                <a:latin typeface="Arial MT"/>
                <a:cs typeface="Arial MT"/>
              </a:rPr>
              <a:t> </a:t>
            </a:r>
            <a:r>
              <a:rPr sz="2400" spc="-10" dirty="0">
                <a:solidFill>
                  <a:srgbClr val="050505"/>
                </a:solidFill>
                <a:latin typeface="Arial MT"/>
                <a:cs typeface="Arial MT"/>
              </a:rPr>
              <a:t>Northwood</a:t>
            </a:r>
            <a:r>
              <a:rPr sz="2400" spc="-90" dirty="0">
                <a:solidFill>
                  <a:srgbClr val="050505"/>
                </a:solidFill>
                <a:latin typeface="Arial MT"/>
                <a:cs typeface="Arial MT"/>
              </a:rPr>
              <a:t> </a:t>
            </a:r>
            <a:r>
              <a:rPr sz="2400" spc="-45" dirty="0">
                <a:solidFill>
                  <a:srgbClr val="0A0A0A"/>
                </a:solidFill>
                <a:latin typeface="Arial MT"/>
                <a:cs typeface="Arial MT"/>
              </a:rPr>
              <a:t>University</a:t>
            </a:r>
            <a:endParaRPr sz="2400">
              <a:latin typeface="Arial MT"/>
              <a:cs typeface="Arial MT"/>
            </a:endParaRPr>
          </a:p>
        </p:txBody>
      </p:sp>
      <p:sp>
        <p:nvSpPr>
          <p:cNvPr id="9" name="文本框 8"/>
          <p:cNvSpPr txBox="1"/>
          <p:nvPr/>
        </p:nvSpPr>
        <p:spPr>
          <a:xfrm>
            <a:off x="10261600" y="6781800"/>
            <a:ext cx="5731510" cy="1198880"/>
          </a:xfrm>
          <a:prstGeom prst="rect">
            <a:avLst/>
          </a:prstGeom>
          <a:noFill/>
        </p:spPr>
        <p:txBody>
          <a:bodyPr wrap="square" rtlCol="0">
            <a:spAutoFit/>
          </a:bodyPr>
          <a:p>
            <a:r>
              <a:rPr lang="zh-CN" altLang="en-US" sz="3600">
                <a:latin typeface="Times New Roman" panose="02020603050405020304" charset="0"/>
                <a:cs typeface="Times New Roman" panose="02020603050405020304" charset="0"/>
              </a:rPr>
              <a:t>小组成员：蔡志洁</a:t>
            </a:r>
            <a:r>
              <a:rPr lang="en-US" altLang="zh-CN" sz="3600">
                <a:latin typeface="Times New Roman" panose="02020603050405020304" charset="0"/>
                <a:cs typeface="Times New Roman" panose="02020603050405020304" charset="0"/>
              </a:rPr>
              <a:t> </a:t>
            </a:r>
            <a:r>
              <a:rPr lang="zh-CN" altLang="en-US" sz="3600">
                <a:latin typeface="Times New Roman" panose="02020603050405020304" charset="0"/>
                <a:cs typeface="Times New Roman" panose="02020603050405020304" charset="0"/>
              </a:rPr>
              <a:t>钟诗润</a:t>
            </a:r>
            <a:r>
              <a:rPr lang="en-US" altLang="zh-CN" sz="3600">
                <a:latin typeface="Times New Roman" panose="02020603050405020304" charset="0"/>
                <a:cs typeface="Times New Roman" panose="02020603050405020304" charset="0"/>
              </a:rPr>
              <a:t> </a:t>
            </a:r>
            <a:r>
              <a:rPr lang="zh-CN" altLang="en-US" sz="3600">
                <a:latin typeface="Times New Roman" panose="02020603050405020304" charset="0"/>
                <a:cs typeface="Times New Roman" panose="02020603050405020304" charset="0"/>
              </a:rPr>
              <a:t>李思婷</a:t>
            </a:r>
            <a:r>
              <a:rPr lang="en-US" altLang="zh-CN" sz="3600">
                <a:latin typeface="Times New Roman" panose="02020603050405020304" charset="0"/>
                <a:cs typeface="Times New Roman" panose="02020603050405020304" charset="0"/>
              </a:rPr>
              <a:t> </a:t>
            </a:r>
            <a:r>
              <a:rPr lang="zh-CN" altLang="en-US" sz="3600">
                <a:latin typeface="Times New Roman" panose="02020603050405020304" charset="0"/>
                <a:cs typeface="Times New Roman" panose="02020603050405020304" charset="0"/>
              </a:rPr>
              <a:t>叶力豪</a:t>
            </a:r>
            <a:r>
              <a:rPr lang="en-US" altLang="zh-CN" sz="3600">
                <a:latin typeface="Times New Roman" panose="02020603050405020304" charset="0"/>
                <a:cs typeface="Times New Roman" panose="02020603050405020304" charset="0"/>
              </a:rPr>
              <a:t> </a:t>
            </a:r>
            <a:r>
              <a:rPr lang="zh-CN" altLang="en-US" sz="3600">
                <a:latin typeface="Times New Roman" panose="02020603050405020304" charset="0"/>
                <a:cs typeface="Times New Roman" panose="02020603050405020304" charset="0"/>
              </a:rPr>
              <a:t>张浩</a:t>
            </a:r>
            <a:r>
              <a:rPr lang="en-US" altLang="zh-CN" sz="3600">
                <a:latin typeface="Times New Roman" panose="02020603050405020304" charset="0"/>
                <a:cs typeface="Times New Roman" panose="02020603050405020304" charset="0"/>
              </a:rPr>
              <a:t> </a:t>
            </a:r>
            <a:r>
              <a:rPr lang="zh-CN" altLang="en-US" sz="3600">
                <a:latin typeface="Times New Roman" panose="02020603050405020304" charset="0"/>
                <a:cs typeface="Times New Roman" panose="02020603050405020304" charset="0"/>
              </a:rPr>
              <a:t>黄毅凯</a:t>
            </a:r>
            <a:endParaRPr lang="zh-CN" altLang="en-US" sz="3600">
              <a:latin typeface="Times New Roman" panose="02020603050405020304" charset="0"/>
              <a:cs typeface="Times New Roman" panose="0202060305040502030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1" cstate="print"/>
          <a:stretch>
            <a:fillRect/>
          </a:stretch>
        </p:blipFill>
        <p:spPr>
          <a:xfrm>
            <a:off x="901700" y="6858000"/>
            <a:ext cx="3708400" cy="1295400"/>
          </a:xfrm>
          <a:prstGeom prst="rect">
            <a:avLst/>
          </a:prstGeom>
        </p:spPr>
      </p:pic>
      <p:pic>
        <p:nvPicPr>
          <p:cNvPr id="3" name="object 3"/>
          <p:cNvPicPr/>
          <p:nvPr/>
        </p:nvPicPr>
        <p:blipFill>
          <a:blip r:embed="rId2" cstate="print"/>
          <a:stretch>
            <a:fillRect/>
          </a:stretch>
        </p:blipFill>
        <p:spPr>
          <a:xfrm>
            <a:off x="4889500" y="6858000"/>
            <a:ext cx="3733800" cy="1295400"/>
          </a:xfrm>
          <a:prstGeom prst="rect">
            <a:avLst/>
          </a:prstGeom>
        </p:spPr>
      </p:pic>
      <p:pic>
        <p:nvPicPr>
          <p:cNvPr id="4" name="object 4"/>
          <p:cNvPicPr/>
          <p:nvPr/>
        </p:nvPicPr>
        <p:blipFill>
          <a:blip r:embed="rId3" cstate="print"/>
          <a:stretch>
            <a:fillRect/>
          </a:stretch>
        </p:blipFill>
        <p:spPr>
          <a:xfrm>
            <a:off x="8902700" y="6858000"/>
            <a:ext cx="3708400" cy="1295400"/>
          </a:xfrm>
          <a:prstGeom prst="rect">
            <a:avLst/>
          </a:prstGeom>
        </p:spPr>
      </p:pic>
      <p:pic>
        <p:nvPicPr>
          <p:cNvPr id="5" name="object 5"/>
          <p:cNvPicPr/>
          <p:nvPr/>
        </p:nvPicPr>
        <p:blipFill>
          <a:blip r:embed="rId4" cstate="print"/>
          <a:stretch>
            <a:fillRect/>
          </a:stretch>
        </p:blipFill>
        <p:spPr>
          <a:xfrm>
            <a:off x="12915900" y="6858000"/>
            <a:ext cx="3708400" cy="1295400"/>
          </a:xfrm>
          <a:prstGeom prst="rect">
            <a:avLst/>
          </a:prstGeom>
        </p:spPr>
      </p:pic>
      <p:sp>
        <p:nvSpPr>
          <p:cNvPr id="6" name="object 6"/>
          <p:cNvSpPr txBox="1">
            <a:spLocks noGrp="1"/>
          </p:cNvSpPr>
          <p:nvPr>
            <p:ph type="title"/>
          </p:nvPr>
        </p:nvSpPr>
        <p:spPr>
          <a:prstGeom prst="rect">
            <a:avLst/>
          </a:prstGeom>
        </p:spPr>
        <p:txBody>
          <a:bodyPr vert="horz" wrap="square" lIns="0" tIns="278482" rIns="0" bIns="0" rtlCol="0">
            <a:spAutoFit/>
          </a:bodyPr>
          <a:lstStyle/>
          <a:p>
            <a:pPr marL="250190">
              <a:lnSpc>
                <a:spcPct val="100000"/>
              </a:lnSpc>
              <a:spcBef>
                <a:spcPts val="115"/>
              </a:spcBef>
            </a:pPr>
            <a:r>
              <a:rPr sz="4150" spc="125" dirty="0"/>
              <a:t>Project</a:t>
            </a:r>
            <a:r>
              <a:rPr sz="4150" spc="-85" dirty="0"/>
              <a:t> </a:t>
            </a:r>
            <a:r>
              <a:rPr sz="4150" spc="55" dirty="0"/>
              <a:t>Overview:</a:t>
            </a:r>
            <a:r>
              <a:rPr sz="4150" spc="220" dirty="0"/>
              <a:t> </a:t>
            </a:r>
            <a:r>
              <a:rPr sz="4150" spc="-335" dirty="0">
                <a:solidFill>
                  <a:srgbClr val="1A1A1A"/>
                </a:solidFill>
              </a:rPr>
              <a:t>A</a:t>
            </a:r>
            <a:r>
              <a:rPr sz="4150" spc="-310" dirty="0">
                <a:solidFill>
                  <a:srgbClr val="1A1A1A"/>
                </a:solidFill>
              </a:rPr>
              <a:t> </a:t>
            </a:r>
            <a:r>
              <a:rPr sz="4150" spc="110" dirty="0"/>
              <a:t>Centralized</a:t>
            </a:r>
            <a:r>
              <a:rPr sz="4150" spc="-180" dirty="0"/>
              <a:t> </a:t>
            </a:r>
            <a:r>
              <a:rPr sz="4150" spc="50" dirty="0"/>
              <a:t>Command</a:t>
            </a:r>
            <a:r>
              <a:rPr sz="4150" spc="-20" dirty="0"/>
              <a:t> </a:t>
            </a:r>
            <a:r>
              <a:rPr sz="4150" spc="-65" dirty="0"/>
              <a:t>&amp;</a:t>
            </a:r>
            <a:r>
              <a:rPr sz="4150" spc="-505" dirty="0"/>
              <a:t> </a:t>
            </a:r>
            <a:r>
              <a:rPr sz="4150" spc="165" dirty="0"/>
              <a:t>Control</a:t>
            </a:r>
            <a:r>
              <a:rPr sz="4150" spc="-160" dirty="0"/>
              <a:t> </a:t>
            </a:r>
            <a:r>
              <a:rPr sz="4150" spc="140" dirty="0">
                <a:solidFill>
                  <a:srgbClr val="161616"/>
                </a:solidFill>
              </a:rPr>
              <a:t>Simulation</a:t>
            </a:r>
            <a:endParaRPr sz="4150"/>
          </a:p>
        </p:txBody>
      </p:sp>
      <p:sp>
        <p:nvSpPr>
          <p:cNvPr id="14" name="object 14"/>
          <p:cNvSpPr txBox="1">
            <a:spLocks noGrp="1"/>
          </p:cNvSpPr>
          <p:nvPr>
            <p:ph type="ftr" sz="quarter" idx="5"/>
          </p:nvPr>
        </p:nvSpPr>
        <p:spPr>
          <a:prstGeom prst="rect">
            <a:avLst/>
          </a:prstGeom>
        </p:spPr>
        <p:txBody>
          <a:bodyPr vert="horz" wrap="square" lIns="0" tIns="0" rIns="0" bIns="0" rtlCol="0">
            <a:spAutoFit/>
          </a:bodyPr>
          <a:lstStyle/>
          <a:p>
            <a:pPr marL="12700">
              <a:lnSpc>
                <a:spcPts val="1555"/>
              </a:lnSpc>
            </a:pPr>
            <a:r>
              <a:rPr dirty="0"/>
              <a:t>G</a:t>
            </a:r>
            <a:r>
              <a:rPr spc="490" dirty="0"/>
              <a:t> </a:t>
            </a:r>
            <a:r>
              <a:rPr spc="-10" dirty="0"/>
              <a:t>NotebookLM</a:t>
            </a:r>
            <a:endParaRPr spc="-10" dirty="0"/>
          </a:p>
        </p:txBody>
      </p:sp>
      <p:sp>
        <p:nvSpPr>
          <p:cNvPr id="7" name="object 7"/>
          <p:cNvSpPr txBox="1"/>
          <p:nvPr/>
        </p:nvSpPr>
        <p:spPr>
          <a:xfrm>
            <a:off x="901700" y="1951355"/>
            <a:ext cx="6808470" cy="2617470"/>
          </a:xfrm>
          <a:prstGeom prst="rect">
            <a:avLst/>
          </a:prstGeom>
        </p:spPr>
        <p:txBody>
          <a:bodyPr vert="horz" wrap="square" lIns="0" tIns="258445" rIns="0" bIns="0" rtlCol="0">
            <a:spAutoFit/>
          </a:bodyPr>
          <a:lstStyle/>
          <a:p>
            <a:pPr marL="12700">
              <a:lnSpc>
                <a:spcPct val="100000"/>
              </a:lnSpc>
              <a:spcBef>
                <a:spcPts val="2035"/>
              </a:spcBef>
            </a:pPr>
            <a:r>
              <a:rPr sz="3300" dirty="0">
                <a:solidFill>
                  <a:srgbClr val="0C0C0C"/>
                </a:solidFill>
                <a:latin typeface="Times New Roman" panose="02020603050405020304" charset="0"/>
                <a:cs typeface="Times New Roman" panose="02020603050405020304" charset="0"/>
              </a:rPr>
              <a:t>Core</a:t>
            </a:r>
            <a:r>
              <a:rPr sz="3300" spc="-254" dirty="0">
                <a:solidFill>
                  <a:srgbClr val="0C0C0C"/>
                </a:solidFill>
                <a:latin typeface="Times New Roman" panose="02020603050405020304" charset="0"/>
                <a:cs typeface="Times New Roman" panose="02020603050405020304" charset="0"/>
              </a:rPr>
              <a:t> </a:t>
            </a:r>
            <a:r>
              <a:rPr sz="3300" spc="60" dirty="0">
                <a:solidFill>
                  <a:srgbClr val="0A0A0A"/>
                </a:solidFill>
                <a:latin typeface="Times New Roman" panose="02020603050405020304" charset="0"/>
                <a:cs typeface="Times New Roman" panose="02020603050405020304" charset="0"/>
              </a:rPr>
              <a:t>Objective</a:t>
            </a:r>
            <a:endParaRPr sz="3300">
              <a:latin typeface="Times New Roman" panose="02020603050405020304" charset="0"/>
              <a:cs typeface="Times New Roman" panose="02020603050405020304" charset="0"/>
            </a:endParaRPr>
          </a:p>
          <a:p>
            <a:pPr marL="19050" marR="5080" indent="-6985">
              <a:lnSpc>
                <a:spcPct val="93000"/>
              </a:lnSpc>
              <a:spcBef>
                <a:spcPts val="1955"/>
              </a:spcBef>
            </a:pPr>
            <a:r>
              <a:rPr sz="2800" spc="-360" dirty="0">
                <a:latin typeface="Times New Roman" panose="02020603050405020304" charset="0"/>
                <a:cs typeface="Times New Roman" panose="02020603050405020304" charset="0"/>
              </a:rPr>
              <a:t>To</a:t>
            </a:r>
            <a:r>
              <a:rPr sz="2800" spc="-190" dirty="0">
                <a:latin typeface="Times New Roman" panose="02020603050405020304" charset="0"/>
                <a:cs typeface="Times New Roman" panose="02020603050405020304" charset="0"/>
              </a:rPr>
              <a:t> </a:t>
            </a:r>
            <a:r>
              <a:rPr sz="2800" spc="-160" dirty="0">
                <a:latin typeface="Times New Roman" panose="02020603050405020304" charset="0"/>
                <a:cs typeface="Times New Roman" panose="02020603050405020304" charset="0"/>
              </a:rPr>
              <a:t>build</a:t>
            </a:r>
            <a:r>
              <a:rPr sz="2800" spc="-210" dirty="0">
                <a:latin typeface="Times New Roman" panose="02020603050405020304" charset="0"/>
                <a:cs typeface="Times New Roman" panose="02020603050405020304" charset="0"/>
              </a:rPr>
              <a:t> </a:t>
            </a:r>
            <a:r>
              <a:rPr sz="2800" spc="-260" dirty="0">
                <a:latin typeface="Times New Roman" panose="02020603050405020304" charset="0"/>
                <a:cs typeface="Times New Roman" panose="02020603050405020304" charset="0"/>
              </a:rPr>
              <a:t>a</a:t>
            </a:r>
            <a:r>
              <a:rPr sz="2800" spc="-225" dirty="0">
                <a:latin typeface="Times New Roman" panose="02020603050405020304" charset="0"/>
                <a:cs typeface="Times New Roman" panose="02020603050405020304" charset="0"/>
              </a:rPr>
              <a:t> </a:t>
            </a:r>
            <a:r>
              <a:rPr sz="2800" spc="-204" dirty="0">
                <a:latin typeface="Times New Roman" panose="02020603050405020304" charset="0"/>
                <a:cs typeface="Times New Roman" panose="02020603050405020304" charset="0"/>
              </a:rPr>
              <a:t>system</a:t>
            </a:r>
            <a:r>
              <a:rPr sz="2800" spc="-40" dirty="0">
                <a:latin typeface="Times New Roman" panose="02020603050405020304" charset="0"/>
                <a:cs typeface="Times New Roman" panose="02020603050405020304" charset="0"/>
              </a:rPr>
              <a:t> </a:t>
            </a:r>
            <a:r>
              <a:rPr sz="2800" spc="-165" dirty="0">
                <a:latin typeface="Times New Roman" panose="02020603050405020304" charset="0"/>
                <a:cs typeface="Times New Roman" panose="02020603050405020304" charset="0"/>
              </a:rPr>
              <a:t>for</a:t>
            </a:r>
            <a:r>
              <a:rPr sz="2800" spc="-120" dirty="0">
                <a:latin typeface="Times New Roman" panose="02020603050405020304" charset="0"/>
                <a:cs typeface="Times New Roman" panose="02020603050405020304" charset="0"/>
              </a:rPr>
              <a:t> </a:t>
            </a:r>
            <a:r>
              <a:rPr sz="2800" spc="-105" dirty="0">
                <a:latin typeface="Times New Roman" panose="02020603050405020304" charset="0"/>
                <a:cs typeface="Times New Roman" panose="02020603050405020304" charset="0"/>
              </a:rPr>
              <a:t>the</a:t>
            </a:r>
            <a:r>
              <a:rPr sz="2800" spc="-290" dirty="0">
                <a:latin typeface="Times New Roman" panose="02020603050405020304" charset="0"/>
                <a:cs typeface="Times New Roman" panose="02020603050405020304" charset="0"/>
              </a:rPr>
              <a:t> </a:t>
            </a:r>
            <a:r>
              <a:rPr sz="2800" spc="-130" dirty="0">
                <a:latin typeface="Times New Roman" panose="02020603050405020304" charset="0"/>
                <a:cs typeface="Times New Roman" panose="02020603050405020304" charset="0"/>
              </a:rPr>
              <a:t>real-</a:t>
            </a:r>
            <a:r>
              <a:rPr sz="2800" spc="-150" dirty="0">
                <a:latin typeface="Times New Roman" panose="02020603050405020304" charset="0"/>
                <a:cs typeface="Times New Roman" panose="02020603050405020304" charset="0"/>
              </a:rPr>
              <a:t>time</a:t>
            </a:r>
            <a:r>
              <a:rPr sz="2800" spc="-185" dirty="0">
                <a:latin typeface="Times New Roman" panose="02020603050405020304" charset="0"/>
                <a:cs typeface="Times New Roman" panose="02020603050405020304" charset="0"/>
              </a:rPr>
              <a:t> </a:t>
            </a:r>
            <a:r>
              <a:rPr sz="2800" spc="-160" dirty="0">
                <a:latin typeface="Times New Roman" panose="02020603050405020304" charset="0"/>
                <a:cs typeface="Times New Roman" panose="02020603050405020304" charset="0"/>
              </a:rPr>
              <a:t>monitoring</a:t>
            </a:r>
            <a:r>
              <a:rPr sz="2800" spc="5" dirty="0">
                <a:latin typeface="Times New Roman" panose="02020603050405020304" charset="0"/>
                <a:cs typeface="Times New Roman" panose="02020603050405020304" charset="0"/>
              </a:rPr>
              <a:t> </a:t>
            </a:r>
            <a:r>
              <a:rPr sz="2800" spc="-80" dirty="0">
                <a:latin typeface="Times New Roman" panose="02020603050405020304" charset="0"/>
                <a:cs typeface="Times New Roman" panose="02020603050405020304" charset="0"/>
              </a:rPr>
              <a:t>and </a:t>
            </a:r>
            <a:r>
              <a:rPr sz="2800" spc="-125" dirty="0">
                <a:latin typeface="Times New Roman" panose="02020603050405020304" charset="0"/>
                <a:cs typeface="Times New Roman" panose="02020603050405020304" charset="0"/>
              </a:rPr>
              <a:t>control</a:t>
            </a:r>
            <a:r>
              <a:rPr sz="2800" spc="-140" dirty="0">
                <a:latin typeface="Times New Roman" panose="02020603050405020304" charset="0"/>
                <a:cs typeface="Times New Roman" panose="02020603050405020304" charset="0"/>
              </a:rPr>
              <a:t> </a:t>
            </a:r>
            <a:r>
              <a:rPr sz="2800" spc="-155" dirty="0">
                <a:latin typeface="Times New Roman" panose="02020603050405020304" charset="0"/>
                <a:cs typeface="Times New Roman" panose="02020603050405020304" charset="0"/>
              </a:rPr>
              <a:t>of</a:t>
            </a:r>
            <a:r>
              <a:rPr sz="2800" spc="-135" dirty="0">
                <a:latin typeface="Times New Roman" panose="02020603050405020304" charset="0"/>
                <a:cs typeface="Times New Roman" panose="02020603050405020304" charset="0"/>
              </a:rPr>
              <a:t> </a:t>
            </a:r>
            <a:r>
              <a:rPr sz="2800" spc="-375" dirty="0">
                <a:latin typeface="Times New Roman" panose="02020603050405020304" charset="0"/>
                <a:cs typeface="Times New Roman" panose="02020603050405020304" charset="0"/>
              </a:rPr>
              <a:t>a</a:t>
            </a:r>
            <a:r>
              <a:rPr sz="2800" spc="-160" dirty="0">
                <a:latin typeface="Times New Roman" panose="02020603050405020304" charset="0"/>
                <a:cs typeface="Times New Roman" panose="02020603050405020304" charset="0"/>
              </a:rPr>
              <a:t> </a:t>
            </a:r>
            <a:r>
              <a:rPr sz="2800" spc="-80" dirty="0">
                <a:latin typeface="Times New Roman" panose="02020603050405020304" charset="0"/>
                <a:cs typeface="Times New Roman" panose="02020603050405020304" charset="0"/>
              </a:rPr>
              <a:t>fleet</a:t>
            </a:r>
            <a:r>
              <a:rPr sz="2800" spc="-75" dirty="0">
                <a:latin typeface="Times New Roman" panose="02020603050405020304" charset="0"/>
                <a:cs typeface="Times New Roman" panose="02020603050405020304" charset="0"/>
              </a:rPr>
              <a:t> </a:t>
            </a:r>
            <a:r>
              <a:rPr sz="2800" spc="-155" dirty="0">
                <a:latin typeface="Times New Roman" panose="02020603050405020304" charset="0"/>
                <a:cs typeface="Times New Roman" panose="02020603050405020304" charset="0"/>
              </a:rPr>
              <a:t>of</a:t>
            </a:r>
            <a:r>
              <a:rPr sz="2800" spc="-135" dirty="0">
                <a:latin typeface="Times New Roman" panose="02020603050405020304" charset="0"/>
                <a:cs typeface="Times New Roman" panose="02020603050405020304" charset="0"/>
              </a:rPr>
              <a:t> </a:t>
            </a:r>
            <a:r>
              <a:rPr sz="2800" spc="-210" dirty="0">
                <a:latin typeface="Times New Roman" panose="02020603050405020304" charset="0"/>
                <a:cs typeface="Times New Roman" panose="02020603050405020304" charset="0"/>
              </a:rPr>
              <a:t>autonomous</a:t>
            </a:r>
            <a:r>
              <a:rPr sz="2800" spc="50" dirty="0">
                <a:latin typeface="Times New Roman" panose="02020603050405020304" charset="0"/>
                <a:cs typeface="Times New Roman" panose="02020603050405020304" charset="0"/>
              </a:rPr>
              <a:t> </a:t>
            </a:r>
            <a:r>
              <a:rPr sz="2800" spc="-200" dirty="0">
                <a:latin typeface="Times New Roman" panose="02020603050405020304" charset="0"/>
                <a:cs typeface="Times New Roman" panose="02020603050405020304" charset="0"/>
              </a:rPr>
              <a:t>drones,</a:t>
            </a:r>
            <a:r>
              <a:rPr sz="2800" spc="-155" dirty="0">
                <a:latin typeface="Times New Roman" panose="02020603050405020304" charset="0"/>
                <a:cs typeface="Times New Roman" panose="02020603050405020304" charset="0"/>
              </a:rPr>
              <a:t> </a:t>
            </a:r>
            <a:r>
              <a:rPr sz="2800" spc="-95" dirty="0">
                <a:latin typeface="Times New Roman" panose="02020603050405020304" charset="0"/>
                <a:cs typeface="Times New Roman" panose="02020603050405020304" charset="0"/>
              </a:rPr>
              <a:t>covering </a:t>
            </a:r>
            <a:r>
              <a:rPr sz="2800" spc="-135" dirty="0">
                <a:latin typeface="Times New Roman" panose="02020603050405020304" charset="0"/>
                <a:cs typeface="Times New Roman" panose="02020603050405020304" charset="0"/>
              </a:rPr>
              <a:t>robotics</a:t>
            </a:r>
            <a:r>
              <a:rPr sz="2800" spc="-180" dirty="0">
                <a:latin typeface="Times New Roman" panose="02020603050405020304" charset="0"/>
                <a:cs typeface="Times New Roman" panose="02020603050405020304" charset="0"/>
              </a:rPr>
              <a:t> </a:t>
            </a:r>
            <a:r>
              <a:rPr sz="2800" spc="-114" dirty="0">
                <a:latin typeface="Times New Roman" panose="02020603050405020304" charset="0"/>
                <a:cs typeface="Times New Roman" panose="02020603050405020304" charset="0"/>
              </a:rPr>
              <a:t>control,</a:t>
            </a:r>
            <a:r>
              <a:rPr sz="2800" spc="-120" dirty="0">
                <a:latin typeface="Times New Roman" panose="02020603050405020304" charset="0"/>
                <a:cs typeface="Times New Roman" panose="02020603050405020304" charset="0"/>
              </a:rPr>
              <a:t> </a:t>
            </a:r>
            <a:r>
              <a:rPr sz="2800" spc="-180" dirty="0">
                <a:latin typeface="Times New Roman" panose="02020603050405020304" charset="0"/>
                <a:cs typeface="Times New Roman" panose="02020603050405020304" charset="0"/>
              </a:rPr>
              <a:t>network</a:t>
            </a:r>
            <a:r>
              <a:rPr sz="2800" spc="-55" dirty="0">
                <a:latin typeface="Times New Roman" panose="02020603050405020304" charset="0"/>
                <a:cs typeface="Times New Roman" panose="02020603050405020304" charset="0"/>
              </a:rPr>
              <a:t> </a:t>
            </a:r>
            <a:r>
              <a:rPr sz="2800" spc="-170" dirty="0">
                <a:latin typeface="Times New Roman" panose="02020603050405020304" charset="0"/>
                <a:cs typeface="Times New Roman" panose="02020603050405020304" charset="0"/>
              </a:rPr>
              <a:t>communication,</a:t>
            </a:r>
            <a:r>
              <a:rPr sz="2800" spc="-95" dirty="0">
                <a:latin typeface="Times New Roman" panose="02020603050405020304" charset="0"/>
                <a:cs typeface="Times New Roman" panose="02020603050405020304" charset="0"/>
              </a:rPr>
              <a:t> </a:t>
            </a:r>
            <a:r>
              <a:rPr sz="2800" spc="-25" dirty="0">
                <a:latin typeface="Times New Roman" panose="02020603050405020304" charset="0"/>
                <a:cs typeface="Times New Roman" panose="02020603050405020304" charset="0"/>
              </a:rPr>
              <a:t>and </a:t>
            </a:r>
            <a:r>
              <a:rPr sz="2800" spc="-210" dirty="0">
                <a:latin typeface="Times New Roman" panose="02020603050405020304" charset="0"/>
                <a:cs typeface="Times New Roman" panose="02020603050405020304" charset="0"/>
              </a:rPr>
              <a:t>graphical</a:t>
            </a:r>
            <a:r>
              <a:rPr sz="2800" spc="-55" dirty="0">
                <a:latin typeface="Times New Roman" panose="02020603050405020304" charset="0"/>
                <a:cs typeface="Times New Roman" panose="02020603050405020304" charset="0"/>
              </a:rPr>
              <a:t> </a:t>
            </a:r>
            <a:r>
              <a:rPr sz="2800" spc="-235" dirty="0">
                <a:latin typeface="Times New Roman" panose="02020603050405020304" charset="0"/>
                <a:cs typeface="Times New Roman" panose="02020603050405020304" charset="0"/>
              </a:rPr>
              <a:t>user</a:t>
            </a:r>
            <a:r>
              <a:rPr sz="2800" spc="-114" dirty="0">
                <a:latin typeface="Times New Roman" panose="02020603050405020304" charset="0"/>
                <a:cs typeface="Times New Roman" panose="02020603050405020304" charset="0"/>
              </a:rPr>
              <a:t> </a:t>
            </a:r>
            <a:r>
              <a:rPr sz="2800" spc="-70" dirty="0">
                <a:latin typeface="Times New Roman" panose="02020603050405020304" charset="0"/>
                <a:cs typeface="Times New Roman" panose="02020603050405020304" charset="0"/>
              </a:rPr>
              <a:t>interfaces.</a:t>
            </a:r>
            <a:endParaRPr sz="2800" spc="-70" dirty="0">
              <a:latin typeface="Times New Roman" panose="02020603050405020304" charset="0"/>
              <a:cs typeface="Times New Roman" panose="02020603050405020304" charset="0"/>
            </a:endParaRPr>
          </a:p>
        </p:txBody>
      </p:sp>
      <p:sp>
        <p:nvSpPr>
          <p:cNvPr id="8" name="object 8"/>
          <p:cNvSpPr txBox="1"/>
          <p:nvPr/>
        </p:nvSpPr>
        <p:spPr>
          <a:xfrm>
            <a:off x="9144106" y="1710296"/>
            <a:ext cx="7342505" cy="3576955"/>
          </a:xfrm>
          <a:prstGeom prst="rect">
            <a:avLst/>
          </a:prstGeom>
        </p:spPr>
        <p:txBody>
          <a:bodyPr vert="horz" wrap="square" lIns="0" tIns="258445" rIns="0" bIns="0" rtlCol="0">
            <a:spAutoFit/>
          </a:bodyPr>
          <a:lstStyle/>
          <a:p>
            <a:pPr marL="12700">
              <a:lnSpc>
                <a:spcPct val="100000"/>
              </a:lnSpc>
              <a:spcBef>
                <a:spcPts val="2035"/>
              </a:spcBef>
            </a:pPr>
            <a:r>
              <a:rPr lang="en-US" altLang="en-US" sz="3300" spc="-100" dirty="0">
                <a:solidFill>
                  <a:srgbClr val="0A0A0A"/>
                </a:solidFill>
                <a:latin typeface="Times New Roman" panose="02020603050405020304" charset="0"/>
                <a:cs typeface="Times New Roman" panose="02020603050405020304" charset="0"/>
              </a:rPr>
              <a:t>    </a:t>
            </a:r>
            <a:r>
              <a:rPr sz="3300" spc="-100" dirty="0">
                <a:solidFill>
                  <a:srgbClr val="0A0A0A"/>
                </a:solidFill>
                <a:latin typeface="Times New Roman" panose="02020603050405020304" charset="0"/>
                <a:cs typeface="Times New Roman" panose="02020603050405020304" charset="0"/>
              </a:rPr>
              <a:t>Key</a:t>
            </a:r>
            <a:r>
              <a:rPr sz="3300" spc="-290" dirty="0">
                <a:solidFill>
                  <a:srgbClr val="0A0A0A"/>
                </a:solidFill>
                <a:latin typeface="Times New Roman" panose="02020603050405020304" charset="0"/>
                <a:cs typeface="Times New Roman" panose="02020603050405020304" charset="0"/>
              </a:rPr>
              <a:t> </a:t>
            </a:r>
            <a:r>
              <a:rPr sz="3300" spc="85" dirty="0">
                <a:solidFill>
                  <a:srgbClr val="0C0C0C"/>
                </a:solidFill>
                <a:latin typeface="Times New Roman" panose="02020603050405020304" charset="0"/>
                <a:cs typeface="Times New Roman" panose="02020603050405020304" charset="0"/>
              </a:rPr>
              <a:t>Functionality</a:t>
            </a:r>
            <a:endParaRPr sz="3300">
              <a:latin typeface="Times New Roman" panose="02020603050405020304" charset="0"/>
              <a:cs typeface="Times New Roman" panose="02020603050405020304" charset="0"/>
            </a:endParaRPr>
          </a:p>
          <a:p>
            <a:pPr marL="400050" marR="398780" indent="-16510">
              <a:lnSpc>
                <a:spcPts val="3150"/>
              </a:lnSpc>
              <a:spcBef>
                <a:spcPts val="2070"/>
              </a:spcBef>
            </a:pPr>
            <a:r>
              <a:rPr sz="2800" spc="-130" dirty="0">
                <a:latin typeface="Times New Roman" panose="02020603050405020304" charset="0"/>
                <a:cs typeface="Times New Roman" panose="02020603050405020304" charset="0"/>
              </a:rPr>
              <a:t>Multiple </a:t>
            </a:r>
            <a:r>
              <a:rPr sz="2800" spc="-190" dirty="0">
                <a:latin typeface="Times New Roman" panose="02020603050405020304" charset="0"/>
                <a:cs typeface="Times New Roman" panose="02020603050405020304" charset="0"/>
              </a:rPr>
              <a:t>drone</a:t>
            </a:r>
            <a:r>
              <a:rPr sz="2800" spc="-150" dirty="0">
                <a:latin typeface="Times New Roman" panose="02020603050405020304" charset="0"/>
                <a:cs typeface="Times New Roman" panose="02020603050405020304" charset="0"/>
              </a:rPr>
              <a:t> </a:t>
            </a:r>
            <a:r>
              <a:rPr sz="2800" spc="-180" dirty="0">
                <a:latin typeface="Times New Roman" panose="02020603050405020304" charset="0"/>
                <a:cs typeface="Times New Roman" panose="02020603050405020304" charset="0"/>
              </a:rPr>
              <a:t>simulators</a:t>
            </a:r>
            <a:r>
              <a:rPr sz="2800" spc="-85" dirty="0">
                <a:latin typeface="Times New Roman" panose="02020603050405020304" charset="0"/>
                <a:cs typeface="Times New Roman" panose="02020603050405020304" charset="0"/>
              </a:rPr>
              <a:t> </a:t>
            </a:r>
            <a:r>
              <a:rPr sz="2800" spc="-150" dirty="0">
                <a:latin typeface="Times New Roman" panose="02020603050405020304" charset="0"/>
                <a:cs typeface="Times New Roman" panose="02020603050405020304" charset="0"/>
              </a:rPr>
              <a:t>connect</a:t>
            </a:r>
            <a:r>
              <a:rPr sz="2800" spc="85" dirty="0">
                <a:latin typeface="Times New Roman" panose="02020603050405020304" charset="0"/>
                <a:cs typeface="Times New Roman" panose="02020603050405020304" charset="0"/>
              </a:rPr>
              <a:t> </a:t>
            </a:r>
            <a:r>
              <a:rPr sz="2800" spc="-70" dirty="0">
                <a:latin typeface="Times New Roman" panose="02020603050405020304" charset="0"/>
                <a:cs typeface="Times New Roman" panose="02020603050405020304" charset="0"/>
              </a:rPr>
              <a:t>to</a:t>
            </a:r>
            <a:r>
              <a:rPr sz="2800" spc="-270" dirty="0">
                <a:latin typeface="Times New Roman" panose="02020603050405020304" charset="0"/>
                <a:cs typeface="Times New Roman" panose="02020603050405020304" charset="0"/>
              </a:rPr>
              <a:t> </a:t>
            </a:r>
            <a:r>
              <a:rPr sz="2800" spc="-375" dirty="0">
                <a:latin typeface="Times New Roman" panose="02020603050405020304" charset="0"/>
                <a:cs typeface="Times New Roman" panose="02020603050405020304" charset="0"/>
              </a:rPr>
              <a:t>a</a:t>
            </a:r>
            <a:r>
              <a:rPr sz="2800" spc="-260" dirty="0">
                <a:latin typeface="Times New Roman" panose="02020603050405020304" charset="0"/>
                <a:cs typeface="Times New Roman" panose="02020603050405020304" charset="0"/>
              </a:rPr>
              <a:t> </a:t>
            </a:r>
            <a:r>
              <a:rPr sz="2800" spc="-90" dirty="0">
                <a:latin typeface="Times New Roman" panose="02020603050405020304" charset="0"/>
                <a:cs typeface="Times New Roman" panose="02020603050405020304" charset="0"/>
              </a:rPr>
              <a:t>central </a:t>
            </a:r>
            <a:r>
              <a:rPr sz="2800" spc="-85" dirty="0">
                <a:latin typeface="Times New Roman" panose="02020603050405020304" charset="0"/>
                <a:cs typeface="Times New Roman" panose="02020603050405020304" charset="0"/>
              </a:rPr>
              <a:t>server.</a:t>
            </a:r>
            <a:endParaRPr sz="2800">
              <a:latin typeface="Times New Roman" panose="02020603050405020304" charset="0"/>
              <a:cs typeface="Times New Roman" panose="02020603050405020304" charset="0"/>
            </a:endParaRPr>
          </a:p>
          <a:p>
            <a:pPr marL="399415">
              <a:lnSpc>
                <a:spcPts val="3160"/>
              </a:lnSpc>
            </a:pPr>
            <a:r>
              <a:rPr sz="2800" spc="-484" dirty="0">
                <a:latin typeface="Times New Roman" panose="02020603050405020304" charset="0"/>
                <a:cs typeface="Times New Roman" panose="02020603050405020304" charset="0"/>
              </a:rPr>
              <a:t>A</a:t>
            </a:r>
            <a:r>
              <a:rPr sz="2800" spc="-155" dirty="0">
                <a:latin typeface="Times New Roman" panose="02020603050405020304" charset="0"/>
                <a:cs typeface="Times New Roman" panose="02020603050405020304" charset="0"/>
              </a:rPr>
              <a:t> </a:t>
            </a:r>
            <a:r>
              <a:rPr sz="2800" spc="-215" dirty="0">
                <a:latin typeface="Times New Roman" panose="02020603050405020304" charset="0"/>
                <a:cs typeface="Times New Roman" panose="02020603050405020304" charset="0"/>
              </a:rPr>
              <a:t>web-</a:t>
            </a:r>
            <a:r>
              <a:rPr sz="2800" spc="-210" dirty="0">
                <a:latin typeface="Times New Roman" panose="02020603050405020304" charset="0"/>
                <a:cs typeface="Times New Roman" panose="02020603050405020304" charset="0"/>
              </a:rPr>
              <a:t>based</a:t>
            </a:r>
            <a:r>
              <a:rPr sz="2800" spc="-130" dirty="0">
                <a:latin typeface="Times New Roman" panose="02020603050405020304" charset="0"/>
                <a:cs typeface="Times New Roman" panose="02020603050405020304" charset="0"/>
              </a:rPr>
              <a:t> </a:t>
            </a:r>
            <a:r>
              <a:rPr sz="2800" spc="-385" dirty="0">
                <a:latin typeface="Times New Roman" panose="02020603050405020304" charset="0"/>
                <a:cs typeface="Times New Roman" panose="02020603050405020304" charset="0"/>
              </a:rPr>
              <a:t>GUI</a:t>
            </a:r>
            <a:r>
              <a:rPr sz="2800" spc="-275" dirty="0">
                <a:latin typeface="Times New Roman" panose="02020603050405020304" charset="0"/>
                <a:cs typeface="Times New Roman" panose="02020603050405020304" charset="0"/>
              </a:rPr>
              <a:t> </a:t>
            </a:r>
            <a:r>
              <a:rPr sz="2800" spc="-185" dirty="0">
                <a:latin typeface="Times New Roman" panose="02020603050405020304" charset="0"/>
                <a:cs typeface="Times New Roman" panose="02020603050405020304" charset="0"/>
              </a:rPr>
              <a:t>displays</a:t>
            </a:r>
            <a:r>
              <a:rPr sz="2800" spc="-130" dirty="0">
                <a:latin typeface="Times New Roman" panose="02020603050405020304" charset="0"/>
                <a:cs typeface="Times New Roman" panose="02020603050405020304" charset="0"/>
              </a:rPr>
              <a:t> real-</a:t>
            </a:r>
            <a:r>
              <a:rPr sz="2800" spc="-150" dirty="0">
                <a:latin typeface="Times New Roman" panose="02020603050405020304" charset="0"/>
                <a:cs typeface="Times New Roman" panose="02020603050405020304" charset="0"/>
              </a:rPr>
              <a:t>time</a:t>
            </a:r>
            <a:r>
              <a:rPr sz="2800" spc="-195" dirty="0">
                <a:latin typeface="Times New Roman" panose="02020603050405020304" charset="0"/>
                <a:cs typeface="Times New Roman" panose="02020603050405020304" charset="0"/>
              </a:rPr>
              <a:t> </a:t>
            </a:r>
            <a:r>
              <a:rPr sz="2800" spc="-190" dirty="0">
                <a:latin typeface="Times New Roman" panose="02020603050405020304" charset="0"/>
                <a:cs typeface="Times New Roman" panose="02020603050405020304" charset="0"/>
              </a:rPr>
              <a:t>drone</a:t>
            </a:r>
            <a:r>
              <a:rPr sz="2800" spc="-130" dirty="0">
                <a:latin typeface="Times New Roman" panose="02020603050405020304" charset="0"/>
                <a:cs typeface="Times New Roman" panose="02020603050405020304" charset="0"/>
              </a:rPr>
              <a:t> </a:t>
            </a:r>
            <a:r>
              <a:rPr sz="2800" spc="-25" dirty="0">
                <a:latin typeface="Times New Roman" panose="02020603050405020304" charset="0"/>
                <a:cs typeface="Times New Roman" panose="02020603050405020304" charset="0"/>
              </a:rPr>
              <a:t>status</a:t>
            </a:r>
            <a:endParaRPr sz="2800">
              <a:latin typeface="Times New Roman" panose="02020603050405020304" charset="0"/>
              <a:cs typeface="Times New Roman" panose="02020603050405020304" charset="0"/>
            </a:endParaRPr>
          </a:p>
          <a:p>
            <a:pPr marL="399415">
              <a:lnSpc>
                <a:spcPts val="3350"/>
              </a:lnSpc>
            </a:pPr>
            <a:r>
              <a:rPr sz="2800" spc="-190" dirty="0">
                <a:latin typeface="Times New Roman" panose="02020603050405020304" charset="0"/>
                <a:cs typeface="Times New Roman" panose="02020603050405020304" charset="0"/>
              </a:rPr>
              <a:t>on</a:t>
            </a:r>
            <a:r>
              <a:rPr sz="2800" spc="-330" dirty="0">
                <a:latin typeface="Times New Roman" panose="02020603050405020304" charset="0"/>
                <a:cs typeface="Times New Roman" panose="02020603050405020304" charset="0"/>
              </a:rPr>
              <a:t> </a:t>
            </a:r>
            <a:r>
              <a:rPr sz="2800" spc="-254" dirty="0">
                <a:latin typeface="Times New Roman" panose="02020603050405020304" charset="0"/>
                <a:cs typeface="Times New Roman" panose="02020603050405020304" charset="0"/>
              </a:rPr>
              <a:t>an</a:t>
            </a:r>
            <a:r>
              <a:rPr sz="2800" spc="-270" dirty="0">
                <a:latin typeface="Times New Roman" panose="02020603050405020304" charset="0"/>
                <a:cs typeface="Times New Roman" panose="02020603050405020304" charset="0"/>
              </a:rPr>
              <a:t> </a:t>
            </a:r>
            <a:r>
              <a:rPr sz="2800" spc="-145" dirty="0">
                <a:latin typeface="Times New Roman" panose="02020603050405020304" charset="0"/>
                <a:cs typeface="Times New Roman" panose="02020603050405020304" charset="0"/>
              </a:rPr>
              <a:t>interactive</a:t>
            </a:r>
            <a:r>
              <a:rPr sz="2800" spc="-155" dirty="0">
                <a:latin typeface="Times New Roman" panose="02020603050405020304" charset="0"/>
                <a:cs typeface="Times New Roman" panose="02020603050405020304" charset="0"/>
              </a:rPr>
              <a:t> </a:t>
            </a:r>
            <a:r>
              <a:rPr sz="2800" spc="-325" dirty="0">
                <a:latin typeface="Times New Roman" panose="02020603050405020304" charset="0"/>
                <a:cs typeface="Times New Roman" panose="02020603050405020304" charset="0"/>
              </a:rPr>
              <a:t>map.</a:t>
            </a:r>
            <a:endParaRPr sz="2800" spc="-325" dirty="0">
              <a:latin typeface="Times New Roman" panose="02020603050405020304" charset="0"/>
              <a:cs typeface="Times New Roman" panose="02020603050405020304" charset="0"/>
            </a:endParaRPr>
          </a:p>
          <a:p>
            <a:pPr marL="399415">
              <a:lnSpc>
                <a:spcPts val="3350"/>
              </a:lnSpc>
            </a:pPr>
            <a:endParaRPr sz="2800">
              <a:latin typeface="Times New Roman" panose="02020603050405020304" charset="0"/>
              <a:cs typeface="Times New Roman" panose="02020603050405020304" charset="0"/>
            </a:endParaRPr>
          </a:p>
          <a:p>
            <a:pPr marL="393065" marR="239395">
              <a:lnSpc>
                <a:spcPts val="3150"/>
              </a:lnSpc>
              <a:spcBef>
                <a:spcPts val="540"/>
              </a:spcBef>
            </a:pPr>
            <a:r>
              <a:rPr sz="2800" spc="-235" dirty="0">
                <a:latin typeface="Times New Roman" panose="02020603050405020304" charset="0"/>
                <a:cs typeface="Times New Roman" panose="02020603050405020304" charset="0"/>
              </a:rPr>
              <a:t>Operators</a:t>
            </a:r>
            <a:r>
              <a:rPr sz="2800" spc="-110" dirty="0">
                <a:latin typeface="Times New Roman" panose="02020603050405020304" charset="0"/>
                <a:cs typeface="Times New Roman" panose="02020603050405020304" charset="0"/>
              </a:rPr>
              <a:t> </a:t>
            </a:r>
            <a:r>
              <a:rPr sz="2800" spc="-200" dirty="0">
                <a:latin typeface="Times New Roman" panose="02020603050405020304" charset="0"/>
                <a:cs typeface="Times New Roman" panose="02020603050405020304" charset="0"/>
              </a:rPr>
              <a:t>can</a:t>
            </a:r>
            <a:r>
              <a:rPr sz="2800" spc="-265" dirty="0">
                <a:latin typeface="Times New Roman" panose="02020603050405020304" charset="0"/>
                <a:cs typeface="Times New Roman" panose="02020603050405020304" charset="0"/>
              </a:rPr>
              <a:t> </a:t>
            </a:r>
            <a:r>
              <a:rPr sz="2800" spc="-215" dirty="0">
                <a:latin typeface="Times New Roman" panose="02020603050405020304" charset="0"/>
                <a:cs typeface="Times New Roman" panose="02020603050405020304" charset="0"/>
              </a:rPr>
              <a:t>issue</a:t>
            </a:r>
            <a:r>
              <a:rPr sz="2800" spc="-160" dirty="0">
                <a:latin typeface="Times New Roman" panose="02020603050405020304" charset="0"/>
                <a:cs typeface="Times New Roman" panose="02020603050405020304" charset="0"/>
              </a:rPr>
              <a:t> </a:t>
            </a:r>
            <a:r>
              <a:rPr sz="2800" spc="-275" dirty="0">
                <a:latin typeface="Times New Roman" panose="02020603050405020304" charset="0"/>
                <a:cs typeface="Times New Roman" panose="02020603050405020304" charset="0"/>
              </a:rPr>
              <a:t>commands</a:t>
            </a:r>
            <a:r>
              <a:rPr sz="2800" spc="90" dirty="0">
                <a:latin typeface="Times New Roman" panose="02020603050405020304" charset="0"/>
                <a:cs typeface="Times New Roman" panose="02020603050405020304" charset="0"/>
              </a:rPr>
              <a:t> </a:t>
            </a:r>
            <a:r>
              <a:rPr sz="2800" spc="-220" dirty="0">
                <a:latin typeface="Times New Roman" panose="02020603050405020304" charset="0"/>
                <a:cs typeface="Times New Roman" panose="02020603050405020304" charset="0"/>
              </a:rPr>
              <a:t>(Takeoff,</a:t>
            </a:r>
            <a:r>
              <a:rPr sz="2800" spc="-110" dirty="0">
                <a:latin typeface="Times New Roman" panose="02020603050405020304" charset="0"/>
                <a:cs typeface="Times New Roman" panose="02020603050405020304" charset="0"/>
              </a:rPr>
              <a:t> </a:t>
            </a:r>
            <a:r>
              <a:rPr sz="2800" spc="-285" dirty="0">
                <a:latin typeface="Times New Roman" panose="02020603050405020304" charset="0"/>
                <a:cs typeface="Times New Roman" panose="02020603050405020304" charset="0"/>
              </a:rPr>
              <a:t>Land, </a:t>
            </a:r>
            <a:r>
              <a:rPr sz="2800" spc="-375" dirty="0">
                <a:latin typeface="Times New Roman" panose="02020603050405020304" charset="0"/>
                <a:cs typeface="Times New Roman" panose="02020603050405020304" charset="0"/>
              </a:rPr>
              <a:t>FIyTo)</a:t>
            </a:r>
            <a:r>
              <a:rPr sz="2800" spc="95" dirty="0">
                <a:latin typeface="Times New Roman" panose="02020603050405020304" charset="0"/>
                <a:cs typeface="Times New Roman" panose="02020603050405020304" charset="0"/>
              </a:rPr>
              <a:t> </a:t>
            </a:r>
            <a:r>
              <a:rPr sz="2800" spc="-35" dirty="0">
                <a:latin typeface="Times New Roman" panose="02020603050405020304" charset="0"/>
                <a:cs typeface="Times New Roman" panose="02020603050405020304" charset="0"/>
              </a:rPr>
              <a:t>to</a:t>
            </a:r>
            <a:r>
              <a:rPr sz="2800" spc="-380" dirty="0">
                <a:latin typeface="Times New Roman" panose="02020603050405020304" charset="0"/>
                <a:cs typeface="Times New Roman" panose="02020603050405020304" charset="0"/>
              </a:rPr>
              <a:t> </a:t>
            </a:r>
            <a:r>
              <a:rPr sz="2800" spc="-190" dirty="0">
                <a:latin typeface="Times New Roman" panose="02020603050405020304" charset="0"/>
                <a:cs typeface="Times New Roman" panose="02020603050405020304" charset="0"/>
              </a:rPr>
              <a:t>individual</a:t>
            </a:r>
            <a:r>
              <a:rPr sz="2800" spc="40" dirty="0">
                <a:latin typeface="Times New Roman" panose="02020603050405020304" charset="0"/>
                <a:cs typeface="Times New Roman" panose="02020603050405020304" charset="0"/>
              </a:rPr>
              <a:t> </a:t>
            </a:r>
            <a:r>
              <a:rPr sz="2800" spc="-70" dirty="0">
                <a:latin typeface="Times New Roman" panose="02020603050405020304" charset="0"/>
                <a:cs typeface="Times New Roman" panose="02020603050405020304" charset="0"/>
              </a:rPr>
              <a:t>drones.</a:t>
            </a:r>
            <a:endParaRPr sz="2800" spc="-70" dirty="0">
              <a:latin typeface="Times New Roman" panose="02020603050405020304" charset="0"/>
              <a:cs typeface="Times New Roman" panose="02020603050405020304" charset="0"/>
            </a:endParaRPr>
          </a:p>
        </p:txBody>
      </p:sp>
      <p:sp>
        <p:nvSpPr>
          <p:cNvPr id="9" name="object 9"/>
          <p:cNvSpPr txBox="1"/>
          <p:nvPr/>
        </p:nvSpPr>
        <p:spPr>
          <a:xfrm>
            <a:off x="1169670" y="6191250"/>
            <a:ext cx="3440430" cy="523875"/>
          </a:xfrm>
          <a:prstGeom prst="rect">
            <a:avLst/>
          </a:prstGeom>
        </p:spPr>
        <p:txBody>
          <a:bodyPr vert="horz" wrap="square" lIns="0" tIns="16510" rIns="0" bIns="0" rtlCol="0">
            <a:spAutoFit/>
          </a:bodyPr>
          <a:lstStyle/>
          <a:p>
            <a:pPr marL="12700">
              <a:lnSpc>
                <a:spcPct val="100000"/>
              </a:lnSpc>
              <a:spcBef>
                <a:spcPts val="130"/>
              </a:spcBef>
            </a:pPr>
            <a:r>
              <a:rPr sz="3300" dirty="0">
                <a:solidFill>
                  <a:srgbClr val="0A0A0A"/>
                </a:solidFill>
                <a:latin typeface="Times New Roman" panose="02020603050405020304" charset="0"/>
                <a:cs typeface="Times New Roman" panose="02020603050405020304" charset="0"/>
              </a:rPr>
              <a:t>Technology</a:t>
            </a:r>
            <a:r>
              <a:rPr sz="3300" spc="75" dirty="0">
                <a:solidFill>
                  <a:srgbClr val="0A0A0A"/>
                </a:solidFill>
                <a:latin typeface="Times New Roman" panose="02020603050405020304" charset="0"/>
                <a:cs typeface="Times New Roman" panose="02020603050405020304" charset="0"/>
              </a:rPr>
              <a:t> </a:t>
            </a:r>
            <a:r>
              <a:rPr sz="3300" spc="55" dirty="0">
                <a:solidFill>
                  <a:srgbClr val="0E0E0E"/>
                </a:solidFill>
                <a:latin typeface="Times New Roman" panose="02020603050405020304" charset="0"/>
                <a:cs typeface="Times New Roman" panose="02020603050405020304" charset="0"/>
              </a:rPr>
              <a:t>Stack</a:t>
            </a:r>
            <a:endParaRPr sz="3300">
              <a:latin typeface="Times New Roman" panose="02020603050405020304" charset="0"/>
              <a:cs typeface="Times New Roman" panose="02020603050405020304" charset="0"/>
            </a:endParaRPr>
          </a:p>
        </p:txBody>
      </p:sp>
      <p:sp>
        <p:nvSpPr>
          <p:cNvPr id="10" name="object 10"/>
          <p:cNvSpPr txBox="1"/>
          <p:nvPr/>
        </p:nvSpPr>
        <p:spPr>
          <a:xfrm>
            <a:off x="1805586" y="8464902"/>
            <a:ext cx="1901189" cy="384175"/>
          </a:xfrm>
          <a:prstGeom prst="rect">
            <a:avLst/>
          </a:prstGeom>
        </p:spPr>
        <p:txBody>
          <a:bodyPr vert="horz" wrap="square" lIns="0" tIns="15240" rIns="0" bIns="0" rtlCol="0">
            <a:spAutoFit/>
          </a:bodyPr>
          <a:lstStyle/>
          <a:p>
            <a:pPr marL="12700">
              <a:lnSpc>
                <a:spcPct val="100000"/>
              </a:lnSpc>
              <a:spcBef>
                <a:spcPts val="120"/>
              </a:spcBef>
            </a:pPr>
            <a:r>
              <a:rPr sz="2400" spc="-75" dirty="0">
                <a:latin typeface="Times New Roman" panose="02020603050405020304" charset="0"/>
                <a:cs typeface="Times New Roman" panose="02020603050405020304" charset="0"/>
              </a:rPr>
              <a:t>Language: </a:t>
            </a:r>
            <a:r>
              <a:rPr sz="2400" spc="-20" dirty="0">
                <a:solidFill>
                  <a:srgbClr val="050505"/>
                </a:solidFill>
                <a:latin typeface="Times New Roman" panose="02020603050405020304" charset="0"/>
                <a:cs typeface="Times New Roman" panose="02020603050405020304" charset="0"/>
              </a:rPr>
              <a:t>Rust</a:t>
            </a:r>
            <a:endParaRPr sz="2400" spc="-20" dirty="0">
              <a:solidFill>
                <a:srgbClr val="050505"/>
              </a:solidFill>
              <a:latin typeface="Times New Roman" panose="02020603050405020304" charset="0"/>
              <a:cs typeface="Times New Roman" panose="02020603050405020304" charset="0"/>
            </a:endParaRPr>
          </a:p>
        </p:txBody>
      </p:sp>
      <p:sp>
        <p:nvSpPr>
          <p:cNvPr id="11" name="object 11"/>
          <p:cNvSpPr txBox="1"/>
          <p:nvPr/>
        </p:nvSpPr>
        <p:spPr>
          <a:xfrm>
            <a:off x="5445125" y="8435975"/>
            <a:ext cx="3178175" cy="384175"/>
          </a:xfrm>
          <a:prstGeom prst="rect">
            <a:avLst/>
          </a:prstGeom>
        </p:spPr>
        <p:txBody>
          <a:bodyPr vert="horz" wrap="square" lIns="0" tIns="15240" rIns="0" bIns="0" rtlCol="0">
            <a:spAutoFit/>
          </a:bodyPr>
          <a:lstStyle/>
          <a:p>
            <a:pPr marL="12700">
              <a:lnSpc>
                <a:spcPct val="100000"/>
              </a:lnSpc>
              <a:spcBef>
                <a:spcPts val="120"/>
              </a:spcBef>
            </a:pPr>
            <a:r>
              <a:rPr sz="2400" spc="-75" dirty="0">
                <a:latin typeface="Times New Roman" panose="02020603050405020304" charset="0"/>
                <a:cs typeface="Times New Roman" panose="02020603050405020304" charset="0"/>
              </a:rPr>
              <a:t>Async</a:t>
            </a:r>
            <a:r>
              <a:rPr sz="2400" spc="-80" dirty="0">
                <a:latin typeface="Times New Roman" panose="02020603050405020304" charset="0"/>
                <a:cs typeface="Times New Roman" panose="02020603050405020304" charset="0"/>
              </a:rPr>
              <a:t> </a:t>
            </a:r>
            <a:r>
              <a:rPr sz="2400" spc="-50" dirty="0">
                <a:solidFill>
                  <a:srgbClr val="030303"/>
                </a:solidFill>
                <a:latin typeface="Times New Roman" panose="02020603050405020304" charset="0"/>
                <a:cs typeface="Times New Roman" panose="02020603050405020304" charset="0"/>
              </a:rPr>
              <a:t>Runtime:</a:t>
            </a:r>
            <a:r>
              <a:rPr sz="2400" spc="-85" dirty="0">
                <a:solidFill>
                  <a:srgbClr val="030303"/>
                </a:solidFill>
                <a:latin typeface="Times New Roman" panose="02020603050405020304" charset="0"/>
                <a:cs typeface="Times New Roman" panose="02020603050405020304" charset="0"/>
              </a:rPr>
              <a:t> </a:t>
            </a:r>
            <a:r>
              <a:rPr sz="2400" spc="-55" dirty="0">
                <a:latin typeface="Times New Roman" panose="02020603050405020304" charset="0"/>
                <a:cs typeface="Times New Roman" panose="02020603050405020304" charset="0"/>
              </a:rPr>
              <a:t>Tokio</a:t>
            </a:r>
            <a:endParaRPr sz="2400" spc="-55" dirty="0">
              <a:latin typeface="Times New Roman" panose="02020603050405020304" charset="0"/>
              <a:cs typeface="Times New Roman" panose="02020603050405020304" charset="0"/>
            </a:endParaRPr>
          </a:p>
        </p:txBody>
      </p:sp>
      <p:sp>
        <p:nvSpPr>
          <p:cNvPr id="12" name="object 12"/>
          <p:cNvSpPr txBox="1"/>
          <p:nvPr/>
        </p:nvSpPr>
        <p:spPr>
          <a:xfrm>
            <a:off x="9369425" y="8436610"/>
            <a:ext cx="2832100" cy="384175"/>
          </a:xfrm>
          <a:prstGeom prst="rect">
            <a:avLst/>
          </a:prstGeom>
        </p:spPr>
        <p:txBody>
          <a:bodyPr vert="horz" wrap="square" lIns="0" tIns="15240" rIns="0" bIns="0" rtlCol="0">
            <a:spAutoFit/>
          </a:bodyPr>
          <a:lstStyle/>
          <a:p>
            <a:pPr marL="12700">
              <a:lnSpc>
                <a:spcPct val="100000"/>
              </a:lnSpc>
              <a:spcBef>
                <a:spcPts val="120"/>
              </a:spcBef>
            </a:pPr>
            <a:r>
              <a:rPr sz="2400" spc="-160" dirty="0">
                <a:latin typeface="Times New Roman" panose="02020603050405020304" charset="0"/>
                <a:cs typeface="Times New Roman" panose="02020603050405020304" charset="0"/>
              </a:rPr>
              <a:t>Web</a:t>
            </a:r>
            <a:r>
              <a:rPr sz="2400" spc="-180" dirty="0">
                <a:latin typeface="Times New Roman" panose="02020603050405020304" charset="0"/>
                <a:cs typeface="Times New Roman" panose="02020603050405020304" charset="0"/>
              </a:rPr>
              <a:t> </a:t>
            </a:r>
            <a:r>
              <a:rPr sz="2400" spc="-75" dirty="0">
                <a:latin typeface="Times New Roman" panose="02020603050405020304" charset="0"/>
                <a:cs typeface="Times New Roman" panose="02020603050405020304" charset="0"/>
              </a:rPr>
              <a:t>Framework:</a:t>
            </a:r>
            <a:r>
              <a:rPr sz="2400" spc="-15" dirty="0">
                <a:latin typeface="Times New Roman" panose="02020603050405020304" charset="0"/>
                <a:cs typeface="Times New Roman" panose="02020603050405020304" charset="0"/>
              </a:rPr>
              <a:t> </a:t>
            </a:r>
            <a:r>
              <a:rPr sz="2400" spc="-50" dirty="0">
                <a:latin typeface="Times New Roman" panose="02020603050405020304" charset="0"/>
                <a:cs typeface="Times New Roman" panose="02020603050405020304" charset="0"/>
              </a:rPr>
              <a:t>Axum</a:t>
            </a:r>
            <a:endParaRPr sz="2400">
              <a:latin typeface="Times New Roman" panose="02020603050405020304" charset="0"/>
              <a:cs typeface="Times New Roman" panose="02020603050405020304" charset="0"/>
            </a:endParaRPr>
          </a:p>
        </p:txBody>
      </p:sp>
      <p:sp>
        <p:nvSpPr>
          <p:cNvPr id="13" name="object 13"/>
          <p:cNvSpPr txBox="1"/>
          <p:nvPr/>
        </p:nvSpPr>
        <p:spPr>
          <a:xfrm>
            <a:off x="13295960" y="8156927"/>
            <a:ext cx="2849245" cy="1002030"/>
          </a:xfrm>
          <a:prstGeom prst="rect">
            <a:avLst/>
          </a:prstGeom>
        </p:spPr>
        <p:txBody>
          <a:bodyPr vert="horz" wrap="square" lIns="0" tIns="40640" rIns="0" bIns="0" rtlCol="0">
            <a:spAutoFit/>
          </a:bodyPr>
          <a:lstStyle/>
          <a:p>
            <a:pPr marL="12700" marR="5080" indent="-6985" algn="ctr">
              <a:lnSpc>
                <a:spcPts val="2500"/>
              </a:lnSpc>
              <a:spcBef>
                <a:spcPts val="320"/>
              </a:spcBef>
            </a:pPr>
            <a:r>
              <a:rPr sz="2400" spc="-50" dirty="0">
                <a:latin typeface="Times New Roman" panose="02020603050405020304" charset="0"/>
                <a:cs typeface="Times New Roman" panose="02020603050405020304" charset="0"/>
              </a:rPr>
              <a:t>Frontend:</a:t>
            </a:r>
            <a:r>
              <a:rPr sz="2400" spc="-80" dirty="0">
                <a:latin typeface="Times New Roman" panose="02020603050405020304" charset="0"/>
                <a:cs typeface="Times New Roman" panose="02020603050405020304" charset="0"/>
              </a:rPr>
              <a:t> </a:t>
            </a:r>
            <a:r>
              <a:rPr sz="2400" spc="-10" dirty="0">
                <a:latin typeface="Times New Roman" panose="02020603050405020304" charset="0"/>
                <a:cs typeface="Times New Roman" panose="02020603050405020304" charset="0"/>
              </a:rPr>
              <a:t>Leaflet.js, </a:t>
            </a:r>
            <a:r>
              <a:rPr sz="2400" spc="-45" dirty="0">
                <a:latin typeface="Times New Roman" panose="02020603050405020304" charset="0"/>
                <a:cs typeface="Times New Roman" panose="02020603050405020304" charset="0"/>
              </a:rPr>
              <a:t>OpenStreetMap,</a:t>
            </a:r>
            <a:r>
              <a:rPr sz="2400" spc="-30" dirty="0">
                <a:latin typeface="Times New Roman" panose="02020603050405020304" charset="0"/>
                <a:cs typeface="Times New Roman" panose="02020603050405020304" charset="0"/>
              </a:rPr>
              <a:t> </a:t>
            </a:r>
            <a:r>
              <a:rPr sz="2400" spc="-80" dirty="0">
                <a:latin typeface="Times New Roman" panose="02020603050405020304" charset="0"/>
                <a:cs typeface="Times New Roman" panose="02020603050405020304" charset="0"/>
              </a:rPr>
              <a:t>Vanilla </a:t>
            </a:r>
            <a:r>
              <a:rPr sz="2400" spc="-10" dirty="0">
                <a:latin typeface="Times New Roman" panose="02020603050405020304" charset="0"/>
                <a:cs typeface="Times New Roman" panose="02020603050405020304" charset="0"/>
              </a:rPr>
              <a:t>JavaScript</a:t>
            </a:r>
            <a:endParaRPr sz="2400">
              <a:latin typeface="Times New Roman" panose="02020603050405020304" charset="0"/>
              <a:cs typeface="Times New Roman" panose="0202060305040502030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1" cstate="print"/>
          <a:stretch>
            <a:fillRect/>
          </a:stretch>
        </p:blipFill>
        <p:spPr>
          <a:xfrm>
            <a:off x="7724775" y="6719570"/>
            <a:ext cx="8928100" cy="2094230"/>
          </a:xfrm>
          <a:prstGeom prst="rect">
            <a:avLst/>
          </a:prstGeom>
        </p:spPr>
      </p:pic>
      <p:sp>
        <p:nvSpPr>
          <p:cNvPr id="3" name="object 3"/>
          <p:cNvSpPr/>
          <p:nvPr/>
        </p:nvSpPr>
        <p:spPr>
          <a:xfrm>
            <a:off x="6718300" y="6462183"/>
            <a:ext cx="1909445" cy="0"/>
          </a:xfrm>
          <a:custGeom>
            <a:avLst/>
            <a:gdLst/>
            <a:ahLst/>
            <a:cxnLst/>
            <a:rect l="l" t="t" r="r" b="b"/>
            <a:pathLst>
              <a:path w="1909445">
                <a:moveTo>
                  <a:pt x="0" y="0"/>
                </a:moveTo>
                <a:lnTo>
                  <a:pt x="1909233" y="0"/>
                </a:lnTo>
              </a:path>
            </a:pathLst>
          </a:custGeom>
          <a:ln w="4233">
            <a:solidFill>
              <a:srgbClr val="6B7783"/>
            </a:solidFill>
          </a:ln>
        </p:spPr>
        <p:txBody>
          <a:bodyPr wrap="square" lIns="0" tIns="0" rIns="0" bIns="0" rtlCol="0"/>
          <a:lstStyle/>
          <a:p/>
        </p:txBody>
      </p:sp>
      <p:sp>
        <p:nvSpPr>
          <p:cNvPr id="4" name="object 4"/>
          <p:cNvSpPr/>
          <p:nvPr/>
        </p:nvSpPr>
        <p:spPr>
          <a:xfrm>
            <a:off x="6832600" y="6220883"/>
            <a:ext cx="1668145" cy="0"/>
          </a:xfrm>
          <a:custGeom>
            <a:avLst/>
            <a:gdLst/>
            <a:ahLst/>
            <a:cxnLst/>
            <a:rect l="l" t="t" r="r" b="b"/>
            <a:pathLst>
              <a:path w="1668145">
                <a:moveTo>
                  <a:pt x="0" y="0"/>
                </a:moveTo>
                <a:lnTo>
                  <a:pt x="1667933" y="0"/>
                </a:lnTo>
              </a:path>
            </a:pathLst>
          </a:custGeom>
          <a:ln w="4233">
            <a:solidFill>
              <a:srgbClr val="6B7783"/>
            </a:solidFill>
          </a:ln>
        </p:spPr>
        <p:txBody>
          <a:bodyPr wrap="square" lIns="0" tIns="0" rIns="0" bIns="0" rtlCol="0"/>
          <a:lstStyle/>
          <a:p/>
        </p:txBody>
      </p:sp>
      <p:sp>
        <p:nvSpPr>
          <p:cNvPr id="5" name="object 5"/>
          <p:cNvSpPr/>
          <p:nvPr/>
        </p:nvSpPr>
        <p:spPr>
          <a:xfrm>
            <a:off x="7010400" y="5001683"/>
            <a:ext cx="385445" cy="0"/>
          </a:xfrm>
          <a:custGeom>
            <a:avLst/>
            <a:gdLst/>
            <a:ahLst/>
            <a:cxnLst/>
            <a:rect l="l" t="t" r="r" b="b"/>
            <a:pathLst>
              <a:path w="385445">
                <a:moveTo>
                  <a:pt x="0" y="0"/>
                </a:moveTo>
                <a:lnTo>
                  <a:pt x="385233" y="0"/>
                </a:lnTo>
              </a:path>
            </a:pathLst>
          </a:custGeom>
          <a:ln w="4233">
            <a:solidFill>
              <a:srgbClr val="6B7783"/>
            </a:solidFill>
          </a:ln>
        </p:spPr>
        <p:txBody>
          <a:bodyPr wrap="square" lIns="0" tIns="0" rIns="0" bIns="0" rtlCol="0"/>
          <a:lstStyle/>
          <a:p/>
        </p:txBody>
      </p:sp>
      <p:sp>
        <p:nvSpPr>
          <p:cNvPr id="6" name="object 6"/>
          <p:cNvSpPr/>
          <p:nvPr/>
        </p:nvSpPr>
        <p:spPr>
          <a:xfrm>
            <a:off x="7493000" y="5001683"/>
            <a:ext cx="817244" cy="0"/>
          </a:xfrm>
          <a:custGeom>
            <a:avLst/>
            <a:gdLst/>
            <a:ahLst/>
            <a:cxnLst/>
            <a:rect l="l" t="t" r="r" b="b"/>
            <a:pathLst>
              <a:path w="817245">
                <a:moveTo>
                  <a:pt x="0" y="0"/>
                </a:moveTo>
                <a:lnTo>
                  <a:pt x="817033" y="0"/>
                </a:lnTo>
              </a:path>
            </a:pathLst>
          </a:custGeom>
          <a:ln w="4233">
            <a:solidFill>
              <a:srgbClr val="6B7783"/>
            </a:solidFill>
          </a:ln>
        </p:spPr>
        <p:txBody>
          <a:bodyPr wrap="square" lIns="0" tIns="0" rIns="0" bIns="0" rtlCol="0"/>
          <a:lstStyle/>
          <a:p/>
        </p:txBody>
      </p:sp>
      <p:pic>
        <p:nvPicPr>
          <p:cNvPr id="7" name="object 7"/>
          <p:cNvPicPr/>
          <p:nvPr/>
        </p:nvPicPr>
        <p:blipFill>
          <a:blip r:embed="rId2" cstate="print"/>
          <a:stretch>
            <a:fillRect/>
          </a:stretch>
        </p:blipFill>
        <p:spPr>
          <a:xfrm>
            <a:off x="3810000" y="4641215"/>
            <a:ext cx="2057400" cy="241300"/>
          </a:xfrm>
          <a:prstGeom prst="rect">
            <a:avLst/>
          </a:prstGeom>
        </p:spPr>
      </p:pic>
      <p:pic>
        <p:nvPicPr>
          <p:cNvPr id="9" name="object 9"/>
          <p:cNvPicPr/>
          <p:nvPr/>
        </p:nvPicPr>
        <p:blipFill>
          <a:blip r:embed="rId3" cstate="print"/>
          <a:stretch>
            <a:fillRect/>
          </a:stretch>
        </p:blipFill>
        <p:spPr>
          <a:xfrm>
            <a:off x="13321030" y="2809240"/>
            <a:ext cx="596900" cy="368300"/>
          </a:xfrm>
          <a:prstGeom prst="rect">
            <a:avLst/>
          </a:prstGeom>
        </p:spPr>
      </p:pic>
      <p:sp>
        <p:nvSpPr>
          <p:cNvPr id="10" name="object 10"/>
          <p:cNvSpPr txBox="1">
            <a:spLocks noGrp="1"/>
          </p:cNvSpPr>
          <p:nvPr>
            <p:ph type="title"/>
          </p:nvPr>
        </p:nvSpPr>
        <p:spPr>
          <a:xfrm>
            <a:off x="831905" y="729544"/>
            <a:ext cx="14772640" cy="867410"/>
          </a:xfrm>
          <a:prstGeom prst="rect">
            <a:avLst/>
          </a:prstGeom>
        </p:spPr>
        <p:txBody>
          <a:bodyPr vert="horz" wrap="square" lIns="0" tIns="13335" rIns="0" bIns="0" rtlCol="0">
            <a:spAutoFit/>
          </a:bodyPr>
          <a:lstStyle/>
          <a:p>
            <a:pPr marL="12700">
              <a:lnSpc>
                <a:spcPct val="100000"/>
              </a:lnSpc>
              <a:spcBef>
                <a:spcPts val="105"/>
              </a:spcBef>
            </a:pPr>
            <a:r>
              <a:rPr sz="5550" spc="-70" dirty="0">
                <a:solidFill>
                  <a:srgbClr val="1C1C1C"/>
                </a:solidFill>
                <a:latin typeface="Times New Roman" panose="02020603050405020304" charset="0"/>
                <a:cs typeface="Times New Roman" panose="02020603050405020304" charset="0"/>
              </a:rPr>
              <a:t>System</a:t>
            </a:r>
            <a:r>
              <a:rPr sz="5550" spc="-10" dirty="0">
                <a:solidFill>
                  <a:srgbClr val="1C1C1C"/>
                </a:solidFill>
                <a:latin typeface="Times New Roman" panose="02020603050405020304" charset="0"/>
                <a:cs typeface="Times New Roman" panose="02020603050405020304" charset="0"/>
              </a:rPr>
              <a:t> </a:t>
            </a:r>
            <a:r>
              <a:rPr sz="5550" dirty="0">
                <a:latin typeface="Times New Roman" panose="02020603050405020304" charset="0"/>
                <a:cs typeface="Times New Roman" panose="02020603050405020304" charset="0"/>
              </a:rPr>
              <a:t>Architecture:</a:t>
            </a:r>
            <a:r>
              <a:rPr sz="5550" spc="505" dirty="0">
                <a:latin typeface="Times New Roman" panose="02020603050405020304" charset="0"/>
                <a:cs typeface="Times New Roman" panose="02020603050405020304" charset="0"/>
              </a:rPr>
              <a:t> </a:t>
            </a:r>
            <a:r>
              <a:rPr sz="5550" spc="-595" dirty="0">
                <a:solidFill>
                  <a:srgbClr val="1C1C1C"/>
                </a:solidFill>
                <a:latin typeface="Times New Roman" panose="02020603050405020304" charset="0"/>
                <a:cs typeface="Times New Roman" panose="02020603050405020304" charset="0"/>
              </a:rPr>
              <a:t>A</a:t>
            </a:r>
            <a:r>
              <a:rPr sz="5550" spc="-415" dirty="0">
                <a:solidFill>
                  <a:srgbClr val="1C1C1C"/>
                </a:solidFill>
                <a:latin typeface="Times New Roman" panose="02020603050405020304" charset="0"/>
                <a:cs typeface="Times New Roman" panose="02020603050405020304" charset="0"/>
              </a:rPr>
              <a:t> </a:t>
            </a:r>
            <a:r>
              <a:rPr sz="5550" spc="-40" dirty="0">
                <a:solidFill>
                  <a:srgbClr val="1A1A1A"/>
                </a:solidFill>
                <a:latin typeface="Times New Roman" panose="02020603050405020304" charset="0"/>
                <a:cs typeface="Times New Roman" panose="02020603050405020304" charset="0"/>
              </a:rPr>
              <a:t>Four-</a:t>
            </a:r>
            <a:r>
              <a:rPr sz="5550" spc="-45" dirty="0">
                <a:solidFill>
                  <a:srgbClr val="1A1A1A"/>
                </a:solidFill>
                <a:latin typeface="Times New Roman" panose="02020603050405020304" charset="0"/>
                <a:cs typeface="Times New Roman" panose="02020603050405020304" charset="0"/>
              </a:rPr>
              <a:t>Component</a:t>
            </a:r>
            <a:r>
              <a:rPr sz="5550" spc="-535" dirty="0">
                <a:solidFill>
                  <a:srgbClr val="1A1A1A"/>
                </a:solidFill>
                <a:latin typeface="Times New Roman" panose="02020603050405020304" charset="0"/>
                <a:cs typeface="Times New Roman" panose="02020603050405020304" charset="0"/>
              </a:rPr>
              <a:t> </a:t>
            </a:r>
            <a:r>
              <a:rPr sz="5550" spc="-90" dirty="0">
                <a:solidFill>
                  <a:srgbClr val="1A1A1A"/>
                </a:solidFill>
                <a:latin typeface="Times New Roman" panose="02020603050405020304" charset="0"/>
                <a:cs typeface="Times New Roman" panose="02020603050405020304" charset="0"/>
              </a:rPr>
              <a:t>Design</a:t>
            </a:r>
            <a:endParaRPr sz="5550">
              <a:latin typeface="Times New Roman" panose="02020603050405020304" charset="0"/>
              <a:cs typeface="Times New Roman" panose="02020603050405020304" charset="0"/>
            </a:endParaRPr>
          </a:p>
        </p:txBody>
      </p:sp>
      <p:sp>
        <p:nvSpPr>
          <p:cNvPr id="21" name="object 21"/>
          <p:cNvSpPr txBox="1">
            <a:spLocks noGrp="1"/>
          </p:cNvSpPr>
          <p:nvPr>
            <p:ph type="ftr" sz="quarter" idx="5"/>
          </p:nvPr>
        </p:nvSpPr>
        <p:spPr>
          <a:prstGeom prst="rect">
            <a:avLst/>
          </a:prstGeom>
        </p:spPr>
        <p:txBody>
          <a:bodyPr vert="horz" wrap="square" lIns="0" tIns="0" rIns="0" bIns="0" rtlCol="0">
            <a:spAutoFit/>
          </a:bodyPr>
          <a:lstStyle/>
          <a:p>
            <a:pPr marL="12700">
              <a:lnSpc>
                <a:spcPts val="1555"/>
              </a:lnSpc>
            </a:pPr>
            <a:r>
              <a:rPr dirty="0"/>
              <a:t>G</a:t>
            </a:r>
            <a:r>
              <a:rPr spc="490" dirty="0"/>
              <a:t> </a:t>
            </a:r>
            <a:r>
              <a:rPr spc="-10" dirty="0"/>
              <a:t>NotebookLM</a:t>
            </a:r>
            <a:endParaRPr spc="-10" dirty="0"/>
          </a:p>
        </p:txBody>
      </p:sp>
      <p:sp>
        <p:nvSpPr>
          <p:cNvPr id="12" name="object 12"/>
          <p:cNvSpPr txBox="1"/>
          <p:nvPr/>
        </p:nvSpPr>
        <p:spPr>
          <a:xfrm>
            <a:off x="1132205" y="3177540"/>
            <a:ext cx="2216785" cy="1888490"/>
          </a:xfrm>
          <a:prstGeom prst="rect">
            <a:avLst/>
          </a:prstGeom>
        </p:spPr>
        <p:txBody>
          <a:bodyPr vert="horz" wrap="square" lIns="0" tIns="41910" rIns="0" bIns="0" rtlCol="0">
            <a:spAutoFit/>
          </a:bodyPr>
          <a:lstStyle/>
          <a:p>
            <a:pPr marL="12700" marR="5080" indent="10795">
              <a:lnSpc>
                <a:spcPts val="2400"/>
              </a:lnSpc>
              <a:spcBef>
                <a:spcPts val="330"/>
              </a:spcBef>
            </a:pPr>
            <a:r>
              <a:rPr sz="2400" spc="-290" dirty="0">
                <a:solidFill>
                  <a:srgbClr val="050505"/>
                </a:solidFill>
                <a:latin typeface="Times New Roman" panose="02020603050405020304" charset="0"/>
                <a:cs typeface="Times New Roman" panose="02020603050405020304" charset="0"/>
              </a:rPr>
              <a:t>A</a:t>
            </a:r>
            <a:r>
              <a:rPr sz="2400" spc="45" dirty="0">
                <a:solidFill>
                  <a:srgbClr val="050505"/>
                </a:solidFill>
                <a:latin typeface="Times New Roman" panose="02020603050405020304" charset="0"/>
                <a:cs typeface="Times New Roman" panose="02020603050405020304" charset="0"/>
              </a:rPr>
              <a:t> </a:t>
            </a:r>
            <a:r>
              <a:rPr sz="2400" spc="-165" dirty="0">
                <a:latin typeface="Times New Roman" panose="02020603050405020304" charset="0"/>
                <a:cs typeface="Times New Roman" panose="02020603050405020304" charset="0"/>
              </a:rPr>
              <a:t>web-</a:t>
            </a:r>
            <a:r>
              <a:rPr sz="2400" spc="-160" dirty="0">
                <a:latin typeface="Times New Roman" panose="02020603050405020304" charset="0"/>
                <a:cs typeface="Times New Roman" panose="02020603050405020304" charset="0"/>
              </a:rPr>
              <a:t>based</a:t>
            </a:r>
            <a:r>
              <a:rPr sz="2400" spc="30" dirty="0">
                <a:latin typeface="Times New Roman" panose="02020603050405020304" charset="0"/>
                <a:cs typeface="Times New Roman" panose="02020603050405020304" charset="0"/>
              </a:rPr>
              <a:t> </a:t>
            </a:r>
            <a:r>
              <a:rPr sz="2400" spc="-10" dirty="0">
                <a:latin typeface="Times New Roman" panose="02020603050405020304" charset="0"/>
                <a:cs typeface="Times New Roman" panose="02020603050405020304" charset="0"/>
              </a:rPr>
              <a:t>interface </a:t>
            </a:r>
            <a:r>
              <a:rPr sz="2400" spc="-30" dirty="0">
                <a:latin typeface="Times New Roman" panose="02020603050405020304" charset="0"/>
                <a:cs typeface="Times New Roman" panose="02020603050405020304" charset="0"/>
              </a:rPr>
              <a:t>for</a:t>
            </a:r>
            <a:r>
              <a:rPr sz="2400" spc="-5" dirty="0">
                <a:latin typeface="Times New Roman" panose="02020603050405020304" charset="0"/>
                <a:cs typeface="Times New Roman" panose="02020603050405020304" charset="0"/>
              </a:rPr>
              <a:t> </a:t>
            </a:r>
            <a:r>
              <a:rPr sz="2400" spc="-120" dirty="0">
                <a:latin typeface="Times New Roman" panose="02020603050405020304" charset="0"/>
                <a:cs typeface="Times New Roman" panose="02020603050405020304" charset="0"/>
              </a:rPr>
              <a:t>operators</a:t>
            </a:r>
            <a:r>
              <a:rPr sz="2400" spc="-50" dirty="0">
                <a:latin typeface="Times New Roman" panose="02020603050405020304" charset="0"/>
                <a:cs typeface="Times New Roman" panose="02020603050405020304" charset="0"/>
              </a:rPr>
              <a:t> </a:t>
            </a:r>
            <a:r>
              <a:rPr sz="2400" spc="-30" dirty="0">
                <a:latin typeface="Times New Roman" panose="02020603050405020304" charset="0"/>
                <a:cs typeface="Times New Roman" panose="02020603050405020304" charset="0"/>
              </a:rPr>
              <a:t>to</a:t>
            </a:r>
            <a:r>
              <a:rPr sz="2400" spc="-180" dirty="0">
                <a:latin typeface="Times New Roman" panose="02020603050405020304" charset="0"/>
                <a:cs typeface="Times New Roman" panose="02020603050405020304" charset="0"/>
              </a:rPr>
              <a:t> </a:t>
            </a:r>
            <a:r>
              <a:rPr sz="2400" spc="-55" dirty="0">
                <a:latin typeface="Times New Roman" panose="02020603050405020304" charset="0"/>
                <a:cs typeface="Times New Roman" panose="02020603050405020304" charset="0"/>
              </a:rPr>
              <a:t>monitor </a:t>
            </a:r>
            <a:r>
              <a:rPr sz="2400" spc="-95" dirty="0">
                <a:latin typeface="Times New Roman" panose="02020603050405020304" charset="0"/>
                <a:cs typeface="Times New Roman" panose="02020603050405020304" charset="0"/>
              </a:rPr>
              <a:t>the</a:t>
            </a:r>
            <a:r>
              <a:rPr sz="2400" spc="-135" dirty="0">
                <a:latin typeface="Times New Roman" panose="02020603050405020304" charset="0"/>
                <a:cs typeface="Times New Roman" panose="02020603050405020304" charset="0"/>
              </a:rPr>
              <a:t> </a:t>
            </a:r>
            <a:r>
              <a:rPr sz="2400" spc="-65" dirty="0">
                <a:latin typeface="Times New Roman" panose="02020603050405020304" charset="0"/>
                <a:cs typeface="Times New Roman" panose="02020603050405020304" charset="0"/>
              </a:rPr>
              <a:t>fleet</a:t>
            </a:r>
            <a:r>
              <a:rPr sz="2400" spc="-25" dirty="0">
                <a:latin typeface="Times New Roman" panose="02020603050405020304" charset="0"/>
                <a:cs typeface="Times New Roman" panose="02020603050405020304" charset="0"/>
              </a:rPr>
              <a:t> </a:t>
            </a:r>
            <a:r>
              <a:rPr sz="2400" spc="-145" dirty="0">
                <a:latin typeface="Times New Roman" panose="02020603050405020304" charset="0"/>
                <a:cs typeface="Times New Roman" panose="02020603050405020304" charset="0"/>
              </a:rPr>
              <a:t>and</a:t>
            </a:r>
            <a:r>
              <a:rPr sz="2400" spc="-95" dirty="0">
                <a:latin typeface="Times New Roman" panose="02020603050405020304" charset="0"/>
                <a:cs typeface="Times New Roman" panose="02020603050405020304" charset="0"/>
              </a:rPr>
              <a:t> </a:t>
            </a:r>
            <a:r>
              <a:rPr sz="2400" spc="-10" dirty="0">
                <a:latin typeface="Times New Roman" panose="02020603050405020304" charset="0"/>
                <a:cs typeface="Times New Roman" panose="02020603050405020304" charset="0"/>
              </a:rPr>
              <a:t>issue </a:t>
            </a:r>
            <a:r>
              <a:rPr sz="2400" spc="-20" dirty="0">
                <a:latin typeface="Times New Roman" panose="02020603050405020304" charset="0"/>
                <a:cs typeface="Times New Roman" panose="02020603050405020304" charset="0"/>
              </a:rPr>
              <a:t>commands.</a:t>
            </a:r>
            <a:endParaRPr sz="2400">
              <a:latin typeface="Times New Roman" panose="02020603050405020304" charset="0"/>
              <a:cs typeface="Times New Roman" panose="02020603050405020304" charset="0"/>
            </a:endParaRPr>
          </a:p>
        </p:txBody>
      </p:sp>
      <p:sp>
        <p:nvSpPr>
          <p:cNvPr id="13" name="object 13"/>
          <p:cNvSpPr txBox="1"/>
          <p:nvPr/>
        </p:nvSpPr>
        <p:spPr>
          <a:xfrm>
            <a:off x="6832600" y="2808605"/>
            <a:ext cx="3843020" cy="1704340"/>
          </a:xfrm>
          <a:prstGeom prst="rect">
            <a:avLst/>
          </a:prstGeom>
        </p:spPr>
        <p:txBody>
          <a:bodyPr vert="horz" wrap="square" lIns="0" tIns="104139" rIns="0" bIns="0" rtlCol="0">
            <a:spAutoFit/>
          </a:bodyPr>
          <a:lstStyle/>
          <a:p>
            <a:pPr marL="17780">
              <a:lnSpc>
                <a:spcPct val="100000"/>
              </a:lnSpc>
              <a:spcBef>
                <a:spcPts val="820"/>
              </a:spcBef>
            </a:pPr>
            <a:r>
              <a:rPr sz="2800" spc="-70" dirty="0">
                <a:latin typeface="Times New Roman" panose="02020603050405020304" charset="0"/>
                <a:cs typeface="Times New Roman" panose="02020603050405020304" charset="0"/>
              </a:rPr>
              <a:t>Command </a:t>
            </a:r>
            <a:r>
              <a:rPr sz="2800" spc="-10" dirty="0">
                <a:latin typeface="Times New Roman" panose="02020603050405020304" charset="0"/>
                <a:cs typeface="Times New Roman" panose="02020603050405020304" charset="0"/>
              </a:rPr>
              <a:t>Server</a:t>
            </a:r>
            <a:endParaRPr sz="2800">
              <a:latin typeface="Times New Roman" panose="02020603050405020304" charset="0"/>
              <a:cs typeface="Times New Roman" panose="02020603050405020304" charset="0"/>
            </a:endParaRPr>
          </a:p>
          <a:p>
            <a:pPr marL="12700" marR="5080" indent="3175">
              <a:lnSpc>
                <a:spcPct val="98000"/>
              </a:lnSpc>
              <a:spcBef>
                <a:spcPts val="665"/>
              </a:spcBef>
            </a:pPr>
            <a:r>
              <a:rPr sz="2400" spc="-200" dirty="0">
                <a:solidFill>
                  <a:srgbClr val="050505"/>
                </a:solidFill>
                <a:latin typeface="Times New Roman" panose="02020603050405020304" charset="0"/>
                <a:cs typeface="Times New Roman" panose="02020603050405020304" charset="0"/>
              </a:rPr>
              <a:t>The</a:t>
            </a:r>
            <a:r>
              <a:rPr sz="2400" spc="-75" dirty="0">
                <a:solidFill>
                  <a:srgbClr val="050505"/>
                </a:solidFill>
                <a:latin typeface="Times New Roman" panose="02020603050405020304" charset="0"/>
                <a:cs typeface="Times New Roman" panose="02020603050405020304" charset="0"/>
              </a:rPr>
              <a:t> </a:t>
            </a:r>
            <a:r>
              <a:rPr sz="2400" spc="-135" dirty="0">
                <a:latin typeface="Times New Roman" panose="02020603050405020304" charset="0"/>
                <a:cs typeface="Times New Roman" panose="02020603050405020304" charset="0"/>
              </a:rPr>
              <a:t>central</a:t>
            </a:r>
            <a:r>
              <a:rPr sz="2400" spc="-40" dirty="0">
                <a:latin typeface="Times New Roman" panose="02020603050405020304" charset="0"/>
                <a:cs typeface="Times New Roman" panose="02020603050405020304" charset="0"/>
              </a:rPr>
              <a:t> </a:t>
            </a:r>
            <a:r>
              <a:rPr sz="2400" spc="-170" dirty="0">
                <a:latin typeface="Times New Roman" panose="02020603050405020304" charset="0"/>
                <a:cs typeface="Times New Roman" panose="02020603050405020304" charset="0"/>
              </a:rPr>
              <a:t>hub</a:t>
            </a:r>
            <a:r>
              <a:rPr sz="2400" spc="5" dirty="0">
                <a:latin typeface="Times New Roman" panose="02020603050405020304" charset="0"/>
                <a:cs typeface="Times New Roman" panose="02020603050405020304" charset="0"/>
              </a:rPr>
              <a:t> </a:t>
            </a:r>
            <a:r>
              <a:rPr sz="2400" spc="-95" dirty="0">
                <a:latin typeface="Times New Roman" panose="02020603050405020304" charset="0"/>
                <a:cs typeface="Times New Roman" panose="02020603050405020304" charset="0"/>
              </a:rPr>
              <a:t>that</a:t>
            </a:r>
            <a:r>
              <a:rPr sz="2400" spc="-55" dirty="0">
                <a:latin typeface="Times New Roman" panose="02020603050405020304" charset="0"/>
                <a:cs typeface="Times New Roman" panose="02020603050405020304" charset="0"/>
              </a:rPr>
              <a:t> </a:t>
            </a:r>
            <a:r>
              <a:rPr sz="2400" spc="-175" dirty="0">
                <a:latin typeface="Times New Roman" panose="02020603050405020304" charset="0"/>
                <a:cs typeface="Times New Roman" panose="02020603050405020304" charset="0"/>
              </a:rPr>
              <a:t>manages</a:t>
            </a:r>
            <a:r>
              <a:rPr sz="2400" spc="50" dirty="0">
                <a:latin typeface="Times New Roman" panose="02020603050405020304" charset="0"/>
                <a:cs typeface="Times New Roman" panose="02020603050405020304" charset="0"/>
              </a:rPr>
              <a:t> </a:t>
            </a:r>
            <a:r>
              <a:rPr sz="2400" spc="-80" dirty="0">
                <a:latin typeface="Times New Roman" panose="02020603050405020304" charset="0"/>
                <a:cs typeface="Times New Roman" panose="02020603050405020304" charset="0"/>
              </a:rPr>
              <a:t>state, </a:t>
            </a:r>
            <a:r>
              <a:rPr sz="2400" spc="-55" dirty="0">
                <a:latin typeface="Times New Roman" panose="02020603050405020304" charset="0"/>
                <a:cs typeface="Times New Roman" panose="02020603050405020304" charset="0"/>
              </a:rPr>
              <a:t>handles</a:t>
            </a:r>
            <a:r>
              <a:rPr sz="2400" spc="-10" dirty="0">
                <a:latin typeface="Times New Roman" panose="02020603050405020304" charset="0"/>
                <a:cs typeface="Times New Roman" panose="02020603050405020304" charset="0"/>
              </a:rPr>
              <a:t> </a:t>
            </a:r>
            <a:r>
              <a:rPr sz="2400" spc="-85" dirty="0">
                <a:latin typeface="Times New Roman" panose="02020603050405020304" charset="0"/>
                <a:cs typeface="Times New Roman" panose="02020603050405020304" charset="0"/>
              </a:rPr>
              <a:t>drone</a:t>
            </a:r>
            <a:r>
              <a:rPr sz="2400" spc="-65" dirty="0">
                <a:latin typeface="Times New Roman" panose="02020603050405020304" charset="0"/>
                <a:cs typeface="Times New Roman" panose="02020603050405020304" charset="0"/>
              </a:rPr>
              <a:t> </a:t>
            </a:r>
            <a:r>
              <a:rPr sz="2400" spc="-45" dirty="0">
                <a:latin typeface="Times New Roman" panose="02020603050405020304" charset="0"/>
                <a:cs typeface="Times New Roman" panose="02020603050405020304" charset="0"/>
              </a:rPr>
              <a:t>connections,</a:t>
            </a:r>
            <a:r>
              <a:rPr sz="2400" spc="-40" dirty="0">
                <a:latin typeface="Times New Roman" panose="02020603050405020304" charset="0"/>
                <a:cs typeface="Times New Roman" panose="02020603050405020304" charset="0"/>
              </a:rPr>
              <a:t> </a:t>
            </a:r>
            <a:r>
              <a:rPr sz="2400" spc="-25" dirty="0">
                <a:latin typeface="Times New Roman" panose="02020603050405020304" charset="0"/>
                <a:cs typeface="Times New Roman" panose="02020603050405020304" charset="0"/>
              </a:rPr>
              <a:t>and </a:t>
            </a:r>
            <a:r>
              <a:rPr sz="2400" spc="-130" dirty="0">
                <a:latin typeface="Times New Roman" panose="02020603050405020304" charset="0"/>
                <a:cs typeface="Times New Roman" panose="02020603050405020304" charset="0"/>
              </a:rPr>
              <a:t>exposes</a:t>
            </a:r>
            <a:r>
              <a:rPr sz="2400" spc="-20" dirty="0">
                <a:latin typeface="Times New Roman" panose="02020603050405020304" charset="0"/>
                <a:cs typeface="Times New Roman" panose="02020603050405020304" charset="0"/>
              </a:rPr>
              <a:t> </a:t>
            </a:r>
            <a:r>
              <a:rPr sz="2400" spc="-180" dirty="0">
                <a:latin typeface="Times New Roman" panose="02020603050405020304" charset="0"/>
                <a:cs typeface="Times New Roman" panose="02020603050405020304" charset="0"/>
              </a:rPr>
              <a:t>a</a:t>
            </a:r>
            <a:r>
              <a:rPr sz="2400" spc="-135" dirty="0">
                <a:latin typeface="Times New Roman" panose="02020603050405020304" charset="0"/>
                <a:cs typeface="Times New Roman" panose="02020603050405020304" charset="0"/>
              </a:rPr>
              <a:t> </a:t>
            </a:r>
            <a:r>
              <a:rPr sz="2400" spc="-55" dirty="0">
                <a:latin typeface="Times New Roman" panose="02020603050405020304" charset="0"/>
                <a:cs typeface="Times New Roman" panose="02020603050405020304" charset="0"/>
              </a:rPr>
              <a:t>control </a:t>
            </a:r>
            <a:r>
              <a:rPr sz="2400" spc="-20" dirty="0">
                <a:latin typeface="Times New Roman" panose="02020603050405020304" charset="0"/>
                <a:cs typeface="Times New Roman" panose="02020603050405020304" charset="0"/>
              </a:rPr>
              <a:t>API.</a:t>
            </a:r>
            <a:endParaRPr sz="2400">
              <a:latin typeface="Times New Roman" panose="02020603050405020304" charset="0"/>
              <a:cs typeface="Times New Roman" panose="02020603050405020304" charset="0"/>
            </a:endParaRPr>
          </a:p>
        </p:txBody>
      </p:sp>
      <p:sp>
        <p:nvSpPr>
          <p:cNvPr id="14" name="object 14"/>
          <p:cNvSpPr txBox="1"/>
          <p:nvPr/>
        </p:nvSpPr>
        <p:spPr>
          <a:xfrm>
            <a:off x="3706495" y="3646805"/>
            <a:ext cx="2161540" cy="657225"/>
          </a:xfrm>
          <a:prstGeom prst="rect">
            <a:avLst/>
          </a:prstGeom>
        </p:spPr>
        <p:txBody>
          <a:bodyPr vert="horz" wrap="square" lIns="0" tIns="15240" rIns="0" bIns="0" rtlCol="0">
            <a:spAutoFit/>
          </a:bodyPr>
          <a:lstStyle/>
          <a:p>
            <a:pPr algn="ctr">
              <a:lnSpc>
                <a:spcPts val="2595"/>
              </a:lnSpc>
              <a:spcBef>
                <a:spcPts val="120"/>
              </a:spcBef>
            </a:pPr>
            <a:r>
              <a:rPr sz="2400" spc="-254" dirty="0">
                <a:latin typeface="Times New Roman" panose="02020603050405020304" charset="0"/>
                <a:cs typeface="Times New Roman" panose="02020603050405020304" charset="0"/>
              </a:rPr>
              <a:t>HTTP</a:t>
            </a:r>
            <a:r>
              <a:rPr sz="2400" spc="5" dirty="0">
                <a:latin typeface="Times New Roman" panose="02020603050405020304" charset="0"/>
                <a:cs typeface="Times New Roman" panose="02020603050405020304" charset="0"/>
              </a:rPr>
              <a:t> </a:t>
            </a:r>
            <a:r>
              <a:rPr sz="2400" spc="-365" dirty="0">
                <a:latin typeface="Times New Roman" panose="02020603050405020304" charset="0"/>
                <a:cs typeface="Times New Roman" panose="02020603050405020304" charset="0"/>
              </a:rPr>
              <a:t>REST</a:t>
            </a:r>
            <a:endParaRPr sz="2400">
              <a:latin typeface="Times New Roman" panose="02020603050405020304" charset="0"/>
              <a:cs typeface="Times New Roman" panose="02020603050405020304" charset="0"/>
            </a:endParaRPr>
          </a:p>
          <a:p>
            <a:pPr marL="10160" algn="ctr">
              <a:lnSpc>
                <a:spcPts val="2415"/>
              </a:lnSpc>
            </a:pPr>
            <a:r>
              <a:rPr sz="2400" spc="-25" dirty="0">
                <a:latin typeface="Times New Roman" panose="02020603050405020304" charset="0"/>
                <a:cs typeface="Times New Roman" panose="02020603050405020304" charset="0"/>
              </a:rPr>
              <a:t>API</a:t>
            </a:r>
            <a:endParaRPr sz="2400">
              <a:latin typeface="Times New Roman" panose="02020603050405020304" charset="0"/>
              <a:cs typeface="Times New Roman" panose="02020603050405020304" charset="0"/>
            </a:endParaRPr>
          </a:p>
        </p:txBody>
      </p:sp>
      <p:sp>
        <p:nvSpPr>
          <p:cNvPr id="15" name="object 15"/>
          <p:cNvSpPr txBox="1"/>
          <p:nvPr/>
        </p:nvSpPr>
        <p:spPr>
          <a:xfrm>
            <a:off x="3983355" y="5233670"/>
            <a:ext cx="1884045" cy="692785"/>
          </a:xfrm>
          <a:prstGeom prst="rect">
            <a:avLst/>
          </a:prstGeom>
        </p:spPr>
        <p:txBody>
          <a:bodyPr vert="horz" wrap="square" lIns="0" tIns="77470" rIns="0" bIns="0" rtlCol="0">
            <a:spAutoFit/>
          </a:bodyPr>
          <a:lstStyle/>
          <a:p>
            <a:pPr marL="12700" marR="5080" indent="283845">
              <a:lnSpc>
                <a:spcPts val="2400"/>
              </a:lnSpc>
              <a:spcBef>
                <a:spcPts val="610"/>
              </a:spcBef>
            </a:pPr>
            <a:r>
              <a:rPr sz="2400" spc="-200" dirty="0">
                <a:latin typeface="Times New Roman" panose="02020603050405020304" charset="0"/>
                <a:cs typeface="Times New Roman" panose="02020603050405020304" charset="0"/>
              </a:rPr>
              <a:t>Static</a:t>
            </a:r>
            <a:r>
              <a:rPr sz="2400" spc="-60" dirty="0">
                <a:latin typeface="Times New Roman" panose="02020603050405020304" charset="0"/>
                <a:cs typeface="Times New Roman" panose="02020603050405020304" charset="0"/>
              </a:rPr>
              <a:t> </a:t>
            </a:r>
            <a:r>
              <a:rPr sz="2400" spc="-20" dirty="0">
                <a:latin typeface="Times New Roman" panose="02020603050405020304" charset="0"/>
                <a:cs typeface="Times New Roman" panose="02020603050405020304" charset="0"/>
              </a:rPr>
              <a:t>Files </a:t>
            </a:r>
            <a:r>
              <a:rPr sz="2400" spc="-285" dirty="0">
                <a:latin typeface="Times New Roman" panose="02020603050405020304" charset="0"/>
                <a:cs typeface="Times New Roman" panose="02020603050405020304" charset="0"/>
              </a:rPr>
              <a:t>(HTMUJS/CSS)</a:t>
            </a:r>
            <a:endParaRPr sz="2400">
              <a:latin typeface="Times New Roman" panose="02020603050405020304" charset="0"/>
              <a:cs typeface="Times New Roman" panose="02020603050405020304" charset="0"/>
            </a:endParaRPr>
          </a:p>
        </p:txBody>
      </p:sp>
      <p:sp>
        <p:nvSpPr>
          <p:cNvPr id="16" name="object 16"/>
          <p:cNvSpPr txBox="1"/>
          <p:nvPr/>
        </p:nvSpPr>
        <p:spPr>
          <a:xfrm>
            <a:off x="6938645" y="5071110"/>
            <a:ext cx="1435735" cy="977900"/>
          </a:xfrm>
          <a:prstGeom prst="rect">
            <a:avLst/>
          </a:prstGeom>
        </p:spPr>
        <p:txBody>
          <a:bodyPr vert="horz" wrap="square" lIns="0" tIns="11430" rIns="0" bIns="0" rtlCol="0">
            <a:spAutoFit/>
          </a:bodyPr>
          <a:lstStyle/>
          <a:p>
            <a:pPr marL="11430" algn="ctr">
              <a:lnSpc>
                <a:spcPts val="2705"/>
              </a:lnSpc>
              <a:spcBef>
                <a:spcPts val="90"/>
              </a:spcBef>
            </a:pPr>
            <a:r>
              <a:rPr sz="2400" spc="-305" dirty="0">
                <a:latin typeface="Times New Roman" panose="02020603050405020304" charset="0"/>
                <a:cs typeface="Times New Roman" panose="02020603050405020304" charset="0"/>
              </a:rPr>
              <a:t>HTTP</a:t>
            </a:r>
            <a:r>
              <a:rPr sz="2400" dirty="0">
                <a:latin typeface="Times New Roman" panose="02020603050405020304" charset="0"/>
                <a:cs typeface="Times New Roman" panose="02020603050405020304" charset="0"/>
              </a:rPr>
              <a:t> </a:t>
            </a:r>
            <a:r>
              <a:rPr sz="2400" spc="-280" dirty="0">
                <a:latin typeface="Times New Roman" panose="02020603050405020304" charset="0"/>
                <a:cs typeface="Times New Roman" panose="02020603050405020304" charset="0"/>
              </a:rPr>
              <a:t>API</a:t>
            </a:r>
            <a:endParaRPr sz="2400">
              <a:latin typeface="Times New Roman" panose="02020603050405020304" charset="0"/>
              <a:cs typeface="Times New Roman" panose="02020603050405020304" charset="0"/>
            </a:endParaRPr>
          </a:p>
          <a:p>
            <a:pPr marL="4445" algn="ctr">
              <a:lnSpc>
                <a:spcPts val="2300"/>
              </a:lnSpc>
            </a:pPr>
            <a:r>
              <a:rPr sz="2400" spc="-10" dirty="0">
                <a:latin typeface="Times New Roman" panose="02020603050405020304" charset="0"/>
                <a:cs typeface="Times New Roman" panose="02020603050405020304" charset="0"/>
              </a:rPr>
              <a:t>Sever</a:t>
            </a:r>
            <a:endParaRPr sz="2400">
              <a:latin typeface="Times New Roman" panose="02020603050405020304" charset="0"/>
              <a:cs typeface="Times New Roman" panose="02020603050405020304" charset="0"/>
            </a:endParaRPr>
          </a:p>
          <a:p>
            <a:pPr algn="ctr">
              <a:lnSpc>
                <a:spcPts val="2535"/>
              </a:lnSpc>
            </a:pPr>
            <a:r>
              <a:rPr sz="2400" spc="-145" dirty="0">
                <a:latin typeface="Times New Roman" panose="02020603050405020304" charset="0"/>
                <a:cs typeface="Times New Roman" panose="02020603050405020304" charset="0"/>
              </a:rPr>
              <a:t>(Port</a:t>
            </a:r>
            <a:r>
              <a:rPr sz="2400" spc="30" dirty="0">
                <a:latin typeface="Times New Roman" panose="02020603050405020304" charset="0"/>
                <a:cs typeface="Times New Roman" panose="02020603050405020304" charset="0"/>
              </a:rPr>
              <a:t> </a:t>
            </a:r>
            <a:r>
              <a:rPr sz="2400" spc="-105" dirty="0">
                <a:latin typeface="Times New Roman" panose="02020603050405020304" charset="0"/>
                <a:cs typeface="Times New Roman" panose="02020603050405020304" charset="0"/>
              </a:rPr>
              <a:t>3000)</a:t>
            </a:r>
            <a:endParaRPr sz="2400">
              <a:latin typeface="Times New Roman" panose="02020603050405020304" charset="0"/>
              <a:cs typeface="Times New Roman" panose="02020603050405020304" charset="0"/>
            </a:endParaRPr>
          </a:p>
        </p:txBody>
      </p:sp>
      <p:sp>
        <p:nvSpPr>
          <p:cNvPr id="17" name="object 17"/>
          <p:cNvSpPr txBox="1"/>
          <p:nvPr/>
        </p:nvSpPr>
        <p:spPr>
          <a:xfrm>
            <a:off x="9139078" y="5301897"/>
            <a:ext cx="1253490" cy="654685"/>
          </a:xfrm>
          <a:prstGeom prst="rect">
            <a:avLst/>
          </a:prstGeom>
        </p:spPr>
        <p:txBody>
          <a:bodyPr vert="horz" wrap="square" lIns="0" tIns="12700" rIns="0" bIns="0" rtlCol="0">
            <a:spAutoFit/>
          </a:bodyPr>
          <a:lstStyle/>
          <a:p>
            <a:pPr marL="23495">
              <a:lnSpc>
                <a:spcPts val="2415"/>
              </a:lnSpc>
              <a:spcBef>
                <a:spcPts val="100"/>
              </a:spcBef>
            </a:pPr>
            <a:r>
              <a:rPr sz="2400" spc="-265" dirty="0">
                <a:latin typeface="Times New Roman" panose="02020603050405020304" charset="0"/>
                <a:cs typeface="Times New Roman" panose="02020603050405020304" charset="0"/>
              </a:rPr>
              <a:t>TCP</a:t>
            </a:r>
            <a:r>
              <a:rPr sz="2400" spc="-65" dirty="0">
                <a:latin typeface="Times New Roman" panose="02020603050405020304" charset="0"/>
                <a:cs typeface="Times New Roman" panose="02020603050405020304" charset="0"/>
              </a:rPr>
              <a:t> </a:t>
            </a:r>
            <a:r>
              <a:rPr sz="2400" spc="-130" dirty="0">
                <a:latin typeface="Times New Roman" panose="02020603050405020304" charset="0"/>
                <a:cs typeface="Times New Roman" panose="02020603050405020304" charset="0"/>
              </a:rPr>
              <a:t>Server</a:t>
            </a:r>
            <a:endParaRPr sz="2400">
              <a:latin typeface="Times New Roman" panose="02020603050405020304" charset="0"/>
              <a:cs typeface="Times New Roman" panose="02020603050405020304" charset="0"/>
            </a:endParaRPr>
          </a:p>
          <a:p>
            <a:pPr marL="12700">
              <a:lnSpc>
                <a:spcPts val="2595"/>
              </a:lnSpc>
            </a:pPr>
            <a:r>
              <a:rPr sz="2400" spc="-190" dirty="0">
                <a:latin typeface="Times New Roman" panose="02020603050405020304" charset="0"/>
                <a:cs typeface="Times New Roman" panose="02020603050405020304" charset="0"/>
              </a:rPr>
              <a:t>(Port</a:t>
            </a:r>
            <a:r>
              <a:rPr sz="2400" spc="30" dirty="0">
                <a:latin typeface="Times New Roman" panose="02020603050405020304" charset="0"/>
                <a:cs typeface="Times New Roman" panose="02020603050405020304" charset="0"/>
              </a:rPr>
              <a:t> </a:t>
            </a:r>
            <a:r>
              <a:rPr sz="2400" spc="-175" dirty="0">
                <a:latin typeface="Times New Roman" panose="02020603050405020304" charset="0"/>
                <a:cs typeface="Times New Roman" panose="02020603050405020304" charset="0"/>
              </a:rPr>
              <a:t>8080)</a:t>
            </a:r>
            <a:endParaRPr sz="2400">
              <a:latin typeface="Times New Roman" panose="02020603050405020304" charset="0"/>
              <a:cs typeface="Times New Roman" panose="02020603050405020304" charset="0"/>
            </a:endParaRPr>
          </a:p>
        </p:txBody>
      </p:sp>
      <p:sp>
        <p:nvSpPr>
          <p:cNvPr id="18" name="object 18"/>
          <p:cNvSpPr txBox="1"/>
          <p:nvPr/>
        </p:nvSpPr>
        <p:spPr>
          <a:xfrm>
            <a:off x="11097260" y="4446905"/>
            <a:ext cx="1793875" cy="381635"/>
          </a:xfrm>
          <a:prstGeom prst="rect">
            <a:avLst/>
          </a:prstGeom>
        </p:spPr>
        <p:txBody>
          <a:bodyPr vert="horz" wrap="square" lIns="0" tIns="12700" rIns="0" bIns="0" rtlCol="0">
            <a:spAutoFit/>
          </a:bodyPr>
          <a:lstStyle/>
          <a:p>
            <a:pPr marL="12700">
              <a:lnSpc>
                <a:spcPct val="100000"/>
              </a:lnSpc>
              <a:spcBef>
                <a:spcPts val="100"/>
              </a:spcBef>
            </a:pPr>
            <a:r>
              <a:rPr sz="2400" spc="-225" dirty="0">
                <a:latin typeface="Times New Roman" panose="02020603050405020304" charset="0"/>
                <a:cs typeface="Times New Roman" panose="02020603050405020304" charset="0"/>
              </a:rPr>
              <a:t>JSON</a:t>
            </a:r>
            <a:r>
              <a:rPr sz="2400" spc="40" dirty="0">
                <a:latin typeface="Times New Roman" panose="02020603050405020304" charset="0"/>
                <a:cs typeface="Times New Roman" panose="02020603050405020304" charset="0"/>
              </a:rPr>
              <a:t> </a:t>
            </a:r>
            <a:r>
              <a:rPr sz="2400" spc="-165" dirty="0">
                <a:latin typeface="Times New Roman" panose="02020603050405020304" charset="0"/>
                <a:cs typeface="Times New Roman" panose="02020603050405020304" charset="0"/>
              </a:rPr>
              <a:t>over</a:t>
            </a:r>
            <a:r>
              <a:rPr sz="2400" spc="-15" dirty="0">
                <a:latin typeface="Times New Roman" panose="02020603050405020304" charset="0"/>
                <a:cs typeface="Times New Roman" panose="02020603050405020304" charset="0"/>
              </a:rPr>
              <a:t> </a:t>
            </a:r>
            <a:r>
              <a:rPr sz="2400" spc="-200" dirty="0">
                <a:latin typeface="Times New Roman" panose="02020603050405020304" charset="0"/>
                <a:cs typeface="Times New Roman" panose="02020603050405020304" charset="0"/>
              </a:rPr>
              <a:t>TCP</a:t>
            </a:r>
            <a:endParaRPr sz="2400">
              <a:latin typeface="Times New Roman" panose="02020603050405020304" charset="0"/>
              <a:cs typeface="Times New Roman" panose="02020603050405020304" charset="0"/>
            </a:endParaRPr>
          </a:p>
        </p:txBody>
      </p:sp>
      <p:sp>
        <p:nvSpPr>
          <p:cNvPr id="19" name="object 19"/>
          <p:cNvSpPr txBox="1"/>
          <p:nvPr/>
        </p:nvSpPr>
        <p:spPr>
          <a:xfrm>
            <a:off x="13321030" y="3402330"/>
            <a:ext cx="2407920" cy="2540635"/>
          </a:xfrm>
          <a:prstGeom prst="rect">
            <a:avLst/>
          </a:prstGeom>
        </p:spPr>
        <p:txBody>
          <a:bodyPr vert="horz" wrap="square" lIns="0" tIns="17145" rIns="0" bIns="0" rtlCol="0">
            <a:spAutoFit/>
          </a:bodyPr>
          <a:lstStyle/>
          <a:p>
            <a:pPr marL="12700">
              <a:lnSpc>
                <a:spcPts val="3395"/>
              </a:lnSpc>
              <a:spcBef>
                <a:spcPts val="135"/>
              </a:spcBef>
            </a:pPr>
            <a:r>
              <a:rPr sz="2800" spc="-45" dirty="0">
                <a:latin typeface="Times New Roman" panose="02020603050405020304" charset="0"/>
                <a:cs typeface="Times New Roman" panose="02020603050405020304" charset="0"/>
              </a:rPr>
              <a:t>Drone</a:t>
            </a:r>
            <a:endParaRPr sz="2800">
              <a:latin typeface="Times New Roman" panose="02020603050405020304" charset="0"/>
              <a:cs typeface="Times New Roman" panose="02020603050405020304" charset="0"/>
            </a:endParaRPr>
          </a:p>
          <a:p>
            <a:pPr marL="12700">
              <a:lnSpc>
                <a:spcPts val="3275"/>
              </a:lnSpc>
            </a:pPr>
            <a:r>
              <a:rPr sz="2800" spc="-10" dirty="0">
                <a:latin typeface="Times New Roman" panose="02020603050405020304" charset="0"/>
                <a:cs typeface="Times New Roman" panose="02020603050405020304" charset="0"/>
              </a:rPr>
              <a:t>Simulator(s)</a:t>
            </a:r>
            <a:endParaRPr sz="2850">
              <a:latin typeface="Arial MT"/>
              <a:cs typeface="Arial MT"/>
            </a:endParaRPr>
          </a:p>
          <a:p>
            <a:pPr marL="18415" marR="5080" indent="-1905">
              <a:lnSpc>
                <a:spcPts val="2400"/>
              </a:lnSpc>
              <a:spcBef>
                <a:spcPts val="1010"/>
              </a:spcBef>
            </a:pPr>
            <a:r>
              <a:rPr sz="2400" spc="-100" dirty="0">
                <a:latin typeface="Times New Roman" panose="02020603050405020304" charset="0"/>
                <a:cs typeface="Times New Roman" panose="02020603050405020304" charset="0"/>
              </a:rPr>
              <a:t>Simulates</a:t>
            </a:r>
            <a:r>
              <a:rPr sz="2400" spc="25" dirty="0">
                <a:latin typeface="Times New Roman" panose="02020603050405020304" charset="0"/>
                <a:cs typeface="Times New Roman" panose="02020603050405020304" charset="0"/>
              </a:rPr>
              <a:t> </a:t>
            </a:r>
            <a:r>
              <a:rPr sz="2400" spc="-10" dirty="0">
                <a:latin typeface="Times New Roman" panose="02020603050405020304" charset="0"/>
                <a:cs typeface="Times New Roman" panose="02020603050405020304" charset="0"/>
              </a:rPr>
              <a:t>flight </a:t>
            </a:r>
            <a:r>
              <a:rPr sz="2400" spc="-80" dirty="0">
                <a:latin typeface="Times New Roman" panose="02020603050405020304" charset="0"/>
                <a:cs typeface="Times New Roman" panose="02020603050405020304" charset="0"/>
              </a:rPr>
              <a:t>dynamics</a:t>
            </a:r>
            <a:r>
              <a:rPr sz="2400" spc="-60" dirty="0">
                <a:latin typeface="Times New Roman" panose="02020603050405020304" charset="0"/>
                <a:cs typeface="Times New Roman" panose="02020603050405020304" charset="0"/>
              </a:rPr>
              <a:t> </a:t>
            </a:r>
            <a:r>
              <a:rPr sz="2400" spc="-25" dirty="0">
                <a:latin typeface="Times New Roman" panose="02020603050405020304" charset="0"/>
                <a:cs typeface="Times New Roman" panose="02020603050405020304" charset="0"/>
              </a:rPr>
              <a:t>and </a:t>
            </a:r>
            <a:r>
              <a:rPr sz="2400" spc="-90" dirty="0">
                <a:latin typeface="Times New Roman" panose="02020603050405020304" charset="0"/>
                <a:cs typeface="Times New Roman" panose="02020603050405020304" charset="0"/>
              </a:rPr>
              <a:t>communicates</a:t>
            </a:r>
            <a:r>
              <a:rPr sz="2400" spc="45" dirty="0">
                <a:latin typeface="Times New Roman" panose="02020603050405020304" charset="0"/>
                <a:cs typeface="Times New Roman" panose="02020603050405020304" charset="0"/>
              </a:rPr>
              <a:t> </a:t>
            </a:r>
            <a:r>
              <a:rPr sz="2400" spc="-25" dirty="0">
                <a:latin typeface="Times New Roman" panose="02020603050405020304" charset="0"/>
                <a:cs typeface="Times New Roman" panose="02020603050405020304" charset="0"/>
              </a:rPr>
              <a:t>its </a:t>
            </a:r>
            <a:r>
              <a:rPr sz="2400" spc="-90" dirty="0">
                <a:latin typeface="Times New Roman" panose="02020603050405020304" charset="0"/>
                <a:cs typeface="Times New Roman" panose="02020603050405020304" charset="0"/>
              </a:rPr>
              <a:t>state</a:t>
            </a:r>
            <a:r>
              <a:rPr sz="2400" spc="-60" dirty="0">
                <a:latin typeface="Times New Roman" panose="02020603050405020304" charset="0"/>
                <a:cs typeface="Times New Roman" panose="02020603050405020304" charset="0"/>
              </a:rPr>
              <a:t> </a:t>
            </a:r>
            <a:r>
              <a:rPr sz="2400" spc="-135" dirty="0">
                <a:latin typeface="Times New Roman" panose="02020603050405020304" charset="0"/>
                <a:cs typeface="Times New Roman" panose="02020603050405020304" charset="0"/>
              </a:rPr>
              <a:t>via</a:t>
            </a:r>
            <a:r>
              <a:rPr sz="2400" spc="-15" dirty="0">
                <a:latin typeface="Times New Roman" panose="02020603050405020304" charset="0"/>
                <a:cs typeface="Times New Roman" panose="02020603050405020304" charset="0"/>
              </a:rPr>
              <a:t> </a:t>
            </a:r>
            <a:r>
              <a:rPr sz="2400" spc="-180" dirty="0">
                <a:latin typeface="Times New Roman" panose="02020603050405020304" charset="0"/>
                <a:cs typeface="Times New Roman" panose="02020603050405020304" charset="0"/>
              </a:rPr>
              <a:t>a</a:t>
            </a:r>
            <a:r>
              <a:rPr sz="2400" spc="-90" dirty="0">
                <a:latin typeface="Times New Roman" panose="02020603050405020304" charset="0"/>
                <a:cs typeface="Times New Roman" panose="02020603050405020304" charset="0"/>
              </a:rPr>
              <a:t> </a:t>
            </a:r>
            <a:r>
              <a:rPr sz="2400" spc="-100" dirty="0">
                <a:latin typeface="Times New Roman" panose="02020603050405020304" charset="0"/>
                <a:cs typeface="Times New Roman" panose="02020603050405020304" charset="0"/>
              </a:rPr>
              <a:t>long</a:t>
            </a:r>
            <a:r>
              <a:rPr sz="2400" dirty="0">
                <a:latin typeface="Times New Roman" panose="02020603050405020304" charset="0"/>
                <a:cs typeface="Times New Roman" panose="02020603050405020304" charset="0"/>
              </a:rPr>
              <a:t> </a:t>
            </a:r>
            <a:r>
              <a:rPr sz="2400" spc="-55" dirty="0">
                <a:latin typeface="Times New Roman" panose="02020603050405020304" charset="0"/>
                <a:cs typeface="Times New Roman" panose="02020603050405020304" charset="0"/>
              </a:rPr>
              <a:t>lived </a:t>
            </a:r>
            <a:r>
              <a:rPr sz="2400" spc="-225" dirty="0">
                <a:latin typeface="Times New Roman" panose="02020603050405020304" charset="0"/>
                <a:cs typeface="Times New Roman" panose="02020603050405020304" charset="0"/>
              </a:rPr>
              <a:t>TCP</a:t>
            </a:r>
            <a:r>
              <a:rPr sz="2400" spc="-80" dirty="0">
                <a:latin typeface="Times New Roman" panose="02020603050405020304" charset="0"/>
                <a:cs typeface="Times New Roman" panose="02020603050405020304" charset="0"/>
              </a:rPr>
              <a:t> </a:t>
            </a:r>
            <a:r>
              <a:rPr sz="2400" spc="-10" dirty="0">
                <a:latin typeface="Times New Roman" panose="02020603050405020304" charset="0"/>
                <a:cs typeface="Times New Roman" panose="02020603050405020304" charset="0"/>
              </a:rPr>
              <a:t>connection.</a:t>
            </a:r>
            <a:endParaRPr sz="2400">
              <a:latin typeface="Times New Roman" panose="02020603050405020304" charset="0"/>
              <a:cs typeface="Times New Roman" panose="02020603050405020304" charset="0"/>
            </a:endParaRPr>
          </a:p>
        </p:txBody>
      </p:sp>
      <p:sp>
        <p:nvSpPr>
          <p:cNvPr id="20" name="object 20"/>
          <p:cNvSpPr txBox="1"/>
          <p:nvPr/>
        </p:nvSpPr>
        <p:spPr>
          <a:xfrm>
            <a:off x="7860030" y="7840980"/>
            <a:ext cx="8100695" cy="701040"/>
          </a:xfrm>
          <a:prstGeom prst="rect">
            <a:avLst/>
          </a:prstGeom>
        </p:spPr>
        <p:txBody>
          <a:bodyPr vert="horz" wrap="square" lIns="0" tIns="12700" rIns="0" bIns="0" rtlCol="0">
            <a:spAutoFit/>
          </a:bodyPr>
          <a:lstStyle/>
          <a:p>
            <a:pPr marL="12700">
              <a:lnSpc>
                <a:spcPts val="2775"/>
              </a:lnSpc>
              <a:spcBef>
                <a:spcPts val="100"/>
              </a:spcBef>
            </a:pPr>
            <a:r>
              <a:rPr sz="2400" spc="-35" dirty="0">
                <a:latin typeface="Times New Roman" panose="02020603050405020304" charset="0"/>
                <a:cs typeface="Times New Roman" panose="02020603050405020304" charset="0"/>
              </a:rPr>
              <a:t>Protocol </a:t>
            </a:r>
            <a:r>
              <a:rPr sz="2400" spc="-55" dirty="0">
                <a:latin typeface="Times New Roman" panose="02020603050405020304" charset="0"/>
                <a:cs typeface="Times New Roman" panose="02020603050405020304" charset="0"/>
              </a:rPr>
              <a:t>Library</a:t>
            </a:r>
            <a:r>
              <a:rPr sz="2400" spc="-75" dirty="0">
                <a:latin typeface="Times New Roman" panose="02020603050405020304" charset="0"/>
                <a:cs typeface="Times New Roman" panose="02020603050405020304" charset="0"/>
              </a:rPr>
              <a:t> </a:t>
            </a:r>
            <a:r>
              <a:rPr sz="2400" spc="-500" dirty="0">
                <a:latin typeface="Times New Roman" panose="02020603050405020304" charset="0"/>
                <a:cs typeface="Times New Roman" panose="02020603050405020304" charset="0"/>
              </a:rPr>
              <a:t>A</a:t>
            </a:r>
            <a:r>
              <a:rPr sz="2400" spc="-145" dirty="0">
                <a:latin typeface="Times New Roman" panose="02020603050405020304" charset="0"/>
                <a:cs typeface="Times New Roman" panose="02020603050405020304" charset="0"/>
              </a:rPr>
              <a:t> </a:t>
            </a:r>
            <a:r>
              <a:rPr sz="2400" spc="-325" dirty="0">
                <a:latin typeface="Times New Roman" panose="02020603050405020304" charset="0"/>
                <a:cs typeface="Times New Roman" panose="02020603050405020304" charset="0"/>
              </a:rPr>
              <a:t>shared</a:t>
            </a:r>
            <a:r>
              <a:rPr sz="2400" spc="-150" dirty="0">
                <a:latin typeface="Times New Roman" panose="02020603050405020304" charset="0"/>
                <a:cs typeface="Times New Roman" panose="02020603050405020304" charset="0"/>
              </a:rPr>
              <a:t> </a:t>
            </a:r>
            <a:r>
              <a:rPr sz="2400" spc="-325" dirty="0">
                <a:latin typeface="Times New Roman" panose="02020603050405020304" charset="0"/>
                <a:cs typeface="Times New Roman" panose="02020603050405020304" charset="0"/>
              </a:rPr>
              <a:t>Rust</a:t>
            </a:r>
            <a:r>
              <a:rPr sz="2400" spc="-50" dirty="0">
                <a:latin typeface="Times New Roman" panose="02020603050405020304" charset="0"/>
                <a:cs typeface="Times New Roman" panose="02020603050405020304" charset="0"/>
              </a:rPr>
              <a:t> </a:t>
            </a:r>
            <a:r>
              <a:rPr sz="2400" spc="-285" dirty="0">
                <a:latin typeface="Times New Roman" panose="02020603050405020304" charset="0"/>
                <a:cs typeface="Times New Roman" panose="02020603050405020304" charset="0"/>
              </a:rPr>
              <a:t>crate</a:t>
            </a:r>
            <a:r>
              <a:rPr sz="2400" spc="-110" dirty="0">
                <a:latin typeface="Times New Roman" panose="02020603050405020304" charset="0"/>
                <a:cs typeface="Times New Roman" panose="02020603050405020304" charset="0"/>
              </a:rPr>
              <a:t> </a:t>
            </a:r>
            <a:r>
              <a:rPr sz="2400" spc="-245" dirty="0">
                <a:latin typeface="Times New Roman" panose="02020603050405020304" charset="0"/>
                <a:cs typeface="Times New Roman" panose="02020603050405020304" charset="0"/>
              </a:rPr>
              <a:t>defining</a:t>
            </a:r>
            <a:r>
              <a:rPr sz="2400" spc="-130" dirty="0">
                <a:latin typeface="Times New Roman" panose="02020603050405020304" charset="0"/>
                <a:cs typeface="Times New Roman" panose="02020603050405020304" charset="0"/>
              </a:rPr>
              <a:t> </a:t>
            </a:r>
            <a:r>
              <a:rPr sz="2400" spc="-180" dirty="0">
                <a:latin typeface="Times New Roman" panose="02020603050405020304" charset="0"/>
                <a:cs typeface="Times New Roman" panose="02020603050405020304" charset="0"/>
              </a:rPr>
              <a:t>all</a:t>
            </a:r>
            <a:r>
              <a:rPr sz="2400" spc="-165" dirty="0">
                <a:latin typeface="Times New Roman" panose="02020603050405020304" charset="0"/>
                <a:cs typeface="Times New Roman" panose="02020603050405020304" charset="0"/>
              </a:rPr>
              <a:t> </a:t>
            </a:r>
            <a:r>
              <a:rPr sz="2400" spc="-285" dirty="0">
                <a:latin typeface="Times New Roman" panose="02020603050405020304" charset="0"/>
                <a:cs typeface="Times New Roman" panose="02020603050405020304" charset="0"/>
              </a:rPr>
              <a:t>data</a:t>
            </a:r>
            <a:r>
              <a:rPr sz="2400" spc="-35" dirty="0">
                <a:latin typeface="Times New Roman" panose="02020603050405020304" charset="0"/>
                <a:cs typeface="Times New Roman" panose="02020603050405020304" charset="0"/>
              </a:rPr>
              <a:t> </a:t>
            </a:r>
            <a:r>
              <a:rPr sz="2400" spc="-254" dirty="0">
                <a:latin typeface="Times New Roman" panose="02020603050405020304" charset="0"/>
                <a:cs typeface="Times New Roman" panose="02020603050405020304" charset="0"/>
              </a:rPr>
              <a:t>structures</a:t>
            </a:r>
            <a:r>
              <a:rPr sz="2400" spc="-130" dirty="0">
                <a:latin typeface="Times New Roman" panose="02020603050405020304" charset="0"/>
                <a:cs typeface="Times New Roman" panose="02020603050405020304" charset="0"/>
              </a:rPr>
              <a:t> </a:t>
            </a:r>
            <a:r>
              <a:rPr sz="2400" spc="-215" dirty="0">
                <a:latin typeface="Times New Roman" panose="02020603050405020304" charset="0"/>
                <a:cs typeface="Times New Roman" panose="02020603050405020304" charset="0"/>
              </a:rPr>
              <a:t>("DroneStatus“,</a:t>
            </a:r>
            <a:endParaRPr sz="2400">
              <a:latin typeface="Times New Roman" panose="02020603050405020304" charset="0"/>
              <a:cs typeface="Times New Roman" panose="02020603050405020304" charset="0"/>
            </a:endParaRPr>
          </a:p>
          <a:p>
            <a:pPr marL="62865">
              <a:lnSpc>
                <a:spcPts val="2595"/>
              </a:lnSpc>
            </a:pPr>
            <a:r>
              <a:rPr sz="2400" spc="-250" dirty="0">
                <a:latin typeface="Times New Roman" panose="02020603050405020304" charset="0"/>
                <a:cs typeface="Times New Roman" panose="02020603050405020304" charset="0"/>
              </a:rPr>
              <a:t>“DroneCommand")</a:t>
            </a:r>
            <a:r>
              <a:rPr sz="2400" spc="20" dirty="0">
                <a:latin typeface="Times New Roman" panose="02020603050405020304" charset="0"/>
                <a:cs typeface="Times New Roman" panose="02020603050405020304" charset="0"/>
              </a:rPr>
              <a:t> </a:t>
            </a:r>
            <a:r>
              <a:rPr sz="2400" spc="-140" dirty="0">
                <a:latin typeface="Times New Roman" panose="02020603050405020304" charset="0"/>
                <a:cs typeface="Times New Roman" panose="02020603050405020304" charset="0"/>
              </a:rPr>
              <a:t>for</a:t>
            </a:r>
            <a:r>
              <a:rPr sz="2400" spc="15" dirty="0">
                <a:latin typeface="Times New Roman" panose="02020603050405020304" charset="0"/>
                <a:cs typeface="Times New Roman" panose="02020603050405020304" charset="0"/>
              </a:rPr>
              <a:t> </a:t>
            </a:r>
            <a:r>
              <a:rPr sz="2400" spc="-235" dirty="0">
                <a:latin typeface="Times New Roman" panose="02020603050405020304" charset="0"/>
                <a:cs typeface="Times New Roman" panose="02020603050405020304" charset="0"/>
              </a:rPr>
              <a:t>system-</a:t>
            </a:r>
            <a:r>
              <a:rPr sz="2400" spc="-240" dirty="0">
                <a:latin typeface="Times New Roman" panose="02020603050405020304" charset="0"/>
                <a:cs typeface="Times New Roman" panose="02020603050405020304" charset="0"/>
              </a:rPr>
              <a:t>wide</a:t>
            </a:r>
            <a:r>
              <a:rPr sz="2400" spc="70" dirty="0">
                <a:latin typeface="Times New Roman" panose="02020603050405020304" charset="0"/>
                <a:cs typeface="Times New Roman" panose="02020603050405020304" charset="0"/>
              </a:rPr>
              <a:t> </a:t>
            </a:r>
            <a:r>
              <a:rPr sz="2400" spc="-105" dirty="0">
                <a:latin typeface="Times New Roman" panose="02020603050405020304" charset="0"/>
                <a:cs typeface="Times New Roman" panose="02020603050405020304" charset="0"/>
              </a:rPr>
              <a:t>communication.</a:t>
            </a:r>
            <a:endParaRPr sz="2400" spc="-105" dirty="0">
              <a:latin typeface="Times New Roman" panose="02020603050405020304" charset="0"/>
              <a:cs typeface="Times New Roman" panose="02020603050405020304" charset="0"/>
            </a:endParaRPr>
          </a:p>
        </p:txBody>
      </p:sp>
      <p:pic>
        <p:nvPicPr>
          <p:cNvPr id="22" name="图片 21" descr="屏幕截图 2025-11-30 143403"/>
          <p:cNvPicPr>
            <a:picLocks noChangeAspect="1"/>
          </p:cNvPicPr>
          <p:nvPr/>
        </p:nvPicPr>
        <p:blipFill>
          <a:blip r:embed="rId4"/>
          <a:stretch>
            <a:fillRect/>
          </a:stretch>
        </p:blipFill>
        <p:spPr>
          <a:xfrm>
            <a:off x="110490" y="6565900"/>
            <a:ext cx="7153275" cy="2247900"/>
          </a:xfrm>
          <a:prstGeom prst="rect">
            <a:avLst/>
          </a:prstGeom>
        </p:spPr>
      </p:pic>
      <p:sp>
        <p:nvSpPr>
          <p:cNvPr id="24" name="文本框 23"/>
          <p:cNvSpPr txBox="1"/>
          <p:nvPr/>
        </p:nvSpPr>
        <p:spPr>
          <a:xfrm>
            <a:off x="1009650" y="2412365"/>
            <a:ext cx="2510790" cy="521970"/>
          </a:xfrm>
          <a:prstGeom prst="rect">
            <a:avLst/>
          </a:prstGeom>
          <a:noFill/>
        </p:spPr>
        <p:txBody>
          <a:bodyPr wrap="square" rtlCol="0">
            <a:spAutoFit/>
          </a:bodyPr>
          <a:p>
            <a:pPr marL="12700" algn="l">
              <a:lnSpc>
                <a:spcPct val="100000"/>
              </a:lnSpc>
              <a:spcBef>
                <a:spcPts val="105"/>
              </a:spcBef>
            </a:pPr>
            <a:r>
              <a:rPr sz="2800" spc="-35" dirty="0">
                <a:latin typeface="Times New Roman" panose="02020603050405020304" charset="0"/>
                <a:cs typeface="Times New Roman" panose="02020603050405020304" charset="0"/>
                <a:sym typeface="+mn-ea"/>
              </a:rPr>
              <a:t>Command</a:t>
            </a:r>
            <a:r>
              <a:rPr sz="2800" spc="-140" dirty="0">
                <a:latin typeface="Times New Roman" panose="02020603050405020304" charset="0"/>
                <a:cs typeface="Times New Roman" panose="02020603050405020304" charset="0"/>
                <a:sym typeface="+mn-ea"/>
              </a:rPr>
              <a:t> </a:t>
            </a:r>
            <a:r>
              <a:rPr sz="2800" spc="-185" dirty="0">
                <a:latin typeface="Times New Roman" panose="02020603050405020304" charset="0"/>
                <a:cs typeface="Times New Roman" panose="02020603050405020304" charset="0"/>
                <a:sym typeface="+mn-ea"/>
              </a:rPr>
              <a:t>GUI</a:t>
            </a:r>
            <a:endParaRPr lang="zh-CN" altLang="en-US" sz="2800">
              <a:latin typeface="Times New Roman" panose="02020603050405020304" charset="0"/>
              <a:cs typeface="Times New Roman" panose="0202060305040502030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1" cstate="print"/>
          <a:stretch>
            <a:fillRect/>
          </a:stretch>
        </p:blipFill>
        <p:spPr>
          <a:xfrm>
            <a:off x="2184400" y="3632200"/>
            <a:ext cx="2463800" cy="2501900"/>
          </a:xfrm>
          <a:prstGeom prst="rect">
            <a:avLst/>
          </a:prstGeom>
        </p:spPr>
      </p:pic>
      <p:pic>
        <p:nvPicPr>
          <p:cNvPr id="3" name="object 3"/>
          <p:cNvPicPr/>
          <p:nvPr/>
        </p:nvPicPr>
        <p:blipFill>
          <a:blip r:embed="rId2" cstate="print"/>
          <a:stretch>
            <a:fillRect/>
          </a:stretch>
        </p:blipFill>
        <p:spPr>
          <a:xfrm>
            <a:off x="7467600" y="3581400"/>
            <a:ext cx="2540000" cy="2552700"/>
          </a:xfrm>
          <a:prstGeom prst="rect">
            <a:avLst/>
          </a:prstGeom>
        </p:spPr>
      </p:pic>
      <p:pic>
        <p:nvPicPr>
          <p:cNvPr id="4" name="object 4"/>
          <p:cNvPicPr/>
          <p:nvPr/>
        </p:nvPicPr>
        <p:blipFill>
          <a:blip r:embed="rId3" cstate="print"/>
          <a:stretch>
            <a:fillRect/>
          </a:stretch>
        </p:blipFill>
        <p:spPr>
          <a:xfrm>
            <a:off x="12839700" y="3848100"/>
            <a:ext cx="2451100" cy="2006600"/>
          </a:xfrm>
          <a:prstGeom prst="rect">
            <a:avLst/>
          </a:prstGeom>
        </p:spPr>
      </p:pic>
      <p:sp>
        <p:nvSpPr>
          <p:cNvPr id="5" name="object 5"/>
          <p:cNvSpPr txBox="1">
            <a:spLocks noGrp="1"/>
          </p:cNvSpPr>
          <p:nvPr>
            <p:ph type="title"/>
          </p:nvPr>
        </p:nvSpPr>
        <p:spPr>
          <a:prstGeom prst="rect">
            <a:avLst/>
          </a:prstGeom>
        </p:spPr>
        <p:txBody>
          <a:bodyPr vert="horz" wrap="square" lIns="0" tIns="335915" rIns="0" bIns="0" rtlCol="0">
            <a:spAutoFit/>
          </a:bodyPr>
          <a:lstStyle/>
          <a:p>
            <a:pPr marL="3514090">
              <a:lnSpc>
                <a:spcPct val="100000"/>
              </a:lnSpc>
              <a:spcBef>
                <a:spcPts val="120"/>
              </a:spcBef>
            </a:pPr>
            <a:r>
              <a:rPr sz="5050" spc="100" dirty="0">
                <a:solidFill>
                  <a:srgbClr val="212121"/>
                </a:solidFill>
              </a:rPr>
              <a:t>Three</a:t>
            </a:r>
            <a:r>
              <a:rPr sz="5050" spc="-295" dirty="0">
                <a:solidFill>
                  <a:srgbClr val="212121"/>
                </a:solidFill>
              </a:rPr>
              <a:t> </a:t>
            </a:r>
            <a:r>
              <a:rPr sz="5050" spc="75" dirty="0">
                <a:solidFill>
                  <a:srgbClr val="1D1D1D"/>
                </a:solidFill>
              </a:rPr>
              <a:t>Core</a:t>
            </a:r>
            <a:r>
              <a:rPr sz="5050" spc="-250" dirty="0">
                <a:solidFill>
                  <a:srgbClr val="1D1D1D"/>
                </a:solidFill>
              </a:rPr>
              <a:t> </a:t>
            </a:r>
            <a:r>
              <a:rPr sz="5050" spc="114" dirty="0">
                <a:solidFill>
                  <a:srgbClr val="1D1D1D"/>
                </a:solidFill>
              </a:rPr>
              <a:t>Engineering</a:t>
            </a:r>
            <a:r>
              <a:rPr sz="5050" spc="-80" dirty="0">
                <a:solidFill>
                  <a:srgbClr val="1D1D1D"/>
                </a:solidFill>
              </a:rPr>
              <a:t> </a:t>
            </a:r>
            <a:r>
              <a:rPr sz="5050" spc="105" dirty="0">
                <a:solidFill>
                  <a:srgbClr val="212121"/>
                </a:solidFill>
              </a:rPr>
              <a:t>Pillars</a:t>
            </a:r>
            <a:endParaRPr sz="5050"/>
          </a:p>
        </p:txBody>
      </p:sp>
      <p:sp>
        <p:nvSpPr>
          <p:cNvPr id="10" name="object 10"/>
          <p:cNvSpPr txBox="1">
            <a:spLocks noGrp="1"/>
          </p:cNvSpPr>
          <p:nvPr>
            <p:ph type="ftr" sz="quarter" idx="5"/>
          </p:nvPr>
        </p:nvSpPr>
        <p:spPr>
          <a:prstGeom prst="rect">
            <a:avLst/>
          </a:prstGeom>
        </p:spPr>
        <p:txBody>
          <a:bodyPr vert="horz" wrap="square" lIns="0" tIns="0" rIns="0" bIns="0" rtlCol="0">
            <a:spAutoFit/>
          </a:bodyPr>
          <a:lstStyle/>
          <a:p>
            <a:pPr marL="12700">
              <a:lnSpc>
                <a:spcPts val="1555"/>
              </a:lnSpc>
            </a:pPr>
            <a:r>
              <a:rPr dirty="0"/>
              <a:t>G</a:t>
            </a:r>
            <a:r>
              <a:rPr spc="490" dirty="0"/>
              <a:t> </a:t>
            </a:r>
            <a:r>
              <a:rPr spc="-10" dirty="0"/>
              <a:t>NotebookLM</a:t>
            </a:r>
            <a:endParaRPr spc="-10" dirty="0"/>
          </a:p>
        </p:txBody>
      </p:sp>
      <p:sp>
        <p:nvSpPr>
          <p:cNvPr id="6" name="object 6"/>
          <p:cNvSpPr txBox="1"/>
          <p:nvPr/>
        </p:nvSpPr>
        <p:spPr>
          <a:xfrm>
            <a:off x="3140711" y="1875013"/>
            <a:ext cx="11155045" cy="937894"/>
          </a:xfrm>
          <a:prstGeom prst="rect">
            <a:avLst/>
          </a:prstGeom>
        </p:spPr>
        <p:txBody>
          <a:bodyPr vert="horz" wrap="square" lIns="0" tIns="17145" rIns="0" bIns="0" rtlCol="0">
            <a:spAutoFit/>
          </a:bodyPr>
          <a:lstStyle/>
          <a:p>
            <a:pPr algn="ctr">
              <a:lnSpc>
                <a:spcPct val="100000"/>
              </a:lnSpc>
              <a:spcBef>
                <a:spcPts val="135"/>
              </a:spcBef>
            </a:pPr>
            <a:r>
              <a:rPr sz="2950" spc="-110" dirty="0">
                <a:latin typeface="Arial MT"/>
                <a:cs typeface="Arial MT"/>
              </a:rPr>
              <a:t>The</a:t>
            </a:r>
            <a:r>
              <a:rPr sz="2950" spc="-130" dirty="0">
                <a:latin typeface="Arial MT"/>
                <a:cs typeface="Arial MT"/>
              </a:rPr>
              <a:t> </a:t>
            </a:r>
            <a:r>
              <a:rPr sz="2950" spc="-90" dirty="0">
                <a:latin typeface="Arial MT"/>
                <a:cs typeface="Arial MT"/>
              </a:rPr>
              <a:t>success</a:t>
            </a:r>
            <a:r>
              <a:rPr sz="2950" spc="-105" dirty="0">
                <a:latin typeface="Arial MT"/>
                <a:cs typeface="Arial MT"/>
              </a:rPr>
              <a:t> </a:t>
            </a:r>
            <a:r>
              <a:rPr sz="2950" spc="-45" dirty="0">
                <a:latin typeface="Arial MT"/>
                <a:cs typeface="Arial MT"/>
              </a:rPr>
              <a:t>of</a:t>
            </a:r>
            <a:r>
              <a:rPr sz="2950" spc="-120" dirty="0">
                <a:latin typeface="Arial MT"/>
                <a:cs typeface="Arial MT"/>
              </a:rPr>
              <a:t> </a:t>
            </a:r>
            <a:r>
              <a:rPr sz="2950" dirty="0">
                <a:latin typeface="Arial MT"/>
                <a:cs typeface="Arial MT"/>
              </a:rPr>
              <a:t>this</a:t>
            </a:r>
            <a:r>
              <a:rPr sz="2950" spc="-254" dirty="0">
                <a:latin typeface="Arial MT"/>
                <a:cs typeface="Arial MT"/>
              </a:rPr>
              <a:t> </a:t>
            </a:r>
            <a:r>
              <a:rPr sz="2950" spc="-80" dirty="0">
                <a:latin typeface="Arial MT"/>
                <a:cs typeface="Arial MT"/>
              </a:rPr>
              <a:t>system</a:t>
            </a:r>
            <a:r>
              <a:rPr sz="2950" spc="-125" dirty="0">
                <a:latin typeface="Arial MT"/>
                <a:cs typeface="Arial MT"/>
              </a:rPr>
              <a:t> </a:t>
            </a:r>
            <a:r>
              <a:rPr sz="2950" spc="-10" dirty="0">
                <a:latin typeface="Arial MT"/>
                <a:cs typeface="Arial MT"/>
              </a:rPr>
              <a:t>rests</a:t>
            </a:r>
            <a:r>
              <a:rPr sz="2950" spc="-110" dirty="0">
                <a:latin typeface="Arial MT"/>
                <a:cs typeface="Arial MT"/>
              </a:rPr>
              <a:t> </a:t>
            </a:r>
            <a:r>
              <a:rPr sz="2950" spc="-90" dirty="0">
                <a:latin typeface="Arial MT"/>
                <a:cs typeface="Arial MT"/>
              </a:rPr>
              <a:t>on</a:t>
            </a:r>
            <a:r>
              <a:rPr sz="2950" spc="-295" dirty="0">
                <a:latin typeface="Arial MT"/>
                <a:cs typeface="Arial MT"/>
              </a:rPr>
              <a:t> </a:t>
            </a:r>
            <a:r>
              <a:rPr sz="2950" spc="-10" dirty="0">
                <a:latin typeface="Arial MT"/>
                <a:cs typeface="Arial MT"/>
              </a:rPr>
              <a:t>three</a:t>
            </a:r>
            <a:r>
              <a:rPr sz="2950" spc="-235" dirty="0">
                <a:latin typeface="Arial MT"/>
                <a:cs typeface="Arial MT"/>
              </a:rPr>
              <a:t> </a:t>
            </a:r>
            <a:r>
              <a:rPr sz="2950" spc="-45" dirty="0">
                <a:latin typeface="Arial MT"/>
                <a:cs typeface="Arial MT"/>
              </a:rPr>
              <a:t>foundational</a:t>
            </a:r>
            <a:r>
              <a:rPr sz="2950" spc="40" dirty="0">
                <a:latin typeface="Arial MT"/>
                <a:cs typeface="Arial MT"/>
              </a:rPr>
              <a:t> </a:t>
            </a:r>
            <a:r>
              <a:rPr sz="2950" spc="-70" dirty="0">
                <a:latin typeface="Arial MT"/>
                <a:cs typeface="Arial MT"/>
              </a:rPr>
              <a:t>design</a:t>
            </a:r>
            <a:r>
              <a:rPr sz="2950" spc="-295" dirty="0">
                <a:latin typeface="Arial MT"/>
                <a:cs typeface="Arial MT"/>
              </a:rPr>
              <a:t> </a:t>
            </a:r>
            <a:r>
              <a:rPr sz="2950" spc="-25" dirty="0">
                <a:latin typeface="Arial MT"/>
                <a:cs typeface="Arial MT"/>
              </a:rPr>
              <a:t>choices.</a:t>
            </a:r>
            <a:endParaRPr sz="2950">
              <a:latin typeface="Arial MT"/>
              <a:cs typeface="Arial MT"/>
            </a:endParaRPr>
          </a:p>
          <a:p>
            <a:pPr marL="21590" algn="ctr">
              <a:lnSpc>
                <a:spcPct val="100000"/>
              </a:lnSpc>
              <a:spcBef>
                <a:spcPts val="60"/>
              </a:spcBef>
            </a:pPr>
            <a:r>
              <a:rPr sz="2950" spc="-295" dirty="0">
                <a:latin typeface="Arial MT"/>
                <a:cs typeface="Arial MT"/>
              </a:rPr>
              <a:t>We</a:t>
            </a:r>
            <a:r>
              <a:rPr sz="2950" spc="-140" dirty="0">
                <a:latin typeface="Arial MT"/>
                <a:cs typeface="Arial MT"/>
              </a:rPr>
              <a:t> </a:t>
            </a:r>
            <a:r>
              <a:rPr sz="2950" spc="-50" dirty="0">
                <a:latin typeface="Arial MT"/>
                <a:cs typeface="Arial MT"/>
              </a:rPr>
              <a:t>will</a:t>
            </a:r>
            <a:r>
              <a:rPr sz="2950" spc="-245" dirty="0">
                <a:latin typeface="Arial MT"/>
                <a:cs typeface="Arial MT"/>
              </a:rPr>
              <a:t> </a:t>
            </a:r>
            <a:r>
              <a:rPr sz="2950" spc="-120" dirty="0">
                <a:latin typeface="Arial MT"/>
                <a:cs typeface="Arial MT"/>
              </a:rPr>
              <a:t>now </a:t>
            </a:r>
            <a:r>
              <a:rPr sz="2950" spc="-90" dirty="0">
                <a:latin typeface="Arial MT"/>
                <a:cs typeface="Arial MT"/>
              </a:rPr>
              <a:t>explore</a:t>
            </a:r>
            <a:r>
              <a:rPr sz="2950" spc="-165" dirty="0">
                <a:latin typeface="Arial MT"/>
                <a:cs typeface="Arial MT"/>
              </a:rPr>
              <a:t> </a:t>
            </a:r>
            <a:r>
              <a:rPr sz="2950" dirty="0">
                <a:latin typeface="Arial MT"/>
                <a:cs typeface="Arial MT"/>
              </a:rPr>
              <a:t>the</a:t>
            </a:r>
            <a:r>
              <a:rPr sz="2950" spc="-145" dirty="0">
                <a:latin typeface="Arial MT"/>
                <a:cs typeface="Arial MT"/>
              </a:rPr>
              <a:t> </a:t>
            </a:r>
            <a:r>
              <a:rPr sz="2950" spc="-50" dirty="0">
                <a:latin typeface="Arial MT"/>
                <a:cs typeface="Arial MT"/>
              </a:rPr>
              <a:t>rationale</a:t>
            </a:r>
            <a:r>
              <a:rPr sz="2950" spc="10" dirty="0">
                <a:latin typeface="Arial MT"/>
                <a:cs typeface="Arial MT"/>
              </a:rPr>
              <a:t> </a:t>
            </a:r>
            <a:r>
              <a:rPr sz="2950" spc="-120" dirty="0">
                <a:latin typeface="Arial MT"/>
                <a:cs typeface="Arial MT"/>
              </a:rPr>
              <a:t>and</a:t>
            </a:r>
            <a:r>
              <a:rPr sz="2950" spc="-190" dirty="0">
                <a:latin typeface="Arial MT"/>
                <a:cs typeface="Arial MT"/>
              </a:rPr>
              <a:t> </a:t>
            </a:r>
            <a:r>
              <a:rPr sz="2950" spc="-40" dirty="0">
                <a:latin typeface="Arial MT"/>
                <a:cs typeface="Arial MT"/>
              </a:rPr>
              <a:t>implementation</a:t>
            </a:r>
            <a:r>
              <a:rPr sz="2950" spc="-355" dirty="0">
                <a:latin typeface="Arial MT"/>
                <a:cs typeface="Arial MT"/>
              </a:rPr>
              <a:t> </a:t>
            </a:r>
            <a:r>
              <a:rPr sz="2950" dirty="0">
                <a:latin typeface="Arial MT"/>
                <a:cs typeface="Arial MT"/>
              </a:rPr>
              <a:t>of</a:t>
            </a:r>
            <a:r>
              <a:rPr sz="2950" spc="-160" dirty="0">
                <a:latin typeface="Arial MT"/>
                <a:cs typeface="Arial MT"/>
              </a:rPr>
              <a:t> </a:t>
            </a:r>
            <a:r>
              <a:rPr sz="2950" spc="-10" dirty="0">
                <a:latin typeface="Arial MT"/>
                <a:cs typeface="Arial MT"/>
              </a:rPr>
              <a:t>each.</a:t>
            </a:r>
            <a:endParaRPr sz="2950">
              <a:latin typeface="Arial MT"/>
              <a:cs typeface="Arial MT"/>
            </a:endParaRPr>
          </a:p>
        </p:txBody>
      </p:sp>
      <p:sp>
        <p:nvSpPr>
          <p:cNvPr id="7" name="object 7"/>
          <p:cNvSpPr txBox="1"/>
          <p:nvPr/>
        </p:nvSpPr>
        <p:spPr>
          <a:xfrm>
            <a:off x="1370942" y="6886575"/>
            <a:ext cx="4023995" cy="1831975"/>
          </a:xfrm>
          <a:prstGeom prst="rect">
            <a:avLst/>
          </a:prstGeom>
        </p:spPr>
        <p:txBody>
          <a:bodyPr vert="horz" wrap="square" lIns="0" tIns="15875" rIns="0" bIns="0" rtlCol="0">
            <a:spAutoFit/>
          </a:bodyPr>
          <a:lstStyle/>
          <a:p>
            <a:pPr algn="ctr">
              <a:lnSpc>
                <a:spcPts val="3685"/>
              </a:lnSpc>
              <a:spcBef>
                <a:spcPts val="125"/>
              </a:spcBef>
            </a:pPr>
            <a:r>
              <a:rPr sz="3100" spc="-229" dirty="0">
                <a:solidFill>
                  <a:srgbClr val="151515"/>
                </a:solidFill>
                <a:latin typeface="Trebuchet MS" panose="020B0603020202020204"/>
                <a:cs typeface="Trebuchet MS" panose="020B0603020202020204"/>
              </a:rPr>
              <a:t>1.</a:t>
            </a:r>
            <a:r>
              <a:rPr sz="3100" spc="-355" dirty="0">
                <a:solidFill>
                  <a:srgbClr val="151515"/>
                </a:solidFill>
                <a:latin typeface="Trebuchet MS" panose="020B0603020202020204"/>
                <a:cs typeface="Trebuchet MS" panose="020B0603020202020204"/>
              </a:rPr>
              <a:t> </a:t>
            </a:r>
            <a:r>
              <a:rPr sz="3100" dirty="0">
                <a:solidFill>
                  <a:srgbClr val="131313"/>
                </a:solidFill>
                <a:latin typeface="Trebuchet MS" panose="020B0603020202020204"/>
                <a:cs typeface="Trebuchet MS" panose="020B0603020202020204"/>
              </a:rPr>
              <a:t>The</a:t>
            </a:r>
            <a:r>
              <a:rPr sz="3100" spc="-200" dirty="0">
                <a:solidFill>
                  <a:srgbClr val="131313"/>
                </a:solidFill>
                <a:latin typeface="Trebuchet MS" panose="020B0603020202020204"/>
                <a:cs typeface="Trebuchet MS" panose="020B0603020202020204"/>
              </a:rPr>
              <a:t> </a:t>
            </a:r>
            <a:r>
              <a:rPr sz="3100" spc="50" dirty="0">
                <a:solidFill>
                  <a:srgbClr val="111111"/>
                </a:solidFill>
                <a:latin typeface="Trebuchet MS" panose="020B0603020202020204"/>
                <a:cs typeface="Trebuchet MS" panose="020B0603020202020204"/>
              </a:rPr>
              <a:t>Communication</a:t>
            </a:r>
            <a:endParaRPr sz="3100">
              <a:latin typeface="Trebuchet MS" panose="020B0603020202020204"/>
              <a:cs typeface="Trebuchet MS" panose="020B0603020202020204"/>
            </a:endParaRPr>
          </a:p>
          <a:p>
            <a:pPr marL="28575" algn="ctr">
              <a:lnSpc>
                <a:spcPts val="3505"/>
              </a:lnSpc>
            </a:pPr>
            <a:r>
              <a:rPr sz="2950" spc="80" dirty="0">
                <a:solidFill>
                  <a:srgbClr val="0C0C0C"/>
                </a:solidFill>
                <a:latin typeface="Trebuchet MS" panose="020B0603020202020204"/>
                <a:cs typeface="Trebuchet MS" panose="020B0603020202020204"/>
              </a:rPr>
              <a:t>Protocol</a:t>
            </a:r>
            <a:endParaRPr sz="2950">
              <a:latin typeface="Trebuchet MS" panose="020B0603020202020204"/>
              <a:cs typeface="Trebuchet MS" panose="020B0603020202020204"/>
            </a:endParaRPr>
          </a:p>
          <a:p>
            <a:pPr marL="42545" algn="ctr">
              <a:lnSpc>
                <a:spcPts val="3060"/>
              </a:lnSpc>
              <a:spcBef>
                <a:spcPts val="1010"/>
              </a:spcBef>
            </a:pPr>
            <a:r>
              <a:rPr sz="2600" spc="-120" dirty="0">
                <a:latin typeface="Arial MT"/>
                <a:cs typeface="Arial MT"/>
              </a:rPr>
              <a:t>Designing</a:t>
            </a:r>
            <a:r>
              <a:rPr sz="2600" spc="5" dirty="0">
                <a:latin typeface="Arial MT"/>
                <a:cs typeface="Arial MT"/>
              </a:rPr>
              <a:t> </a:t>
            </a:r>
            <a:r>
              <a:rPr sz="2600" dirty="0">
                <a:latin typeface="Arial MT"/>
                <a:cs typeface="Arial MT"/>
              </a:rPr>
              <a:t>the</a:t>
            </a:r>
            <a:r>
              <a:rPr sz="2600" spc="-225" dirty="0">
                <a:latin typeface="Arial MT"/>
                <a:cs typeface="Arial MT"/>
              </a:rPr>
              <a:t> </a:t>
            </a:r>
            <a:r>
              <a:rPr sz="2600" spc="-114" dirty="0">
                <a:latin typeface="Arial MT"/>
                <a:cs typeface="Arial MT"/>
              </a:rPr>
              <a:t>language</a:t>
            </a:r>
            <a:r>
              <a:rPr sz="2600" spc="-30" dirty="0">
                <a:latin typeface="Arial MT"/>
                <a:cs typeface="Arial MT"/>
              </a:rPr>
              <a:t> </a:t>
            </a:r>
            <a:r>
              <a:rPr sz="2600" spc="-25" dirty="0">
                <a:latin typeface="Arial MT"/>
                <a:cs typeface="Arial MT"/>
              </a:rPr>
              <a:t>for</a:t>
            </a:r>
            <a:endParaRPr sz="2600">
              <a:latin typeface="Arial MT"/>
              <a:cs typeface="Arial MT"/>
            </a:endParaRPr>
          </a:p>
          <a:p>
            <a:pPr marL="50800" algn="ctr">
              <a:lnSpc>
                <a:spcPts val="2940"/>
              </a:lnSpc>
            </a:pPr>
            <a:r>
              <a:rPr sz="2500" spc="-40" dirty="0">
                <a:latin typeface="Arial MT"/>
                <a:cs typeface="Arial MT"/>
              </a:rPr>
              <a:t>system-</a:t>
            </a:r>
            <a:r>
              <a:rPr sz="2500" dirty="0">
                <a:latin typeface="Arial MT"/>
                <a:cs typeface="Arial MT"/>
              </a:rPr>
              <a:t>wide</a:t>
            </a:r>
            <a:r>
              <a:rPr sz="2500" spc="-55" dirty="0">
                <a:latin typeface="Arial MT"/>
                <a:cs typeface="Arial MT"/>
              </a:rPr>
              <a:t> </a:t>
            </a:r>
            <a:r>
              <a:rPr sz="2500" spc="-10" dirty="0">
                <a:latin typeface="Arial MT"/>
                <a:cs typeface="Arial MT"/>
              </a:rPr>
              <a:t>data</a:t>
            </a:r>
            <a:r>
              <a:rPr sz="2500" spc="-155" dirty="0">
                <a:latin typeface="Arial MT"/>
                <a:cs typeface="Arial MT"/>
              </a:rPr>
              <a:t> </a:t>
            </a:r>
            <a:r>
              <a:rPr sz="2500" spc="-10" dirty="0">
                <a:latin typeface="Arial MT"/>
                <a:cs typeface="Arial MT"/>
              </a:rPr>
              <a:t>exchange.</a:t>
            </a:r>
            <a:endParaRPr sz="2500">
              <a:latin typeface="Arial MT"/>
              <a:cs typeface="Arial MT"/>
            </a:endParaRPr>
          </a:p>
        </p:txBody>
      </p:sp>
      <p:sp>
        <p:nvSpPr>
          <p:cNvPr id="8" name="object 8"/>
          <p:cNvSpPr txBox="1"/>
          <p:nvPr/>
        </p:nvSpPr>
        <p:spPr>
          <a:xfrm>
            <a:off x="6816952" y="6886575"/>
            <a:ext cx="3815715" cy="1831975"/>
          </a:xfrm>
          <a:prstGeom prst="rect">
            <a:avLst/>
          </a:prstGeom>
        </p:spPr>
        <p:txBody>
          <a:bodyPr vert="horz" wrap="square" lIns="0" tIns="53975" rIns="0" bIns="0" rtlCol="0">
            <a:spAutoFit/>
          </a:bodyPr>
          <a:lstStyle/>
          <a:p>
            <a:pPr marL="835660" marR="32385" indent="-807085">
              <a:lnSpc>
                <a:spcPts val="3500"/>
              </a:lnSpc>
              <a:spcBef>
                <a:spcPts val="425"/>
              </a:spcBef>
            </a:pPr>
            <a:r>
              <a:rPr sz="3100" dirty="0">
                <a:solidFill>
                  <a:srgbClr val="161616"/>
                </a:solidFill>
                <a:latin typeface="Arial MT"/>
                <a:cs typeface="Arial MT"/>
              </a:rPr>
              <a:t>2.</a:t>
            </a:r>
            <a:r>
              <a:rPr sz="3100" spc="-275" dirty="0">
                <a:solidFill>
                  <a:srgbClr val="161616"/>
                </a:solidFill>
                <a:latin typeface="Arial MT"/>
                <a:cs typeface="Arial MT"/>
              </a:rPr>
              <a:t> </a:t>
            </a:r>
            <a:r>
              <a:rPr sz="3100" dirty="0">
                <a:solidFill>
                  <a:srgbClr val="0E0E0E"/>
                </a:solidFill>
                <a:latin typeface="Arial MT"/>
                <a:cs typeface="Arial MT"/>
              </a:rPr>
              <a:t>The</a:t>
            </a:r>
            <a:r>
              <a:rPr sz="3100" spc="-160" dirty="0">
                <a:solidFill>
                  <a:srgbClr val="0E0E0E"/>
                </a:solidFill>
                <a:latin typeface="Arial MT"/>
                <a:cs typeface="Arial MT"/>
              </a:rPr>
              <a:t> </a:t>
            </a:r>
            <a:r>
              <a:rPr sz="3100" spc="-10" dirty="0">
                <a:solidFill>
                  <a:srgbClr val="0F0F0F"/>
                </a:solidFill>
                <a:latin typeface="Arial MT"/>
                <a:cs typeface="Arial MT"/>
              </a:rPr>
              <a:t>Asynchronous </a:t>
            </a:r>
            <a:r>
              <a:rPr sz="3100" dirty="0">
                <a:solidFill>
                  <a:srgbClr val="131313"/>
                </a:solidFill>
                <a:latin typeface="Arial MT"/>
                <a:cs typeface="Arial MT"/>
              </a:rPr>
              <a:t>Server</a:t>
            </a:r>
            <a:r>
              <a:rPr sz="3100" spc="-85" dirty="0">
                <a:solidFill>
                  <a:srgbClr val="131313"/>
                </a:solidFill>
                <a:latin typeface="Arial MT"/>
                <a:cs typeface="Arial MT"/>
              </a:rPr>
              <a:t> </a:t>
            </a:r>
            <a:r>
              <a:rPr sz="3100" spc="-20" dirty="0">
                <a:solidFill>
                  <a:srgbClr val="0F0F0F"/>
                </a:solidFill>
                <a:latin typeface="Arial MT"/>
                <a:cs typeface="Arial MT"/>
              </a:rPr>
              <a:t>Core</a:t>
            </a:r>
            <a:endParaRPr sz="3100">
              <a:latin typeface="Arial MT"/>
              <a:cs typeface="Arial MT"/>
            </a:endParaRPr>
          </a:p>
          <a:p>
            <a:pPr marL="12700" marR="5080" indent="17780">
              <a:lnSpc>
                <a:spcPts val="2900"/>
              </a:lnSpc>
              <a:spcBef>
                <a:spcPts val="1180"/>
              </a:spcBef>
            </a:pPr>
            <a:r>
              <a:rPr sz="2500" spc="-60" dirty="0">
                <a:latin typeface="Arial MT"/>
                <a:cs typeface="Arial MT"/>
              </a:rPr>
              <a:t>Building</a:t>
            </a:r>
            <a:r>
              <a:rPr sz="2500" spc="-114" dirty="0">
                <a:latin typeface="Arial MT"/>
                <a:cs typeface="Arial MT"/>
              </a:rPr>
              <a:t> </a:t>
            </a:r>
            <a:r>
              <a:rPr sz="2500" spc="-145" dirty="0">
                <a:latin typeface="Arial MT"/>
                <a:cs typeface="Arial MT"/>
              </a:rPr>
              <a:t>a</a:t>
            </a:r>
            <a:r>
              <a:rPr sz="2500" spc="-125" dirty="0">
                <a:latin typeface="Arial MT"/>
                <a:cs typeface="Arial MT"/>
              </a:rPr>
              <a:t> </a:t>
            </a:r>
            <a:r>
              <a:rPr sz="2500" spc="-30" dirty="0">
                <a:latin typeface="Arial MT"/>
                <a:cs typeface="Arial MT"/>
              </a:rPr>
              <a:t>non-</a:t>
            </a:r>
            <a:r>
              <a:rPr sz="2500" dirty="0">
                <a:latin typeface="Arial MT"/>
                <a:cs typeface="Arial MT"/>
              </a:rPr>
              <a:t>blocking</a:t>
            </a:r>
            <a:r>
              <a:rPr sz="2500" spc="-30" dirty="0">
                <a:latin typeface="Arial MT"/>
                <a:cs typeface="Arial MT"/>
              </a:rPr>
              <a:t> </a:t>
            </a:r>
            <a:r>
              <a:rPr sz="2500" spc="-25" dirty="0">
                <a:latin typeface="Arial MT"/>
                <a:cs typeface="Arial MT"/>
              </a:rPr>
              <a:t>hub </a:t>
            </a:r>
            <a:r>
              <a:rPr sz="2500" spc="-30" dirty="0">
                <a:latin typeface="Arial MT"/>
                <a:cs typeface="Arial MT"/>
              </a:rPr>
              <a:t>for</a:t>
            </a:r>
            <a:r>
              <a:rPr sz="2500" spc="-135" dirty="0">
                <a:latin typeface="Arial MT"/>
                <a:cs typeface="Arial MT"/>
              </a:rPr>
              <a:t> </a:t>
            </a:r>
            <a:r>
              <a:rPr sz="2500" dirty="0">
                <a:latin typeface="Arial MT"/>
                <a:cs typeface="Arial MT"/>
              </a:rPr>
              <a:t>concurrent</a:t>
            </a:r>
            <a:r>
              <a:rPr sz="2500" spc="-30" dirty="0">
                <a:latin typeface="Arial MT"/>
                <a:cs typeface="Arial MT"/>
              </a:rPr>
              <a:t> </a:t>
            </a:r>
            <a:r>
              <a:rPr sz="2500" spc="-10" dirty="0">
                <a:latin typeface="Arial MT"/>
                <a:cs typeface="Arial MT"/>
              </a:rPr>
              <a:t>connections.</a:t>
            </a:r>
            <a:endParaRPr sz="2500">
              <a:latin typeface="Arial MT"/>
              <a:cs typeface="Arial MT"/>
            </a:endParaRPr>
          </a:p>
        </p:txBody>
      </p:sp>
      <p:sp>
        <p:nvSpPr>
          <p:cNvPr id="9" name="object 9"/>
          <p:cNvSpPr txBox="1"/>
          <p:nvPr/>
        </p:nvSpPr>
        <p:spPr>
          <a:xfrm>
            <a:off x="12182640" y="6868935"/>
            <a:ext cx="3743325" cy="1863725"/>
          </a:xfrm>
          <a:prstGeom prst="rect">
            <a:avLst/>
          </a:prstGeom>
        </p:spPr>
        <p:txBody>
          <a:bodyPr vert="horz" wrap="square" lIns="0" tIns="71120" rIns="0" bIns="0" rtlCol="0">
            <a:spAutoFit/>
          </a:bodyPr>
          <a:lstStyle/>
          <a:p>
            <a:pPr marL="732155" marR="5080" indent="-720090">
              <a:lnSpc>
                <a:spcPts val="3500"/>
              </a:lnSpc>
              <a:spcBef>
                <a:spcPts val="560"/>
              </a:spcBef>
            </a:pPr>
            <a:r>
              <a:rPr sz="3250" b="0" spc="-70" dirty="0">
                <a:solidFill>
                  <a:srgbClr val="0F0F0F"/>
                </a:solidFill>
                <a:latin typeface="Trebuchet MS" panose="020B0603020202020204"/>
                <a:cs typeface="Trebuchet MS" panose="020B0603020202020204"/>
              </a:rPr>
              <a:t>3.</a:t>
            </a:r>
            <a:r>
              <a:rPr sz="3250" b="0" spc="-505" dirty="0">
                <a:solidFill>
                  <a:srgbClr val="0F0F0F"/>
                </a:solidFill>
                <a:latin typeface="Trebuchet MS" panose="020B0603020202020204"/>
                <a:cs typeface="Trebuchet MS" panose="020B0603020202020204"/>
              </a:rPr>
              <a:t> </a:t>
            </a:r>
            <a:r>
              <a:rPr sz="3250" b="0" spc="-45" dirty="0">
                <a:solidFill>
                  <a:srgbClr val="0E0E0E"/>
                </a:solidFill>
                <a:latin typeface="Trebuchet MS" panose="020B0603020202020204"/>
                <a:cs typeface="Trebuchet MS" panose="020B0603020202020204"/>
              </a:rPr>
              <a:t>The</a:t>
            </a:r>
            <a:r>
              <a:rPr sz="3250" b="0" spc="-325" dirty="0">
                <a:solidFill>
                  <a:srgbClr val="0E0E0E"/>
                </a:solidFill>
                <a:latin typeface="Trebuchet MS" panose="020B0603020202020204"/>
                <a:cs typeface="Trebuchet MS" panose="020B0603020202020204"/>
              </a:rPr>
              <a:t> </a:t>
            </a:r>
            <a:r>
              <a:rPr sz="3250" b="0" spc="-90" dirty="0">
                <a:solidFill>
                  <a:srgbClr val="080808"/>
                </a:solidFill>
                <a:latin typeface="Trebuchet MS" panose="020B0603020202020204"/>
                <a:cs typeface="Trebuchet MS" panose="020B0603020202020204"/>
              </a:rPr>
              <a:t>Real-</a:t>
            </a:r>
            <a:r>
              <a:rPr sz="3250" b="0" spc="-100" dirty="0">
                <a:solidFill>
                  <a:srgbClr val="080808"/>
                </a:solidFill>
                <a:latin typeface="Trebuchet MS" panose="020B0603020202020204"/>
                <a:cs typeface="Trebuchet MS" panose="020B0603020202020204"/>
              </a:rPr>
              <a:t>Time</a:t>
            </a:r>
            <a:r>
              <a:rPr sz="3250" b="0" spc="-120" dirty="0">
                <a:solidFill>
                  <a:srgbClr val="080808"/>
                </a:solidFill>
                <a:latin typeface="Trebuchet MS" panose="020B0603020202020204"/>
                <a:cs typeface="Trebuchet MS" panose="020B0603020202020204"/>
              </a:rPr>
              <a:t> </a:t>
            </a:r>
            <a:r>
              <a:rPr sz="3250" b="0" spc="-25" dirty="0">
                <a:solidFill>
                  <a:srgbClr val="161616"/>
                </a:solidFill>
                <a:latin typeface="Trebuchet MS" panose="020B0603020202020204"/>
                <a:cs typeface="Trebuchet MS" panose="020B0603020202020204"/>
              </a:rPr>
              <a:t>GUI </a:t>
            </a:r>
            <a:r>
              <a:rPr sz="3250" b="0" spc="-10" dirty="0">
                <a:solidFill>
                  <a:srgbClr val="0E0E0E"/>
                </a:solidFill>
                <a:latin typeface="Trebuchet MS" panose="020B0603020202020204"/>
                <a:cs typeface="Trebuchet MS" panose="020B0603020202020204"/>
              </a:rPr>
              <a:t>Architecture</a:t>
            </a:r>
            <a:endParaRPr sz="3250">
              <a:latin typeface="Trebuchet MS" panose="020B0603020202020204"/>
              <a:cs typeface="Trebuchet MS" panose="020B0603020202020204"/>
            </a:endParaRPr>
          </a:p>
          <a:p>
            <a:pPr marL="61595" marR="69215" indent="61595">
              <a:lnSpc>
                <a:spcPts val="2900"/>
              </a:lnSpc>
              <a:spcBef>
                <a:spcPts val="1180"/>
              </a:spcBef>
            </a:pPr>
            <a:r>
              <a:rPr sz="2500" spc="-55" dirty="0">
                <a:latin typeface="Arial MT"/>
                <a:cs typeface="Arial MT"/>
              </a:rPr>
              <a:t>Engineering</a:t>
            </a:r>
            <a:r>
              <a:rPr sz="2500" spc="-65" dirty="0">
                <a:latin typeface="Arial MT"/>
                <a:cs typeface="Arial MT"/>
              </a:rPr>
              <a:t> </a:t>
            </a:r>
            <a:r>
              <a:rPr sz="2500" spc="-145" dirty="0">
                <a:latin typeface="Arial MT"/>
                <a:cs typeface="Arial MT"/>
              </a:rPr>
              <a:t>a</a:t>
            </a:r>
            <a:r>
              <a:rPr sz="2500" spc="-220" dirty="0">
                <a:latin typeface="Arial MT"/>
                <a:cs typeface="Arial MT"/>
              </a:rPr>
              <a:t> </a:t>
            </a:r>
            <a:r>
              <a:rPr sz="2500" spc="-10" dirty="0">
                <a:latin typeface="Arial MT"/>
                <a:cs typeface="Arial MT"/>
              </a:rPr>
              <a:t>responsive, </a:t>
            </a:r>
            <a:r>
              <a:rPr sz="2500" spc="-35" dirty="0">
                <a:latin typeface="Arial MT"/>
                <a:cs typeface="Arial MT"/>
              </a:rPr>
              <a:t>data-</a:t>
            </a:r>
            <a:r>
              <a:rPr sz="2500" dirty="0">
                <a:latin typeface="Arial MT"/>
                <a:cs typeface="Arial MT"/>
              </a:rPr>
              <a:t>driven</a:t>
            </a:r>
            <a:r>
              <a:rPr sz="2500" spc="-40" dirty="0">
                <a:latin typeface="Arial MT"/>
                <a:cs typeface="Arial MT"/>
              </a:rPr>
              <a:t> user</a:t>
            </a:r>
            <a:r>
              <a:rPr sz="2500" spc="-120" dirty="0">
                <a:latin typeface="Arial MT"/>
                <a:cs typeface="Arial MT"/>
              </a:rPr>
              <a:t> </a:t>
            </a:r>
            <a:r>
              <a:rPr sz="2500" spc="-30" dirty="0">
                <a:latin typeface="Arial MT"/>
                <a:cs typeface="Arial MT"/>
              </a:rPr>
              <a:t>interface.</a:t>
            </a:r>
            <a:endParaRPr sz="2500">
              <a:latin typeface="Arial MT"/>
              <a:cs typeface="Arial MT"/>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object 5"/>
          <p:cNvSpPr txBox="1">
            <a:spLocks noGrp="1"/>
          </p:cNvSpPr>
          <p:nvPr>
            <p:ph type="ftr" sz="quarter" idx="5"/>
          </p:nvPr>
        </p:nvSpPr>
        <p:spPr>
          <a:prstGeom prst="rect">
            <a:avLst/>
          </a:prstGeom>
        </p:spPr>
        <p:txBody>
          <a:bodyPr vert="horz" wrap="square" lIns="0" tIns="0" rIns="0" bIns="0" rtlCol="0">
            <a:spAutoFit/>
          </a:bodyPr>
          <a:lstStyle/>
          <a:p>
            <a:pPr marL="12700">
              <a:lnSpc>
                <a:spcPts val="1555"/>
              </a:lnSpc>
            </a:pPr>
            <a:r>
              <a:rPr dirty="0"/>
              <a:t>G</a:t>
            </a:r>
            <a:r>
              <a:rPr spc="490" dirty="0"/>
              <a:t> </a:t>
            </a:r>
            <a:r>
              <a:rPr spc="-10" dirty="0"/>
              <a:t>NotebookLM</a:t>
            </a:r>
            <a:endParaRPr spc="-10" dirty="0"/>
          </a:p>
        </p:txBody>
      </p:sp>
      <p:sp>
        <p:nvSpPr>
          <p:cNvPr id="2" name="object 2"/>
          <p:cNvSpPr txBox="1">
            <a:spLocks noGrp="1"/>
          </p:cNvSpPr>
          <p:nvPr>
            <p:ph type="title"/>
          </p:nvPr>
        </p:nvSpPr>
        <p:spPr>
          <a:xfrm>
            <a:off x="648580" y="445205"/>
            <a:ext cx="15838370" cy="1121410"/>
          </a:xfrm>
          <a:prstGeom prst="rect">
            <a:avLst/>
          </a:prstGeom>
        </p:spPr>
        <p:txBody>
          <a:bodyPr vert="horz" wrap="square" lIns="0" tIns="291182" rIns="0" bIns="0" rtlCol="0">
            <a:spAutoFit/>
          </a:bodyPr>
          <a:lstStyle/>
          <a:p>
            <a:pPr marL="215265">
              <a:lnSpc>
                <a:spcPct val="100000"/>
              </a:lnSpc>
              <a:spcBef>
                <a:spcPts val="115"/>
              </a:spcBef>
            </a:pPr>
            <a:r>
              <a:rPr sz="5400" spc="-114" dirty="0">
                <a:latin typeface="Times New Roman" panose="02020603050405020304" charset="0"/>
                <a:cs typeface="Times New Roman" panose="02020603050405020304" charset="0"/>
              </a:rPr>
              <a:t>Pillar</a:t>
            </a:r>
            <a:r>
              <a:rPr sz="5400" spc="-390" dirty="0">
                <a:latin typeface="Times New Roman" panose="02020603050405020304" charset="0"/>
                <a:cs typeface="Times New Roman" panose="02020603050405020304" charset="0"/>
              </a:rPr>
              <a:t> </a:t>
            </a:r>
            <a:r>
              <a:rPr sz="5400" spc="-10" dirty="0">
                <a:solidFill>
                  <a:srgbClr val="161616"/>
                </a:solidFill>
                <a:latin typeface="Times New Roman" panose="02020603050405020304" charset="0"/>
                <a:cs typeface="Times New Roman" panose="02020603050405020304" charset="0"/>
              </a:rPr>
              <a:t>I:</a:t>
            </a:r>
            <a:r>
              <a:rPr sz="5400" spc="-715" dirty="0">
                <a:solidFill>
                  <a:srgbClr val="161616"/>
                </a:solidFill>
                <a:latin typeface="Times New Roman" panose="02020603050405020304" charset="0"/>
                <a:cs typeface="Times New Roman" panose="02020603050405020304" charset="0"/>
              </a:rPr>
              <a:t> </a:t>
            </a:r>
            <a:r>
              <a:rPr sz="5400" spc="-70" dirty="0">
                <a:solidFill>
                  <a:srgbClr val="161616"/>
                </a:solidFill>
                <a:latin typeface="Times New Roman" panose="02020603050405020304" charset="0"/>
                <a:cs typeface="Times New Roman" panose="02020603050405020304" charset="0"/>
              </a:rPr>
              <a:t>The</a:t>
            </a:r>
            <a:r>
              <a:rPr sz="5400" spc="-480" dirty="0">
                <a:solidFill>
                  <a:srgbClr val="161616"/>
                </a:solidFill>
                <a:latin typeface="Times New Roman" panose="02020603050405020304" charset="0"/>
                <a:cs typeface="Times New Roman" panose="02020603050405020304" charset="0"/>
              </a:rPr>
              <a:t> </a:t>
            </a:r>
            <a:r>
              <a:rPr sz="5400" dirty="0">
                <a:solidFill>
                  <a:srgbClr val="1A1A1A"/>
                </a:solidFill>
                <a:latin typeface="Times New Roman" panose="02020603050405020304" charset="0"/>
                <a:cs typeface="Times New Roman" panose="02020603050405020304" charset="0"/>
              </a:rPr>
              <a:t>Communication</a:t>
            </a:r>
            <a:r>
              <a:rPr sz="5400" spc="180" dirty="0">
                <a:solidFill>
                  <a:srgbClr val="1A1A1A"/>
                </a:solidFill>
                <a:latin typeface="Times New Roman" panose="02020603050405020304" charset="0"/>
                <a:cs typeface="Times New Roman" panose="02020603050405020304" charset="0"/>
              </a:rPr>
              <a:t> </a:t>
            </a:r>
            <a:r>
              <a:rPr sz="5400" spc="-10" dirty="0">
                <a:latin typeface="Times New Roman" panose="02020603050405020304" charset="0"/>
                <a:cs typeface="Times New Roman" panose="02020603050405020304" charset="0"/>
              </a:rPr>
              <a:t>Protocol</a:t>
            </a:r>
            <a:endParaRPr sz="5400">
              <a:latin typeface="Times New Roman" panose="02020603050405020304" charset="0"/>
              <a:cs typeface="Times New Roman" panose="02020603050405020304" charset="0"/>
            </a:endParaRPr>
          </a:p>
        </p:txBody>
      </p:sp>
      <p:sp>
        <p:nvSpPr>
          <p:cNvPr id="3" name="object 3"/>
          <p:cNvSpPr txBox="1"/>
          <p:nvPr/>
        </p:nvSpPr>
        <p:spPr>
          <a:xfrm>
            <a:off x="837264" y="1865136"/>
            <a:ext cx="15674975" cy="5852160"/>
          </a:xfrm>
          <a:prstGeom prst="rect">
            <a:avLst/>
          </a:prstGeom>
        </p:spPr>
        <p:txBody>
          <a:bodyPr vert="horz" wrap="square" lIns="0" tIns="83820" rIns="0" bIns="0" rtlCol="0">
            <a:spAutoFit/>
          </a:bodyPr>
          <a:lstStyle/>
          <a:p>
            <a:pPr marL="22225" marR="1685290" indent="6350">
              <a:lnSpc>
                <a:spcPct val="86000"/>
              </a:lnSpc>
              <a:spcBef>
                <a:spcPts val="660"/>
              </a:spcBef>
            </a:pPr>
            <a:r>
              <a:rPr sz="3200" spc="-85" dirty="0">
                <a:latin typeface="Times New Roman" panose="02020603050405020304" charset="0"/>
                <a:cs typeface="Times New Roman" panose="02020603050405020304" charset="0"/>
              </a:rPr>
              <a:t>The</a:t>
            </a:r>
            <a:r>
              <a:rPr sz="3200" spc="-390" dirty="0">
                <a:latin typeface="Times New Roman" panose="02020603050405020304" charset="0"/>
                <a:cs typeface="Times New Roman" panose="02020603050405020304" charset="0"/>
              </a:rPr>
              <a:t> </a:t>
            </a:r>
            <a:r>
              <a:rPr sz="3200" spc="-20" dirty="0">
                <a:latin typeface="Times New Roman" panose="02020603050405020304" charset="0"/>
                <a:cs typeface="Times New Roman" panose="02020603050405020304" charset="0"/>
              </a:rPr>
              <a:t>Challenge:</a:t>
            </a:r>
            <a:r>
              <a:rPr sz="3200" spc="-150" dirty="0">
                <a:latin typeface="Times New Roman" panose="02020603050405020304" charset="0"/>
                <a:cs typeface="Times New Roman" panose="02020603050405020304" charset="0"/>
              </a:rPr>
              <a:t> </a:t>
            </a:r>
            <a:r>
              <a:rPr sz="3200" spc="-85" dirty="0">
                <a:latin typeface="Times New Roman" panose="02020603050405020304" charset="0"/>
                <a:cs typeface="Times New Roman" panose="02020603050405020304" charset="0"/>
              </a:rPr>
              <a:t>How</a:t>
            </a:r>
            <a:r>
              <a:rPr sz="3200" spc="-114" dirty="0">
                <a:latin typeface="Times New Roman" panose="02020603050405020304" charset="0"/>
                <a:cs typeface="Times New Roman" panose="02020603050405020304" charset="0"/>
              </a:rPr>
              <a:t> </a:t>
            </a:r>
            <a:r>
              <a:rPr sz="3200" spc="-10" dirty="0">
                <a:latin typeface="Times New Roman" panose="02020603050405020304" charset="0"/>
                <a:cs typeface="Times New Roman" panose="02020603050405020304" charset="0"/>
              </a:rPr>
              <a:t>should</a:t>
            </a:r>
            <a:r>
              <a:rPr sz="3200" spc="-145" dirty="0">
                <a:latin typeface="Times New Roman" panose="02020603050405020304" charset="0"/>
                <a:cs typeface="Times New Roman" panose="02020603050405020304" charset="0"/>
              </a:rPr>
              <a:t> </a:t>
            </a:r>
            <a:r>
              <a:rPr sz="3200" spc="60" dirty="0">
                <a:latin typeface="Times New Roman" panose="02020603050405020304" charset="0"/>
                <a:cs typeface="Times New Roman" panose="02020603050405020304" charset="0"/>
              </a:rPr>
              <a:t>distributed</a:t>
            </a:r>
            <a:r>
              <a:rPr sz="3200" spc="-140" dirty="0">
                <a:latin typeface="Times New Roman" panose="02020603050405020304" charset="0"/>
                <a:cs typeface="Times New Roman" panose="02020603050405020304" charset="0"/>
              </a:rPr>
              <a:t> </a:t>
            </a:r>
            <a:r>
              <a:rPr sz="3200" dirty="0">
                <a:latin typeface="Times New Roman" panose="02020603050405020304" charset="0"/>
                <a:cs typeface="Times New Roman" panose="02020603050405020304" charset="0"/>
              </a:rPr>
              <a:t>components</a:t>
            </a:r>
            <a:r>
              <a:rPr sz="3200" spc="5" dirty="0">
                <a:latin typeface="Times New Roman" panose="02020603050405020304" charset="0"/>
                <a:cs typeface="Times New Roman" panose="02020603050405020304" charset="0"/>
              </a:rPr>
              <a:t> </a:t>
            </a:r>
            <a:r>
              <a:rPr sz="3200" dirty="0">
                <a:latin typeface="Times New Roman" panose="02020603050405020304" charset="0"/>
                <a:cs typeface="Times New Roman" panose="02020603050405020304" charset="0"/>
              </a:rPr>
              <a:t>communicate</a:t>
            </a:r>
            <a:r>
              <a:rPr sz="3200" spc="-10" dirty="0">
                <a:latin typeface="Times New Roman" panose="02020603050405020304" charset="0"/>
                <a:cs typeface="Times New Roman" panose="02020603050405020304" charset="0"/>
              </a:rPr>
              <a:t> reliably? </a:t>
            </a:r>
            <a:r>
              <a:rPr sz="3200" spc="-320" dirty="0">
                <a:latin typeface="Times New Roman" panose="02020603050405020304" charset="0"/>
                <a:cs typeface="Times New Roman" panose="02020603050405020304" charset="0"/>
              </a:rPr>
              <a:t>The</a:t>
            </a:r>
            <a:r>
              <a:rPr sz="3200" spc="-400" dirty="0">
                <a:latin typeface="Times New Roman" panose="02020603050405020304" charset="0"/>
                <a:cs typeface="Times New Roman" panose="02020603050405020304" charset="0"/>
              </a:rPr>
              <a:t> </a:t>
            </a:r>
            <a:r>
              <a:rPr sz="3200" spc="-335" dirty="0">
                <a:latin typeface="Times New Roman" panose="02020603050405020304" charset="0"/>
                <a:cs typeface="Times New Roman" panose="02020603050405020304" charset="0"/>
              </a:rPr>
              <a:t>project</a:t>
            </a:r>
            <a:r>
              <a:rPr sz="3200" spc="-350" dirty="0">
                <a:latin typeface="Times New Roman" panose="02020603050405020304" charset="0"/>
                <a:cs typeface="Times New Roman" panose="02020603050405020304" charset="0"/>
              </a:rPr>
              <a:t> </a:t>
            </a:r>
            <a:r>
              <a:rPr sz="3200" spc="-320" dirty="0">
                <a:latin typeface="Times New Roman" panose="02020603050405020304" charset="0"/>
                <a:cs typeface="Times New Roman" panose="02020603050405020304" charset="0"/>
              </a:rPr>
              <a:t>requirements</a:t>
            </a:r>
            <a:r>
              <a:rPr sz="3200" spc="20" dirty="0">
                <a:latin typeface="Times New Roman" panose="02020603050405020304" charset="0"/>
                <a:cs typeface="Times New Roman" panose="02020603050405020304" charset="0"/>
              </a:rPr>
              <a:t> </a:t>
            </a:r>
            <a:r>
              <a:rPr sz="3200" spc="-355" dirty="0">
                <a:latin typeface="Times New Roman" panose="02020603050405020304" charset="0"/>
                <a:cs typeface="Times New Roman" panose="02020603050405020304" charset="0"/>
              </a:rPr>
              <a:t>allowed</a:t>
            </a:r>
            <a:r>
              <a:rPr sz="3200" spc="-270" dirty="0">
                <a:latin typeface="Times New Roman" panose="02020603050405020304" charset="0"/>
                <a:cs typeface="Times New Roman" panose="02020603050405020304" charset="0"/>
              </a:rPr>
              <a:t> </a:t>
            </a:r>
            <a:r>
              <a:rPr lang="en-US" altLang="en-US" sz="3200" spc="-270" dirty="0">
                <a:latin typeface="Times New Roman" panose="02020603050405020304" charset="0"/>
                <a:cs typeface="Times New Roman" panose="02020603050405020304" charset="0"/>
              </a:rPr>
              <a:t>for</a:t>
            </a:r>
            <a:r>
              <a:rPr sz="3200" spc="-380" dirty="0">
                <a:latin typeface="Times New Roman" panose="02020603050405020304" charset="0"/>
                <a:cs typeface="Times New Roman" panose="02020603050405020304" charset="0"/>
              </a:rPr>
              <a:t> </a:t>
            </a:r>
            <a:r>
              <a:rPr sz="3200" spc="-254" dirty="0">
                <a:latin typeface="Times New Roman" panose="02020603050405020304" charset="0"/>
                <a:cs typeface="Times New Roman" panose="02020603050405020304" charset="0"/>
              </a:rPr>
              <a:t>the</a:t>
            </a:r>
            <a:r>
              <a:rPr sz="3200" spc="-370" dirty="0">
                <a:latin typeface="Times New Roman" panose="02020603050405020304" charset="0"/>
                <a:cs typeface="Times New Roman" panose="02020603050405020304" charset="0"/>
              </a:rPr>
              <a:t> </a:t>
            </a:r>
            <a:r>
              <a:rPr sz="3200" spc="-210" dirty="0">
                <a:latin typeface="Times New Roman" panose="02020603050405020304" charset="0"/>
                <a:cs typeface="Times New Roman" panose="02020603050405020304" charset="0"/>
              </a:rPr>
              <a:t>use</a:t>
            </a:r>
            <a:r>
              <a:rPr sz="3200" spc="-370" dirty="0">
                <a:latin typeface="Times New Roman" panose="02020603050405020304" charset="0"/>
                <a:cs typeface="Times New Roman" panose="02020603050405020304" charset="0"/>
              </a:rPr>
              <a:t> </a:t>
            </a:r>
            <a:r>
              <a:rPr sz="3200" spc="-305" dirty="0">
                <a:latin typeface="Times New Roman" panose="02020603050405020304" charset="0"/>
                <a:cs typeface="Times New Roman" panose="02020603050405020304" charset="0"/>
              </a:rPr>
              <a:t>of</a:t>
            </a:r>
            <a:r>
              <a:rPr sz="3200" spc="-220" dirty="0">
                <a:latin typeface="Times New Roman" panose="02020603050405020304" charset="0"/>
                <a:cs typeface="Times New Roman" panose="02020603050405020304" charset="0"/>
              </a:rPr>
              <a:t> </a:t>
            </a:r>
            <a:r>
              <a:rPr sz="3200" spc="-360" dirty="0">
                <a:latin typeface="Times New Roman" panose="02020603050405020304" charset="0"/>
                <a:cs typeface="Times New Roman" panose="02020603050405020304" charset="0"/>
              </a:rPr>
              <a:t>MAVLink,</a:t>
            </a:r>
            <a:r>
              <a:rPr sz="3200" spc="-260" dirty="0">
                <a:latin typeface="Times New Roman" panose="02020603050405020304" charset="0"/>
                <a:cs typeface="Times New Roman" panose="02020603050405020304" charset="0"/>
              </a:rPr>
              <a:t> </a:t>
            </a:r>
            <a:r>
              <a:rPr sz="3200" spc="-385" dirty="0">
                <a:latin typeface="Times New Roman" panose="02020603050405020304" charset="0"/>
                <a:cs typeface="Times New Roman" panose="02020603050405020304" charset="0"/>
              </a:rPr>
              <a:t>a</a:t>
            </a:r>
            <a:r>
              <a:rPr sz="3200" spc="-325" dirty="0">
                <a:latin typeface="Times New Roman" panose="02020603050405020304" charset="0"/>
                <a:cs typeface="Times New Roman" panose="02020603050405020304" charset="0"/>
              </a:rPr>
              <a:t> </a:t>
            </a:r>
            <a:r>
              <a:rPr sz="3200" spc="-280" dirty="0">
                <a:latin typeface="Times New Roman" panose="02020603050405020304" charset="0"/>
                <a:cs typeface="Times New Roman" panose="02020603050405020304" charset="0"/>
              </a:rPr>
              <a:t>standard</a:t>
            </a:r>
            <a:r>
              <a:rPr sz="3200" spc="-185" dirty="0">
                <a:latin typeface="Times New Roman" panose="02020603050405020304" charset="0"/>
                <a:cs typeface="Times New Roman" panose="02020603050405020304" charset="0"/>
              </a:rPr>
              <a:t> </a:t>
            </a:r>
            <a:r>
              <a:rPr sz="3200" spc="-310" dirty="0">
                <a:latin typeface="Times New Roman" panose="02020603050405020304" charset="0"/>
                <a:cs typeface="Times New Roman" panose="02020603050405020304" charset="0"/>
              </a:rPr>
              <a:t>drone </a:t>
            </a:r>
            <a:r>
              <a:rPr sz="3200" spc="-340" dirty="0">
                <a:latin typeface="Times New Roman" panose="02020603050405020304" charset="0"/>
                <a:cs typeface="Times New Roman" panose="02020603050405020304" charset="0"/>
              </a:rPr>
              <a:t>protocol,</a:t>
            </a:r>
            <a:r>
              <a:rPr sz="3200" spc="-145" dirty="0">
                <a:latin typeface="Times New Roman" panose="02020603050405020304" charset="0"/>
                <a:cs typeface="Times New Roman" panose="02020603050405020304" charset="0"/>
              </a:rPr>
              <a:t> </a:t>
            </a:r>
            <a:r>
              <a:rPr sz="3200" spc="-325" dirty="0">
                <a:latin typeface="Times New Roman" panose="02020603050405020304" charset="0"/>
                <a:cs typeface="Times New Roman" panose="02020603050405020304" charset="0"/>
              </a:rPr>
              <a:t>or</a:t>
            </a:r>
            <a:r>
              <a:rPr sz="3200" spc="-445" dirty="0">
                <a:latin typeface="Times New Roman" panose="02020603050405020304" charset="0"/>
                <a:cs typeface="Times New Roman" panose="02020603050405020304" charset="0"/>
              </a:rPr>
              <a:t> </a:t>
            </a:r>
            <a:r>
              <a:rPr sz="3200" spc="-280" dirty="0">
                <a:latin typeface="Times New Roman" panose="02020603050405020304" charset="0"/>
                <a:cs typeface="Times New Roman" panose="02020603050405020304" charset="0"/>
              </a:rPr>
              <a:t>the </a:t>
            </a:r>
            <a:r>
              <a:rPr sz="3200" spc="-340" dirty="0">
                <a:latin typeface="Times New Roman" panose="02020603050405020304" charset="0"/>
                <a:cs typeface="Times New Roman" panose="02020603050405020304" charset="0"/>
              </a:rPr>
              <a:t>development</a:t>
            </a:r>
            <a:r>
              <a:rPr sz="3200" spc="-135" dirty="0">
                <a:latin typeface="Times New Roman" panose="02020603050405020304" charset="0"/>
                <a:cs typeface="Times New Roman" panose="02020603050405020304" charset="0"/>
              </a:rPr>
              <a:t> </a:t>
            </a:r>
            <a:r>
              <a:rPr sz="3200" spc="-120" dirty="0">
                <a:latin typeface="Times New Roman" panose="02020603050405020304" charset="0"/>
                <a:cs typeface="Times New Roman" panose="02020603050405020304" charset="0"/>
              </a:rPr>
              <a:t>ofa</a:t>
            </a:r>
            <a:r>
              <a:rPr sz="3200" spc="-415" dirty="0">
                <a:latin typeface="Times New Roman" panose="02020603050405020304" charset="0"/>
                <a:cs typeface="Times New Roman" panose="02020603050405020304" charset="0"/>
              </a:rPr>
              <a:t> </a:t>
            </a:r>
            <a:r>
              <a:rPr sz="3200" spc="-270" dirty="0">
                <a:latin typeface="Times New Roman" panose="02020603050405020304" charset="0"/>
                <a:cs typeface="Times New Roman" panose="02020603050405020304" charset="0"/>
              </a:rPr>
              <a:t>custom</a:t>
            </a:r>
            <a:r>
              <a:rPr sz="3200" spc="-290" dirty="0">
                <a:latin typeface="Times New Roman" panose="02020603050405020304" charset="0"/>
                <a:cs typeface="Times New Roman" panose="02020603050405020304" charset="0"/>
              </a:rPr>
              <a:t> </a:t>
            </a:r>
            <a:r>
              <a:rPr sz="3200" spc="-350" dirty="0">
                <a:latin typeface="Times New Roman" panose="02020603050405020304" charset="0"/>
                <a:cs typeface="Times New Roman" panose="02020603050405020304" charset="0"/>
              </a:rPr>
              <a:t>protocol.</a:t>
            </a:r>
            <a:endParaRPr sz="3200">
              <a:latin typeface="Times New Roman" panose="02020603050405020304" charset="0"/>
              <a:cs typeface="Times New Roman" panose="02020603050405020304" charset="0"/>
            </a:endParaRPr>
          </a:p>
          <a:p>
            <a:pPr marL="34925">
              <a:lnSpc>
                <a:spcPct val="100000"/>
              </a:lnSpc>
              <a:spcBef>
                <a:spcPts val="1390"/>
              </a:spcBef>
            </a:pPr>
            <a:r>
              <a:rPr sz="3400" spc="-125" dirty="0">
                <a:solidFill>
                  <a:srgbClr val="0C0C0C"/>
                </a:solidFill>
                <a:latin typeface="Times New Roman" panose="02020603050405020304" charset="0"/>
                <a:cs typeface="Times New Roman" panose="02020603050405020304" charset="0"/>
              </a:rPr>
              <a:t>The</a:t>
            </a:r>
            <a:r>
              <a:rPr sz="3400" spc="-409" dirty="0">
                <a:solidFill>
                  <a:srgbClr val="0C0C0C"/>
                </a:solidFill>
                <a:latin typeface="Times New Roman" panose="02020603050405020304" charset="0"/>
                <a:cs typeface="Times New Roman" panose="02020603050405020304" charset="0"/>
              </a:rPr>
              <a:t> </a:t>
            </a:r>
            <a:r>
              <a:rPr sz="3400" spc="-120" dirty="0">
                <a:solidFill>
                  <a:srgbClr val="050505"/>
                </a:solidFill>
                <a:latin typeface="Times New Roman" panose="02020603050405020304" charset="0"/>
                <a:cs typeface="Times New Roman" panose="02020603050405020304" charset="0"/>
              </a:rPr>
              <a:t>Rationale:</a:t>
            </a:r>
            <a:r>
              <a:rPr sz="3400" spc="-250" dirty="0">
                <a:solidFill>
                  <a:srgbClr val="050505"/>
                </a:solidFill>
                <a:latin typeface="Times New Roman" panose="02020603050405020304" charset="0"/>
                <a:cs typeface="Times New Roman" panose="02020603050405020304" charset="0"/>
              </a:rPr>
              <a:t> </a:t>
            </a:r>
            <a:r>
              <a:rPr sz="3400" spc="-95" dirty="0">
                <a:solidFill>
                  <a:srgbClr val="050505"/>
                </a:solidFill>
                <a:latin typeface="Times New Roman" panose="02020603050405020304" charset="0"/>
                <a:cs typeface="Times New Roman" panose="02020603050405020304" charset="0"/>
              </a:rPr>
              <a:t>Why</a:t>
            </a:r>
            <a:r>
              <a:rPr sz="3400" spc="-280" dirty="0">
                <a:solidFill>
                  <a:srgbClr val="050505"/>
                </a:solidFill>
                <a:latin typeface="Times New Roman" panose="02020603050405020304" charset="0"/>
                <a:cs typeface="Times New Roman" panose="02020603050405020304" charset="0"/>
              </a:rPr>
              <a:t> </a:t>
            </a:r>
            <a:r>
              <a:rPr sz="3400" spc="-185" dirty="0">
                <a:solidFill>
                  <a:srgbClr val="0E0E0E"/>
                </a:solidFill>
                <a:latin typeface="Times New Roman" panose="02020603050405020304" charset="0"/>
                <a:cs typeface="Times New Roman" panose="02020603050405020304" charset="0"/>
              </a:rPr>
              <a:t>a</a:t>
            </a:r>
            <a:r>
              <a:rPr sz="3400" spc="-335" dirty="0">
                <a:solidFill>
                  <a:srgbClr val="0E0E0E"/>
                </a:solidFill>
                <a:latin typeface="Times New Roman" panose="02020603050405020304" charset="0"/>
                <a:cs typeface="Times New Roman" panose="02020603050405020304" charset="0"/>
              </a:rPr>
              <a:t> </a:t>
            </a:r>
            <a:r>
              <a:rPr sz="3400" spc="-50" dirty="0">
                <a:latin typeface="Times New Roman" panose="02020603050405020304" charset="0"/>
                <a:cs typeface="Times New Roman" panose="02020603050405020304" charset="0"/>
              </a:rPr>
              <a:t>Custom</a:t>
            </a:r>
            <a:r>
              <a:rPr sz="3400" spc="-335" dirty="0">
                <a:latin typeface="Times New Roman" panose="02020603050405020304" charset="0"/>
                <a:cs typeface="Times New Roman" panose="02020603050405020304" charset="0"/>
              </a:rPr>
              <a:t> </a:t>
            </a:r>
            <a:r>
              <a:rPr sz="3400" spc="-85" dirty="0">
                <a:latin typeface="Times New Roman" panose="02020603050405020304" charset="0"/>
                <a:cs typeface="Times New Roman" panose="02020603050405020304" charset="0"/>
              </a:rPr>
              <a:t>JSON-</a:t>
            </a:r>
            <a:r>
              <a:rPr sz="3400" spc="-75" dirty="0">
                <a:latin typeface="Times New Roman" panose="02020603050405020304" charset="0"/>
                <a:cs typeface="Times New Roman" panose="02020603050405020304" charset="0"/>
              </a:rPr>
              <a:t>over-</a:t>
            </a:r>
            <a:r>
              <a:rPr sz="3400" dirty="0">
                <a:latin typeface="Times New Roman" panose="02020603050405020304" charset="0"/>
                <a:cs typeface="Times New Roman" panose="02020603050405020304" charset="0"/>
              </a:rPr>
              <a:t>TCP</a:t>
            </a:r>
            <a:r>
              <a:rPr sz="3400" spc="20" dirty="0">
                <a:latin typeface="Times New Roman" panose="02020603050405020304" charset="0"/>
                <a:cs typeface="Times New Roman" panose="02020603050405020304" charset="0"/>
              </a:rPr>
              <a:t> </a:t>
            </a:r>
            <a:r>
              <a:rPr sz="3400" spc="-10" dirty="0">
                <a:latin typeface="Times New Roman" panose="02020603050405020304" charset="0"/>
                <a:cs typeface="Times New Roman" panose="02020603050405020304" charset="0"/>
              </a:rPr>
              <a:t>Protocol?</a:t>
            </a:r>
            <a:endParaRPr sz="3400">
              <a:latin typeface="Trebuchet MS" panose="020B0603020202020204"/>
              <a:cs typeface="Trebuchet MS" panose="020B0603020202020204"/>
            </a:endParaRPr>
          </a:p>
          <a:p>
            <a:pPr marL="783590" marR="5080" indent="-473075">
              <a:lnSpc>
                <a:spcPts val="3200"/>
              </a:lnSpc>
              <a:spcBef>
                <a:spcPts val="410"/>
              </a:spcBef>
              <a:buChar char="•"/>
              <a:tabLst>
                <a:tab pos="788035" algn="l"/>
              </a:tabLst>
            </a:pPr>
            <a:r>
              <a:rPr sz="2950" dirty="0">
                <a:latin typeface="Times New Roman" panose="02020603050405020304" charset="0"/>
                <a:cs typeface="Times New Roman" panose="02020603050405020304" charset="0"/>
              </a:rPr>
              <a:t>Simplicity</a:t>
            </a:r>
            <a:r>
              <a:rPr sz="2950" spc="5" dirty="0">
                <a:latin typeface="Times New Roman" panose="02020603050405020304" charset="0"/>
                <a:cs typeface="Times New Roman" panose="02020603050405020304" charset="0"/>
              </a:rPr>
              <a:t> </a:t>
            </a:r>
            <a:r>
              <a:rPr sz="2950" spc="-125" dirty="0">
                <a:latin typeface="Times New Roman" panose="02020603050405020304" charset="0"/>
                <a:cs typeface="Times New Roman" panose="02020603050405020304" charset="0"/>
              </a:rPr>
              <a:t>&amp;</a:t>
            </a:r>
            <a:r>
              <a:rPr sz="2950" spc="-465" dirty="0">
                <a:latin typeface="Times New Roman" panose="02020603050405020304" charset="0"/>
                <a:cs typeface="Times New Roman" panose="02020603050405020304" charset="0"/>
              </a:rPr>
              <a:t> </a:t>
            </a:r>
            <a:r>
              <a:rPr sz="2950" dirty="0">
                <a:latin typeface="Times New Roman" panose="02020603050405020304" charset="0"/>
                <a:cs typeface="Times New Roman" panose="02020603050405020304" charset="0"/>
              </a:rPr>
              <a:t>Debuggability:</a:t>
            </a:r>
            <a:r>
              <a:rPr sz="2950" spc="-350" dirty="0">
                <a:latin typeface="Times New Roman" panose="02020603050405020304" charset="0"/>
                <a:cs typeface="Times New Roman" panose="02020603050405020304" charset="0"/>
              </a:rPr>
              <a:t> </a:t>
            </a:r>
            <a:r>
              <a:rPr sz="2950" spc="-340" dirty="0">
                <a:latin typeface="Times New Roman" panose="02020603050405020304" charset="0"/>
                <a:cs typeface="Times New Roman" panose="02020603050405020304" charset="0"/>
              </a:rPr>
              <a:t>JSON</a:t>
            </a:r>
            <a:r>
              <a:rPr sz="2950" spc="-245" dirty="0">
                <a:latin typeface="Times New Roman" panose="02020603050405020304" charset="0"/>
                <a:cs typeface="Times New Roman" panose="02020603050405020304" charset="0"/>
              </a:rPr>
              <a:t> </a:t>
            </a:r>
            <a:r>
              <a:rPr sz="2950" spc="-40" dirty="0">
                <a:latin typeface="Times New Roman" panose="02020603050405020304" charset="0"/>
                <a:cs typeface="Times New Roman" panose="02020603050405020304" charset="0"/>
              </a:rPr>
              <a:t>is</a:t>
            </a:r>
            <a:r>
              <a:rPr sz="2950" spc="-375" dirty="0">
                <a:latin typeface="Times New Roman" panose="02020603050405020304" charset="0"/>
                <a:cs typeface="Times New Roman" panose="02020603050405020304" charset="0"/>
              </a:rPr>
              <a:t> </a:t>
            </a:r>
            <a:r>
              <a:rPr sz="2950" spc="-130" dirty="0">
                <a:latin typeface="Times New Roman" panose="02020603050405020304" charset="0"/>
                <a:cs typeface="Times New Roman" panose="02020603050405020304" charset="0"/>
              </a:rPr>
              <a:t>human-</a:t>
            </a:r>
            <a:r>
              <a:rPr sz="2950" spc="-110" dirty="0">
                <a:latin typeface="Times New Roman" panose="02020603050405020304" charset="0"/>
                <a:cs typeface="Times New Roman" panose="02020603050405020304" charset="0"/>
              </a:rPr>
              <a:t>readable,</a:t>
            </a:r>
            <a:r>
              <a:rPr sz="2950" spc="-135" dirty="0">
                <a:latin typeface="Times New Roman" panose="02020603050405020304" charset="0"/>
                <a:cs typeface="Times New Roman" panose="02020603050405020304" charset="0"/>
              </a:rPr>
              <a:t> </a:t>
            </a:r>
            <a:r>
              <a:rPr sz="2950" spc="-150" dirty="0">
                <a:latin typeface="Times New Roman" panose="02020603050405020304" charset="0"/>
                <a:cs typeface="Times New Roman" panose="02020603050405020304" charset="0"/>
              </a:rPr>
              <a:t>making</a:t>
            </a:r>
            <a:r>
              <a:rPr sz="2950" spc="-160" dirty="0">
                <a:latin typeface="Times New Roman" panose="02020603050405020304" charset="0"/>
                <a:cs typeface="Times New Roman" panose="02020603050405020304" charset="0"/>
              </a:rPr>
              <a:t> </a:t>
            </a:r>
            <a:r>
              <a:rPr sz="2950" dirty="0">
                <a:latin typeface="Times New Roman" panose="02020603050405020304" charset="0"/>
                <a:cs typeface="Times New Roman" panose="02020603050405020304" charset="0"/>
              </a:rPr>
              <a:t>it</a:t>
            </a:r>
            <a:r>
              <a:rPr sz="2950" spc="160" dirty="0">
                <a:latin typeface="Times New Roman" panose="02020603050405020304" charset="0"/>
                <a:cs typeface="Times New Roman" panose="02020603050405020304" charset="0"/>
              </a:rPr>
              <a:t> </a:t>
            </a:r>
            <a:r>
              <a:rPr sz="2950" spc="-195" dirty="0">
                <a:latin typeface="Times New Roman" panose="02020603050405020304" charset="0"/>
                <a:cs typeface="Times New Roman" panose="02020603050405020304" charset="0"/>
              </a:rPr>
              <a:t>easy</a:t>
            </a:r>
            <a:r>
              <a:rPr sz="2950" spc="-130" dirty="0">
                <a:latin typeface="Times New Roman" panose="02020603050405020304" charset="0"/>
                <a:cs typeface="Times New Roman" panose="02020603050405020304" charset="0"/>
              </a:rPr>
              <a:t> </a:t>
            </a:r>
            <a:r>
              <a:rPr sz="2950" spc="80" dirty="0">
                <a:latin typeface="Times New Roman" panose="02020603050405020304" charset="0"/>
                <a:cs typeface="Times New Roman" panose="02020603050405020304" charset="0"/>
              </a:rPr>
              <a:t>to</a:t>
            </a:r>
            <a:r>
              <a:rPr sz="2950" spc="-290" dirty="0">
                <a:latin typeface="Times New Roman" panose="02020603050405020304" charset="0"/>
                <a:cs typeface="Times New Roman" panose="02020603050405020304" charset="0"/>
              </a:rPr>
              <a:t> </a:t>
            </a:r>
            <a:r>
              <a:rPr sz="2950" spc="-65" dirty="0">
                <a:latin typeface="Times New Roman" panose="02020603050405020304" charset="0"/>
                <a:cs typeface="Times New Roman" panose="02020603050405020304" charset="0"/>
              </a:rPr>
              <a:t>inspect</a:t>
            </a:r>
            <a:r>
              <a:rPr sz="2950" spc="30" dirty="0">
                <a:latin typeface="Times New Roman" panose="02020603050405020304" charset="0"/>
                <a:cs typeface="Times New Roman" panose="02020603050405020304" charset="0"/>
              </a:rPr>
              <a:t> </a:t>
            </a:r>
            <a:r>
              <a:rPr sz="2950" spc="-160" dirty="0">
                <a:latin typeface="Times New Roman" panose="02020603050405020304" charset="0"/>
                <a:cs typeface="Times New Roman" panose="02020603050405020304" charset="0"/>
              </a:rPr>
              <a:t>messages</a:t>
            </a:r>
            <a:r>
              <a:rPr sz="2950" spc="-50" dirty="0">
                <a:latin typeface="Times New Roman" panose="02020603050405020304" charset="0"/>
                <a:cs typeface="Times New Roman" panose="02020603050405020304" charset="0"/>
              </a:rPr>
              <a:t> </a:t>
            </a:r>
            <a:r>
              <a:rPr sz="2950" spc="-35" dirty="0">
                <a:latin typeface="Times New Roman" panose="02020603050405020304" charset="0"/>
                <a:cs typeface="Times New Roman" panose="02020603050405020304" charset="0"/>
              </a:rPr>
              <a:t>during 	</a:t>
            </a:r>
            <a:r>
              <a:rPr sz="2950" spc="-100" dirty="0">
                <a:latin typeface="Times New Roman" panose="02020603050405020304" charset="0"/>
                <a:cs typeface="Times New Roman" panose="02020603050405020304" charset="0"/>
              </a:rPr>
              <a:t>development</a:t>
            </a:r>
            <a:r>
              <a:rPr sz="2950" spc="50" dirty="0">
                <a:latin typeface="Times New Roman" panose="02020603050405020304" charset="0"/>
                <a:cs typeface="Times New Roman" panose="02020603050405020304" charset="0"/>
              </a:rPr>
              <a:t> </a:t>
            </a:r>
            <a:r>
              <a:rPr sz="2950" spc="-20" dirty="0">
                <a:latin typeface="Times New Roman" panose="02020603050405020304" charset="0"/>
                <a:cs typeface="Times New Roman" panose="02020603050405020304" charset="0"/>
              </a:rPr>
              <a:t>without</a:t>
            </a:r>
            <a:r>
              <a:rPr sz="2950" spc="-160" dirty="0">
                <a:latin typeface="Times New Roman" panose="02020603050405020304" charset="0"/>
                <a:cs typeface="Times New Roman" panose="02020603050405020304" charset="0"/>
              </a:rPr>
              <a:t> </a:t>
            </a:r>
            <a:r>
              <a:rPr sz="2950" spc="-120" dirty="0">
                <a:latin typeface="Times New Roman" panose="02020603050405020304" charset="0"/>
                <a:cs typeface="Times New Roman" panose="02020603050405020304" charset="0"/>
              </a:rPr>
              <a:t>specialized</a:t>
            </a:r>
            <a:r>
              <a:rPr sz="2950" spc="-220" dirty="0">
                <a:latin typeface="Times New Roman" panose="02020603050405020304" charset="0"/>
                <a:cs typeface="Times New Roman" panose="02020603050405020304" charset="0"/>
              </a:rPr>
              <a:t> </a:t>
            </a:r>
            <a:r>
              <a:rPr sz="2950" spc="-10" dirty="0">
                <a:latin typeface="Times New Roman" panose="02020603050405020304" charset="0"/>
                <a:cs typeface="Times New Roman" panose="02020603050405020304" charset="0"/>
              </a:rPr>
              <a:t>tools.</a:t>
            </a:r>
            <a:endParaRPr sz="2950">
              <a:latin typeface="Times New Roman" panose="02020603050405020304" charset="0"/>
              <a:cs typeface="Times New Roman" panose="02020603050405020304" charset="0"/>
            </a:endParaRPr>
          </a:p>
          <a:p>
            <a:pPr marL="782320" marR="1940560" indent="-485140">
              <a:lnSpc>
                <a:spcPts val="3200"/>
              </a:lnSpc>
              <a:spcBef>
                <a:spcPts val="500"/>
              </a:spcBef>
              <a:buChar char="•"/>
              <a:tabLst>
                <a:tab pos="787400" algn="l"/>
                <a:tab pos="5208270" algn="l"/>
              </a:tabLst>
            </a:pPr>
            <a:r>
              <a:rPr sz="3100" spc="-204" dirty="0">
                <a:latin typeface="Times New Roman" panose="02020603050405020304" charset="0"/>
                <a:cs typeface="Times New Roman" panose="02020603050405020304" charset="0"/>
              </a:rPr>
              <a:t>Rapid</a:t>
            </a:r>
            <a:r>
              <a:rPr sz="3100" spc="-195" dirty="0">
                <a:latin typeface="Times New Roman" panose="02020603050405020304" charset="0"/>
                <a:cs typeface="Times New Roman" panose="02020603050405020304" charset="0"/>
              </a:rPr>
              <a:t> </a:t>
            </a:r>
            <a:r>
              <a:rPr sz="3100" spc="-155" dirty="0">
                <a:latin typeface="Times New Roman" panose="02020603050405020304" charset="0"/>
                <a:cs typeface="Times New Roman" panose="02020603050405020304" charset="0"/>
              </a:rPr>
              <a:t>Development:</a:t>
            </a:r>
            <a:r>
              <a:rPr sz="3100" spc="-25" dirty="0">
                <a:latin typeface="Times New Roman" panose="02020603050405020304" charset="0"/>
                <a:cs typeface="Times New Roman" panose="02020603050405020304" charset="0"/>
              </a:rPr>
              <a:t> </a:t>
            </a:r>
            <a:r>
              <a:rPr sz="3100" spc="-10" dirty="0">
                <a:latin typeface="Times New Roman" panose="02020603050405020304" charset="0"/>
                <a:cs typeface="Times New Roman" panose="02020603050405020304" charset="0"/>
              </a:rPr>
              <a:t>Rust's</a:t>
            </a:r>
            <a:r>
              <a:rPr sz="3100" dirty="0">
                <a:latin typeface="Times New Roman" panose="02020603050405020304" charset="0"/>
                <a:cs typeface="Times New Roman" panose="02020603050405020304" charset="0"/>
              </a:rPr>
              <a:t>	</a:t>
            </a:r>
            <a:r>
              <a:rPr sz="3100" spc="-210" dirty="0">
                <a:latin typeface="Times New Roman" panose="02020603050405020304" charset="0"/>
                <a:cs typeface="Times New Roman" panose="02020603050405020304" charset="0"/>
              </a:rPr>
              <a:t>serde“</a:t>
            </a:r>
            <a:r>
              <a:rPr sz="3100" spc="-135" dirty="0">
                <a:latin typeface="Times New Roman" panose="02020603050405020304" charset="0"/>
                <a:cs typeface="Times New Roman" panose="02020603050405020304" charset="0"/>
              </a:rPr>
              <a:t> </a:t>
            </a:r>
            <a:r>
              <a:rPr sz="3100" spc="-160" dirty="0">
                <a:latin typeface="Times New Roman" panose="02020603050405020304" charset="0"/>
                <a:cs typeface="Times New Roman" panose="02020603050405020304" charset="0"/>
              </a:rPr>
              <a:t>library</a:t>
            </a:r>
            <a:r>
              <a:rPr sz="3100" spc="-114" dirty="0">
                <a:latin typeface="Times New Roman" panose="02020603050405020304" charset="0"/>
                <a:cs typeface="Times New Roman" panose="02020603050405020304" charset="0"/>
              </a:rPr>
              <a:t> </a:t>
            </a:r>
            <a:r>
              <a:rPr sz="3100" spc="-200" dirty="0">
                <a:latin typeface="Times New Roman" panose="02020603050405020304" charset="0"/>
                <a:cs typeface="Times New Roman" panose="02020603050405020304" charset="0"/>
              </a:rPr>
              <a:t>provides</a:t>
            </a:r>
            <a:r>
              <a:rPr sz="3100" spc="-80" dirty="0">
                <a:latin typeface="Times New Roman" panose="02020603050405020304" charset="0"/>
                <a:cs typeface="Times New Roman" panose="02020603050405020304" charset="0"/>
              </a:rPr>
              <a:t> </a:t>
            </a:r>
            <a:r>
              <a:rPr sz="3100" spc="-170" dirty="0">
                <a:latin typeface="Times New Roman" panose="02020603050405020304" charset="0"/>
                <a:cs typeface="Times New Roman" panose="02020603050405020304" charset="0"/>
              </a:rPr>
              <a:t>robust,</a:t>
            </a:r>
            <a:r>
              <a:rPr sz="3100" dirty="0">
                <a:latin typeface="Times New Roman" panose="02020603050405020304" charset="0"/>
                <a:cs typeface="Times New Roman" panose="02020603050405020304" charset="0"/>
              </a:rPr>
              <a:t> </a:t>
            </a:r>
            <a:r>
              <a:rPr sz="3100" spc="-185" dirty="0">
                <a:latin typeface="Times New Roman" panose="02020603050405020304" charset="0"/>
                <a:cs typeface="Times New Roman" panose="02020603050405020304" charset="0"/>
              </a:rPr>
              <a:t>one-</a:t>
            </a:r>
            <a:r>
              <a:rPr sz="3100" spc="-145" dirty="0">
                <a:latin typeface="Times New Roman" panose="02020603050405020304" charset="0"/>
                <a:cs typeface="Times New Roman" panose="02020603050405020304" charset="0"/>
              </a:rPr>
              <a:t>line</a:t>
            </a:r>
            <a:r>
              <a:rPr sz="3100" spc="-95" dirty="0">
                <a:latin typeface="Times New Roman" panose="02020603050405020304" charset="0"/>
                <a:cs typeface="Times New Roman" panose="02020603050405020304" charset="0"/>
              </a:rPr>
              <a:t> </a:t>
            </a:r>
            <a:r>
              <a:rPr sz="3100" spc="-165" dirty="0">
                <a:latin typeface="Times New Roman" panose="02020603050405020304" charset="0"/>
                <a:cs typeface="Times New Roman" panose="02020603050405020304" charset="0"/>
              </a:rPr>
              <a:t>serialization</a:t>
            </a:r>
            <a:r>
              <a:rPr sz="3100" spc="-35" dirty="0">
                <a:latin typeface="Times New Roman" panose="02020603050405020304" charset="0"/>
                <a:cs typeface="Times New Roman" panose="02020603050405020304" charset="0"/>
              </a:rPr>
              <a:t> </a:t>
            </a:r>
            <a:r>
              <a:rPr sz="3100" spc="-40" dirty="0">
                <a:latin typeface="Times New Roman" panose="02020603050405020304" charset="0"/>
                <a:cs typeface="Times New Roman" panose="02020603050405020304" charset="0"/>
              </a:rPr>
              <a:t>and 	</a:t>
            </a:r>
            <a:r>
              <a:rPr sz="3100" spc="-155" dirty="0">
                <a:latin typeface="Times New Roman" panose="02020603050405020304" charset="0"/>
                <a:cs typeface="Times New Roman" panose="02020603050405020304" charset="0"/>
              </a:rPr>
              <a:t>deserialization,</a:t>
            </a:r>
            <a:r>
              <a:rPr sz="3100" spc="-245" dirty="0">
                <a:latin typeface="Times New Roman" panose="02020603050405020304" charset="0"/>
                <a:cs typeface="Times New Roman" panose="02020603050405020304" charset="0"/>
              </a:rPr>
              <a:t> </a:t>
            </a:r>
            <a:r>
              <a:rPr sz="3100" spc="-170" dirty="0">
                <a:latin typeface="Times New Roman" panose="02020603050405020304" charset="0"/>
                <a:cs typeface="Times New Roman" panose="02020603050405020304" charset="0"/>
              </a:rPr>
              <a:t>accelerating</a:t>
            </a:r>
            <a:r>
              <a:rPr sz="3100" spc="85" dirty="0">
                <a:latin typeface="Times New Roman" panose="02020603050405020304" charset="0"/>
                <a:cs typeface="Times New Roman" panose="02020603050405020304" charset="0"/>
              </a:rPr>
              <a:t> </a:t>
            </a:r>
            <a:r>
              <a:rPr sz="3100" spc="-105" dirty="0">
                <a:latin typeface="Times New Roman" panose="02020603050405020304" charset="0"/>
                <a:cs typeface="Times New Roman" panose="02020603050405020304" charset="0"/>
              </a:rPr>
              <a:t>development.</a:t>
            </a:r>
            <a:endParaRPr sz="3100">
              <a:latin typeface="Times New Roman" panose="02020603050405020304" charset="0"/>
              <a:cs typeface="Times New Roman" panose="02020603050405020304" charset="0"/>
            </a:endParaRPr>
          </a:p>
          <a:p>
            <a:pPr marL="783590" marR="546735" indent="-473075">
              <a:lnSpc>
                <a:spcPts val="3200"/>
              </a:lnSpc>
              <a:spcBef>
                <a:spcPts val="500"/>
              </a:spcBef>
              <a:buChar char="•"/>
              <a:tabLst>
                <a:tab pos="789305" algn="l"/>
              </a:tabLst>
            </a:pPr>
            <a:r>
              <a:rPr sz="2950" dirty="0">
                <a:latin typeface="Times New Roman" panose="02020603050405020304" charset="0"/>
                <a:cs typeface="Times New Roman" panose="02020603050405020304" charset="0"/>
              </a:rPr>
              <a:t>Sufficient</a:t>
            </a:r>
            <a:r>
              <a:rPr sz="2950" spc="50" dirty="0">
                <a:latin typeface="Times New Roman" panose="02020603050405020304" charset="0"/>
                <a:cs typeface="Times New Roman" panose="02020603050405020304" charset="0"/>
              </a:rPr>
              <a:t> </a:t>
            </a:r>
            <a:r>
              <a:rPr sz="2950" spc="-10" dirty="0">
                <a:latin typeface="Times New Roman" panose="02020603050405020304" charset="0"/>
                <a:cs typeface="Times New Roman" panose="02020603050405020304" charset="0"/>
              </a:rPr>
              <a:t>for</a:t>
            </a:r>
            <a:r>
              <a:rPr sz="2950" spc="-125" dirty="0">
                <a:latin typeface="Times New Roman" panose="02020603050405020304" charset="0"/>
                <a:cs typeface="Times New Roman" panose="02020603050405020304" charset="0"/>
              </a:rPr>
              <a:t> </a:t>
            </a:r>
            <a:r>
              <a:rPr sz="2950" spc="-20" dirty="0">
                <a:latin typeface="Times New Roman" panose="02020603050405020304" charset="0"/>
                <a:cs typeface="Times New Roman" panose="02020603050405020304" charset="0"/>
              </a:rPr>
              <a:t>Simulation:</a:t>
            </a:r>
            <a:r>
              <a:rPr sz="2950" spc="-140" dirty="0">
                <a:latin typeface="Times New Roman" panose="02020603050405020304" charset="0"/>
                <a:cs typeface="Times New Roman" panose="02020603050405020304" charset="0"/>
              </a:rPr>
              <a:t> </a:t>
            </a:r>
            <a:r>
              <a:rPr sz="2950" spc="-120" dirty="0">
                <a:latin typeface="Times New Roman" panose="02020603050405020304" charset="0"/>
                <a:cs typeface="Times New Roman" panose="02020603050405020304" charset="0"/>
              </a:rPr>
              <a:t>Bandwidth</a:t>
            </a:r>
            <a:r>
              <a:rPr sz="2950" spc="-110" dirty="0">
                <a:latin typeface="Times New Roman" panose="02020603050405020304" charset="0"/>
                <a:cs typeface="Times New Roman" panose="02020603050405020304" charset="0"/>
              </a:rPr>
              <a:t> </a:t>
            </a:r>
            <a:r>
              <a:rPr sz="2950" spc="-125" dirty="0">
                <a:latin typeface="Times New Roman" panose="02020603050405020304" charset="0"/>
                <a:cs typeface="Times New Roman" panose="02020603050405020304" charset="0"/>
              </a:rPr>
              <a:t>and</a:t>
            </a:r>
            <a:r>
              <a:rPr sz="2950" spc="-280" dirty="0">
                <a:latin typeface="Times New Roman" panose="02020603050405020304" charset="0"/>
                <a:cs typeface="Times New Roman" panose="02020603050405020304" charset="0"/>
              </a:rPr>
              <a:t> </a:t>
            </a:r>
            <a:r>
              <a:rPr sz="2950" spc="-160" dirty="0">
                <a:latin typeface="Times New Roman" panose="02020603050405020304" charset="0"/>
                <a:cs typeface="Times New Roman" panose="02020603050405020304" charset="0"/>
              </a:rPr>
              <a:t>message</a:t>
            </a:r>
            <a:r>
              <a:rPr sz="2950" spc="5" dirty="0">
                <a:latin typeface="Times New Roman" panose="02020603050405020304" charset="0"/>
                <a:cs typeface="Times New Roman" panose="02020603050405020304" charset="0"/>
              </a:rPr>
              <a:t> </a:t>
            </a:r>
            <a:r>
              <a:rPr sz="2950" spc="-170" dirty="0">
                <a:latin typeface="Times New Roman" panose="02020603050405020304" charset="0"/>
                <a:cs typeface="Times New Roman" panose="02020603050405020304" charset="0"/>
              </a:rPr>
              <a:t>size,</a:t>
            </a:r>
            <a:r>
              <a:rPr sz="2950" spc="-180" dirty="0">
                <a:latin typeface="Times New Roman" panose="02020603050405020304" charset="0"/>
                <a:cs typeface="Times New Roman" panose="02020603050405020304" charset="0"/>
              </a:rPr>
              <a:t> </a:t>
            </a:r>
            <a:r>
              <a:rPr sz="2950" spc="-120" dirty="0">
                <a:latin typeface="Times New Roman" panose="02020603050405020304" charset="0"/>
                <a:cs typeface="Times New Roman" panose="02020603050405020304" charset="0"/>
              </a:rPr>
              <a:t>primary</a:t>
            </a:r>
            <a:r>
              <a:rPr sz="2950" spc="-75" dirty="0">
                <a:latin typeface="Times New Roman" panose="02020603050405020304" charset="0"/>
                <a:cs typeface="Times New Roman" panose="02020603050405020304" charset="0"/>
              </a:rPr>
              <a:t> </a:t>
            </a:r>
            <a:r>
              <a:rPr sz="2950" spc="-105" dirty="0">
                <a:latin typeface="Times New Roman" panose="02020603050405020304" charset="0"/>
                <a:cs typeface="Times New Roman" panose="02020603050405020304" charset="0"/>
              </a:rPr>
              <a:t>concerns</a:t>
            </a:r>
            <a:r>
              <a:rPr sz="2950" spc="65" dirty="0">
                <a:latin typeface="Times New Roman" panose="02020603050405020304" charset="0"/>
                <a:cs typeface="Times New Roman" panose="02020603050405020304" charset="0"/>
              </a:rPr>
              <a:t> </a:t>
            </a:r>
            <a:r>
              <a:rPr sz="2950" spc="-95" dirty="0">
                <a:latin typeface="Times New Roman" panose="02020603050405020304" charset="0"/>
                <a:cs typeface="Times New Roman" panose="02020603050405020304" charset="0"/>
              </a:rPr>
              <a:t>for</a:t>
            </a:r>
            <a:r>
              <a:rPr sz="2950" spc="-175" dirty="0">
                <a:latin typeface="Times New Roman" panose="02020603050405020304" charset="0"/>
                <a:cs typeface="Times New Roman" panose="02020603050405020304" charset="0"/>
              </a:rPr>
              <a:t> </a:t>
            </a:r>
            <a:r>
              <a:rPr sz="2950" spc="-85" dirty="0">
                <a:latin typeface="Times New Roman" panose="02020603050405020304" charset="0"/>
                <a:cs typeface="Times New Roman" panose="02020603050405020304" charset="0"/>
              </a:rPr>
              <a:t>real-</a:t>
            </a:r>
            <a:r>
              <a:rPr sz="2950" spc="-95" dirty="0">
                <a:latin typeface="Times New Roman" panose="02020603050405020304" charset="0"/>
                <a:cs typeface="Times New Roman" panose="02020603050405020304" charset="0"/>
              </a:rPr>
              <a:t>world</a:t>
            </a:r>
            <a:r>
              <a:rPr sz="2950" spc="-195" dirty="0">
                <a:latin typeface="Times New Roman" panose="02020603050405020304" charset="0"/>
                <a:cs typeface="Times New Roman" panose="02020603050405020304" charset="0"/>
              </a:rPr>
              <a:t> </a:t>
            </a:r>
            <a:r>
              <a:rPr sz="2950" spc="-30" dirty="0">
                <a:latin typeface="Times New Roman" panose="02020603050405020304" charset="0"/>
                <a:cs typeface="Times New Roman" panose="02020603050405020304" charset="0"/>
              </a:rPr>
              <a:t>radio </a:t>
            </a:r>
            <a:r>
              <a:rPr sz="2950" spc="-135" dirty="0">
                <a:latin typeface="Times New Roman" panose="02020603050405020304" charset="0"/>
                <a:cs typeface="Times New Roman" panose="02020603050405020304" charset="0"/>
              </a:rPr>
              <a:t>links,</a:t>
            </a:r>
            <a:r>
              <a:rPr sz="2950" spc="-100" dirty="0">
                <a:latin typeface="Times New Roman" panose="02020603050405020304" charset="0"/>
                <a:cs typeface="Times New Roman" panose="02020603050405020304" charset="0"/>
              </a:rPr>
              <a:t> </a:t>
            </a:r>
            <a:r>
              <a:rPr sz="2950" spc="-125" dirty="0">
                <a:latin typeface="Times New Roman" panose="02020603050405020304" charset="0"/>
                <a:cs typeface="Times New Roman" panose="02020603050405020304" charset="0"/>
              </a:rPr>
              <a:t>are</a:t>
            </a:r>
            <a:r>
              <a:rPr sz="2950" spc="-330" dirty="0">
                <a:latin typeface="Times New Roman" panose="02020603050405020304" charset="0"/>
                <a:cs typeface="Times New Roman" panose="02020603050405020304" charset="0"/>
              </a:rPr>
              <a:t> </a:t>
            </a:r>
            <a:r>
              <a:rPr sz="2950" spc="-35" dirty="0">
                <a:latin typeface="Times New Roman" panose="02020603050405020304" charset="0"/>
                <a:cs typeface="Times New Roman" panose="02020603050405020304" charset="0"/>
              </a:rPr>
              <a:t>not</a:t>
            </a:r>
            <a:r>
              <a:rPr sz="2950" spc="-150" dirty="0">
                <a:latin typeface="Times New Roman" panose="02020603050405020304" charset="0"/>
                <a:cs typeface="Times New Roman" panose="02020603050405020304" charset="0"/>
              </a:rPr>
              <a:t> </a:t>
            </a:r>
            <a:r>
              <a:rPr sz="2950" spc="-40" dirty="0">
                <a:latin typeface="Times New Roman" panose="02020603050405020304" charset="0"/>
                <a:cs typeface="Times New Roman" panose="02020603050405020304" charset="0"/>
              </a:rPr>
              <a:t>constraints</a:t>
            </a:r>
            <a:r>
              <a:rPr sz="2950" dirty="0">
                <a:latin typeface="Times New Roman" panose="02020603050405020304" charset="0"/>
                <a:cs typeface="Times New Roman" panose="02020603050405020304" charset="0"/>
              </a:rPr>
              <a:t> </a:t>
            </a:r>
            <a:r>
              <a:rPr sz="2950" spc="-35" dirty="0">
                <a:latin typeface="Times New Roman" panose="02020603050405020304" charset="0"/>
                <a:cs typeface="Times New Roman" panose="02020603050405020304" charset="0"/>
              </a:rPr>
              <a:t>in</a:t>
            </a:r>
            <a:r>
              <a:rPr sz="2950" spc="-420" dirty="0">
                <a:latin typeface="Times New Roman" panose="02020603050405020304" charset="0"/>
                <a:cs typeface="Times New Roman" panose="02020603050405020304" charset="0"/>
              </a:rPr>
              <a:t> </a:t>
            </a:r>
            <a:r>
              <a:rPr sz="2950" dirty="0">
                <a:latin typeface="Times New Roman" panose="02020603050405020304" charset="0"/>
                <a:cs typeface="Times New Roman" panose="02020603050405020304" charset="0"/>
              </a:rPr>
              <a:t>this</a:t>
            </a:r>
            <a:r>
              <a:rPr sz="2950" spc="-245" dirty="0">
                <a:latin typeface="Times New Roman" panose="02020603050405020304" charset="0"/>
                <a:cs typeface="Times New Roman" panose="02020603050405020304" charset="0"/>
              </a:rPr>
              <a:t> </a:t>
            </a:r>
            <a:r>
              <a:rPr sz="2950" spc="-120" dirty="0">
                <a:latin typeface="Times New Roman" panose="02020603050405020304" charset="0"/>
                <a:cs typeface="Times New Roman" panose="02020603050405020304" charset="0"/>
              </a:rPr>
              <a:t>local</a:t>
            </a:r>
            <a:r>
              <a:rPr sz="2950" spc="-135" dirty="0">
                <a:latin typeface="Times New Roman" panose="02020603050405020304" charset="0"/>
                <a:cs typeface="Times New Roman" panose="02020603050405020304" charset="0"/>
              </a:rPr>
              <a:t> </a:t>
            </a:r>
            <a:r>
              <a:rPr sz="2950" spc="-10" dirty="0">
                <a:latin typeface="Times New Roman" panose="02020603050405020304" charset="0"/>
                <a:cs typeface="Times New Roman" panose="02020603050405020304" charset="0"/>
              </a:rPr>
              <a:t>simulation.</a:t>
            </a:r>
            <a:endParaRPr sz="2950">
              <a:latin typeface="Times New Roman" panose="02020603050405020304" charset="0"/>
              <a:cs typeface="Times New Roman" panose="02020603050405020304" charset="0"/>
            </a:endParaRPr>
          </a:p>
          <a:p>
            <a:pPr marL="12700">
              <a:lnSpc>
                <a:spcPts val="3990"/>
              </a:lnSpc>
              <a:spcBef>
                <a:spcPts val="1460"/>
              </a:spcBef>
            </a:pPr>
            <a:r>
              <a:rPr sz="3400" spc="-30" dirty="0">
                <a:latin typeface="Times New Roman" panose="02020603050405020304" charset="0"/>
                <a:cs typeface="Times New Roman" panose="02020603050405020304" charset="0"/>
              </a:rPr>
              <a:t>Implementation</a:t>
            </a:r>
            <a:endParaRPr sz="3400">
              <a:latin typeface="Times New Roman" panose="02020603050405020304" charset="0"/>
              <a:cs typeface="Times New Roman" panose="02020603050405020304" charset="0"/>
            </a:endParaRPr>
          </a:p>
          <a:p>
            <a:pPr marL="26035" marR="196215" indent="-6350">
              <a:lnSpc>
                <a:spcPts val="3200"/>
              </a:lnSpc>
              <a:spcBef>
                <a:spcPts val="450"/>
              </a:spcBef>
            </a:pPr>
            <a:r>
              <a:rPr sz="3100" spc="-290" dirty="0">
                <a:latin typeface="Times New Roman" panose="02020603050405020304" charset="0"/>
                <a:cs typeface="Times New Roman" panose="02020603050405020304" charset="0"/>
              </a:rPr>
              <a:t>Each</a:t>
            </a:r>
            <a:r>
              <a:rPr sz="3100" spc="-295" dirty="0">
                <a:latin typeface="Times New Roman" panose="02020603050405020304" charset="0"/>
                <a:cs typeface="Times New Roman" panose="02020603050405020304" charset="0"/>
              </a:rPr>
              <a:t> </a:t>
            </a:r>
            <a:r>
              <a:rPr sz="3100" spc="-275" dirty="0">
                <a:latin typeface="Times New Roman" panose="02020603050405020304" charset="0"/>
                <a:cs typeface="Times New Roman" panose="02020603050405020304" charset="0"/>
              </a:rPr>
              <a:t>message</a:t>
            </a:r>
            <a:r>
              <a:rPr sz="3100" spc="-25" dirty="0">
                <a:latin typeface="Times New Roman" panose="02020603050405020304" charset="0"/>
                <a:cs typeface="Times New Roman" panose="02020603050405020304" charset="0"/>
              </a:rPr>
              <a:t> </a:t>
            </a:r>
            <a:r>
              <a:rPr sz="3100" spc="-165" dirty="0">
                <a:latin typeface="Times New Roman" panose="02020603050405020304" charset="0"/>
                <a:cs typeface="Times New Roman" panose="02020603050405020304" charset="0"/>
              </a:rPr>
              <a:t>is</a:t>
            </a:r>
            <a:r>
              <a:rPr sz="3100" spc="-295" dirty="0">
                <a:latin typeface="Times New Roman" panose="02020603050405020304" charset="0"/>
                <a:cs typeface="Times New Roman" panose="02020603050405020304" charset="0"/>
              </a:rPr>
              <a:t> </a:t>
            </a:r>
            <a:r>
              <a:rPr sz="3100" spc="-260" dirty="0">
                <a:latin typeface="Times New Roman" panose="02020603050405020304" charset="0"/>
                <a:cs typeface="Times New Roman" panose="02020603050405020304" charset="0"/>
              </a:rPr>
              <a:t>a</a:t>
            </a:r>
            <a:r>
              <a:rPr sz="3100" spc="-315" dirty="0">
                <a:latin typeface="Times New Roman" panose="02020603050405020304" charset="0"/>
                <a:cs typeface="Times New Roman" panose="02020603050405020304" charset="0"/>
              </a:rPr>
              <a:t> </a:t>
            </a:r>
            <a:r>
              <a:rPr sz="3100" spc="-180" dirty="0">
                <a:latin typeface="Times New Roman" panose="02020603050405020304" charset="0"/>
                <a:cs typeface="Times New Roman" panose="02020603050405020304" charset="0"/>
              </a:rPr>
              <a:t>single</a:t>
            </a:r>
            <a:r>
              <a:rPr sz="3100" spc="-155" dirty="0">
                <a:latin typeface="Times New Roman" panose="02020603050405020304" charset="0"/>
                <a:cs typeface="Times New Roman" panose="02020603050405020304" charset="0"/>
              </a:rPr>
              <a:t> line</a:t>
            </a:r>
            <a:r>
              <a:rPr sz="3100" spc="-229" dirty="0">
                <a:latin typeface="Times New Roman" panose="02020603050405020304" charset="0"/>
                <a:cs typeface="Times New Roman" panose="02020603050405020304" charset="0"/>
              </a:rPr>
              <a:t> </a:t>
            </a:r>
            <a:r>
              <a:rPr sz="3100" spc="-140" dirty="0">
                <a:latin typeface="Times New Roman" panose="02020603050405020304" charset="0"/>
                <a:cs typeface="Times New Roman" panose="02020603050405020304" charset="0"/>
              </a:rPr>
              <a:t>of</a:t>
            </a:r>
            <a:r>
              <a:rPr sz="3100" spc="-280" dirty="0">
                <a:latin typeface="Times New Roman" panose="02020603050405020304" charset="0"/>
                <a:cs typeface="Times New Roman" panose="02020603050405020304" charset="0"/>
              </a:rPr>
              <a:t> </a:t>
            </a:r>
            <a:r>
              <a:rPr sz="3100" spc="-459" dirty="0">
                <a:latin typeface="Times New Roman" panose="02020603050405020304" charset="0"/>
                <a:cs typeface="Times New Roman" panose="02020603050405020304" charset="0"/>
              </a:rPr>
              <a:t>JSON</a:t>
            </a:r>
            <a:r>
              <a:rPr sz="3100" spc="-215" dirty="0">
                <a:latin typeface="Times New Roman" panose="02020603050405020304" charset="0"/>
                <a:cs typeface="Times New Roman" panose="02020603050405020304" charset="0"/>
              </a:rPr>
              <a:t> </a:t>
            </a:r>
            <a:r>
              <a:rPr sz="3100" spc="-155" dirty="0">
                <a:latin typeface="Times New Roman" panose="02020603050405020304" charset="0"/>
                <a:cs typeface="Times New Roman" panose="02020603050405020304" charset="0"/>
              </a:rPr>
              <a:t>terminated</a:t>
            </a:r>
            <a:r>
              <a:rPr sz="3100" spc="-180" dirty="0">
                <a:latin typeface="Times New Roman" panose="02020603050405020304" charset="0"/>
                <a:cs typeface="Times New Roman" panose="02020603050405020304" charset="0"/>
              </a:rPr>
              <a:t> </a:t>
            </a:r>
            <a:r>
              <a:rPr sz="3100" spc="-235" dirty="0">
                <a:latin typeface="Times New Roman" panose="02020603050405020304" charset="0"/>
                <a:cs typeface="Times New Roman" panose="02020603050405020304" charset="0"/>
              </a:rPr>
              <a:t>by</a:t>
            </a:r>
            <a:r>
              <a:rPr sz="3100" spc="-300" dirty="0">
                <a:latin typeface="Times New Roman" panose="02020603050405020304" charset="0"/>
                <a:cs typeface="Times New Roman" panose="02020603050405020304" charset="0"/>
              </a:rPr>
              <a:t> </a:t>
            </a:r>
            <a:r>
              <a:rPr sz="3100" spc="-260" dirty="0">
                <a:latin typeface="Times New Roman" panose="02020603050405020304" charset="0"/>
                <a:cs typeface="Times New Roman" panose="02020603050405020304" charset="0"/>
              </a:rPr>
              <a:t>a</a:t>
            </a:r>
            <a:r>
              <a:rPr sz="3100" spc="-325" dirty="0">
                <a:latin typeface="Times New Roman" panose="02020603050405020304" charset="0"/>
                <a:cs typeface="Times New Roman" panose="02020603050405020304" charset="0"/>
              </a:rPr>
              <a:t> </a:t>
            </a:r>
            <a:r>
              <a:rPr sz="3100" spc="-190" dirty="0">
                <a:latin typeface="Times New Roman" panose="02020603050405020304" charset="0"/>
                <a:cs typeface="Times New Roman" panose="02020603050405020304" charset="0"/>
              </a:rPr>
              <a:t>newline </a:t>
            </a:r>
            <a:r>
              <a:rPr sz="3100" spc="-160" dirty="0">
                <a:latin typeface="Times New Roman" panose="02020603050405020304" charset="0"/>
                <a:cs typeface="Times New Roman" panose="02020603050405020304" charset="0"/>
              </a:rPr>
              <a:t>character</a:t>
            </a:r>
            <a:r>
              <a:rPr sz="3100" spc="125" dirty="0">
                <a:latin typeface="Times New Roman" panose="02020603050405020304" charset="0"/>
                <a:cs typeface="Times New Roman" panose="02020603050405020304" charset="0"/>
              </a:rPr>
              <a:t> </a:t>
            </a:r>
            <a:r>
              <a:rPr sz="3100" spc="-30" dirty="0">
                <a:latin typeface="Times New Roman" panose="02020603050405020304" charset="0"/>
                <a:cs typeface="Times New Roman" panose="02020603050405020304" charset="0"/>
              </a:rPr>
              <a:t>(‘\n’),</a:t>
            </a:r>
            <a:r>
              <a:rPr sz="3100" spc="-254" dirty="0">
                <a:latin typeface="Times New Roman" panose="02020603050405020304" charset="0"/>
                <a:cs typeface="Times New Roman" panose="02020603050405020304" charset="0"/>
              </a:rPr>
              <a:t> </a:t>
            </a:r>
            <a:r>
              <a:rPr sz="3100" spc="-170" dirty="0">
                <a:latin typeface="Times New Roman" panose="02020603050405020304" charset="0"/>
                <a:cs typeface="Times New Roman" panose="02020603050405020304" charset="0"/>
              </a:rPr>
              <a:t>simplifying</a:t>
            </a:r>
            <a:r>
              <a:rPr sz="3100" spc="-40" dirty="0">
                <a:latin typeface="Times New Roman" panose="02020603050405020304" charset="0"/>
                <a:cs typeface="Times New Roman" panose="02020603050405020304" charset="0"/>
              </a:rPr>
              <a:t> </a:t>
            </a:r>
            <a:r>
              <a:rPr sz="3100" spc="-95" dirty="0">
                <a:latin typeface="Times New Roman" panose="02020603050405020304" charset="0"/>
                <a:cs typeface="Times New Roman" panose="02020603050405020304" charset="0"/>
              </a:rPr>
              <a:t>the</a:t>
            </a:r>
            <a:r>
              <a:rPr sz="3100" spc="-280" dirty="0">
                <a:latin typeface="Times New Roman" panose="02020603050405020304" charset="0"/>
                <a:cs typeface="Times New Roman" panose="02020603050405020304" charset="0"/>
              </a:rPr>
              <a:t> </a:t>
            </a:r>
            <a:r>
              <a:rPr sz="3100" spc="-60" dirty="0">
                <a:latin typeface="Times New Roman" panose="02020603050405020304" charset="0"/>
                <a:cs typeface="Times New Roman" panose="02020603050405020304" charset="0"/>
              </a:rPr>
              <a:t>parsing </a:t>
            </a:r>
            <a:r>
              <a:rPr sz="3100" spc="-160" dirty="0">
                <a:latin typeface="Times New Roman" panose="02020603050405020304" charset="0"/>
                <a:cs typeface="Times New Roman" panose="02020603050405020304" charset="0"/>
              </a:rPr>
              <a:t>logic</a:t>
            </a:r>
            <a:r>
              <a:rPr sz="3100" spc="-210" dirty="0">
                <a:latin typeface="Times New Roman" panose="02020603050405020304" charset="0"/>
                <a:cs typeface="Times New Roman" panose="02020603050405020304" charset="0"/>
              </a:rPr>
              <a:t> </a:t>
            </a:r>
            <a:r>
              <a:rPr sz="3100" spc="-175" dirty="0">
                <a:latin typeface="Times New Roman" panose="02020603050405020304" charset="0"/>
                <a:cs typeface="Times New Roman" panose="02020603050405020304" charset="0"/>
              </a:rPr>
              <a:t>on</a:t>
            </a:r>
            <a:r>
              <a:rPr sz="3100" spc="-330" dirty="0">
                <a:latin typeface="Times New Roman" panose="02020603050405020304" charset="0"/>
                <a:cs typeface="Times New Roman" panose="02020603050405020304" charset="0"/>
              </a:rPr>
              <a:t> </a:t>
            </a:r>
            <a:r>
              <a:rPr sz="3100" spc="-95" dirty="0">
                <a:latin typeface="Times New Roman" panose="02020603050405020304" charset="0"/>
                <a:cs typeface="Times New Roman" panose="02020603050405020304" charset="0"/>
              </a:rPr>
              <a:t>the</a:t>
            </a:r>
            <a:r>
              <a:rPr sz="3100" spc="-270" dirty="0">
                <a:latin typeface="Times New Roman" panose="02020603050405020304" charset="0"/>
                <a:cs typeface="Times New Roman" panose="02020603050405020304" charset="0"/>
              </a:rPr>
              <a:t> </a:t>
            </a:r>
            <a:r>
              <a:rPr sz="3100" spc="-30" dirty="0">
                <a:latin typeface="Times New Roman" panose="02020603050405020304" charset="0"/>
                <a:cs typeface="Times New Roman" panose="02020603050405020304" charset="0"/>
              </a:rPr>
              <a:t>stream.</a:t>
            </a:r>
            <a:endParaRPr sz="3100">
              <a:latin typeface="Times New Roman" panose="02020603050405020304" charset="0"/>
              <a:cs typeface="Times New Roman" panose="02020603050405020304" charset="0"/>
            </a:endParaRPr>
          </a:p>
        </p:txBody>
      </p:sp>
      <p:sp>
        <p:nvSpPr>
          <p:cNvPr id="4" name="object 4"/>
          <p:cNvSpPr txBox="1"/>
          <p:nvPr/>
        </p:nvSpPr>
        <p:spPr>
          <a:xfrm>
            <a:off x="755226" y="8245051"/>
            <a:ext cx="15731490" cy="610235"/>
          </a:xfrm>
          <a:prstGeom prst="rect">
            <a:avLst/>
          </a:prstGeom>
          <a:ln w="21166">
            <a:solidFill>
              <a:srgbClr val="000000"/>
            </a:solidFill>
          </a:ln>
        </p:spPr>
        <p:txBody>
          <a:bodyPr vert="horz" wrap="square" lIns="0" tIns="118110" rIns="0" bIns="0" rtlCol="0">
            <a:spAutoFit/>
          </a:bodyPr>
          <a:lstStyle/>
          <a:p>
            <a:pPr marL="292735">
              <a:lnSpc>
                <a:spcPct val="100000"/>
              </a:lnSpc>
              <a:spcBef>
                <a:spcPts val="930"/>
              </a:spcBef>
              <a:tabLst>
                <a:tab pos="1884680" algn="l"/>
              </a:tabLst>
            </a:pPr>
            <a:r>
              <a:rPr sz="3200" dirty="0">
                <a:latin typeface="Times New Roman" panose="02020603050405020304" charset="0"/>
                <a:cs typeface="Times New Roman" panose="02020603050405020304" charset="0"/>
              </a:rPr>
              <a:t>(</a:t>
            </a:r>
            <a:r>
              <a:rPr sz="3200" spc="-70" dirty="0">
                <a:latin typeface="Times New Roman" panose="02020603050405020304" charset="0"/>
                <a:cs typeface="Times New Roman" panose="02020603050405020304" charset="0"/>
              </a:rPr>
              <a:t> </a:t>
            </a:r>
            <a:r>
              <a:rPr sz="3200" spc="85" dirty="0">
                <a:solidFill>
                  <a:srgbClr val="0F0F0F"/>
                </a:solidFill>
                <a:latin typeface="Times New Roman" panose="02020603050405020304" charset="0"/>
                <a:cs typeface="Times New Roman" panose="02020603050405020304" charset="0"/>
              </a:rPr>
              <a:t>"key"</a:t>
            </a:r>
            <a:r>
              <a:rPr sz="3200" spc="-55" dirty="0">
                <a:solidFill>
                  <a:srgbClr val="0F0F0F"/>
                </a:solidFill>
                <a:latin typeface="Times New Roman" panose="02020603050405020304" charset="0"/>
                <a:cs typeface="Times New Roman" panose="02020603050405020304" charset="0"/>
              </a:rPr>
              <a:t> </a:t>
            </a:r>
            <a:r>
              <a:rPr sz="3200" spc="10" dirty="0">
                <a:latin typeface="Times New Roman" panose="02020603050405020304" charset="0"/>
                <a:cs typeface="Times New Roman" panose="02020603050405020304" charset="0"/>
              </a:rPr>
              <a:t>:</a:t>
            </a:r>
            <a:r>
              <a:rPr sz="3200" dirty="0">
                <a:latin typeface="Times New Roman" panose="02020603050405020304" charset="0"/>
                <a:cs typeface="Times New Roman" panose="02020603050405020304" charset="0"/>
              </a:rPr>
              <a:t>	"va1ue"</a:t>
            </a:r>
            <a:r>
              <a:rPr sz="3200" spc="-25" dirty="0">
                <a:latin typeface="Times New Roman" panose="02020603050405020304" charset="0"/>
                <a:cs typeface="Times New Roman" panose="02020603050405020304" charset="0"/>
              </a:rPr>
              <a:t> </a:t>
            </a:r>
            <a:r>
              <a:rPr sz="3200" spc="75" dirty="0">
                <a:latin typeface="Times New Roman" panose="02020603050405020304" charset="0"/>
                <a:cs typeface="Times New Roman" panose="02020603050405020304" charset="0"/>
              </a:rPr>
              <a:t>}</a:t>
            </a:r>
            <a:r>
              <a:rPr sz="3200" spc="-235" dirty="0">
                <a:latin typeface="Times New Roman" panose="02020603050405020304" charset="0"/>
                <a:cs typeface="Times New Roman" panose="02020603050405020304" charset="0"/>
              </a:rPr>
              <a:t> </a:t>
            </a:r>
            <a:r>
              <a:rPr sz="3200" spc="60" dirty="0">
                <a:solidFill>
                  <a:srgbClr val="4D77AF"/>
                </a:solidFill>
                <a:latin typeface="Times New Roman" panose="02020603050405020304" charset="0"/>
                <a:cs typeface="Times New Roman" panose="02020603050405020304" charset="0"/>
              </a:rPr>
              <a:t>\n</a:t>
            </a:r>
            <a:endParaRPr sz="3200">
              <a:latin typeface="Times New Roman" panose="02020603050405020304" charset="0"/>
              <a:cs typeface="Times New Roman" panose="0202060305040502030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1" cstate="print"/>
          <a:stretch>
            <a:fillRect/>
          </a:stretch>
        </p:blipFill>
        <p:spPr>
          <a:xfrm>
            <a:off x="8110220" y="4358640"/>
            <a:ext cx="914400" cy="1036320"/>
          </a:xfrm>
          <a:prstGeom prst="rect">
            <a:avLst/>
          </a:prstGeom>
        </p:spPr>
      </p:pic>
      <p:pic>
        <p:nvPicPr>
          <p:cNvPr id="3" name="object 3"/>
          <p:cNvPicPr/>
          <p:nvPr/>
        </p:nvPicPr>
        <p:blipFill>
          <a:blip r:embed="rId2" cstate="print"/>
          <a:stretch>
            <a:fillRect/>
          </a:stretch>
        </p:blipFill>
        <p:spPr>
          <a:xfrm>
            <a:off x="1130300" y="8089900"/>
            <a:ext cx="101600" cy="266700"/>
          </a:xfrm>
          <a:prstGeom prst="rect">
            <a:avLst/>
          </a:prstGeom>
        </p:spPr>
      </p:pic>
      <p:sp>
        <p:nvSpPr>
          <p:cNvPr id="4" name="object 4"/>
          <p:cNvSpPr txBox="1">
            <a:spLocks noGrp="1"/>
          </p:cNvSpPr>
          <p:nvPr>
            <p:ph type="title"/>
          </p:nvPr>
        </p:nvSpPr>
        <p:spPr>
          <a:prstGeom prst="rect">
            <a:avLst/>
          </a:prstGeom>
        </p:spPr>
        <p:txBody>
          <a:bodyPr vert="horz" wrap="square" lIns="0" tIns="176882" rIns="0" bIns="0" rtlCol="0">
            <a:spAutoFit/>
          </a:bodyPr>
          <a:lstStyle/>
          <a:p>
            <a:pPr marL="218440">
              <a:lnSpc>
                <a:spcPct val="100000"/>
              </a:lnSpc>
              <a:spcBef>
                <a:spcPts val="90"/>
              </a:spcBef>
            </a:pPr>
            <a:r>
              <a:rPr sz="4800" spc="105" dirty="0">
                <a:solidFill>
                  <a:srgbClr val="1C1C1C"/>
                </a:solidFill>
              </a:rPr>
              <a:t>Protocol</a:t>
            </a:r>
            <a:r>
              <a:rPr sz="4800" spc="-110" dirty="0">
                <a:solidFill>
                  <a:srgbClr val="1C1C1C"/>
                </a:solidFill>
              </a:rPr>
              <a:t> </a:t>
            </a:r>
            <a:r>
              <a:rPr sz="4800" spc="90" dirty="0">
                <a:solidFill>
                  <a:srgbClr val="1D1D1D"/>
                </a:solidFill>
              </a:rPr>
              <a:t>in</a:t>
            </a:r>
            <a:r>
              <a:rPr sz="4800" spc="-235" dirty="0">
                <a:solidFill>
                  <a:srgbClr val="1D1D1D"/>
                </a:solidFill>
              </a:rPr>
              <a:t> </a:t>
            </a:r>
            <a:r>
              <a:rPr sz="4800" spc="110" dirty="0">
                <a:solidFill>
                  <a:srgbClr val="1F1F1F"/>
                </a:solidFill>
              </a:rPr>
              <a:t>Detail:</a:t>
            </a:r>
            <a:r>
              <a:rPr sz="4800" spc="-340" dirty="0">
                <a:solidFill>
                  <a:srgbClr val="1F1F1F"/>
                </a:solidFill>
              </a:rPr>
              <a:t> </a:t>
            </a:r>
            <a:r>
              <a:rPr sz="4800" dirty="0">
                <a:solidFill>
                  <a:srgbClr val="1F1F1F"/>
                </a:solidFill>
              </a:rPr>
              <a:t>Data</a:t>
            </a:r>
            <a:r>
              <a:rPr sz="4800" spc="-200" dirty="0">
                <a:solidFill>
                  <a:srgbClr val="1F1F1F"/>
                </a:solidFill>
              </a:rPr>
              <a:t> </a:t>
            </a:r>
            <a:r>
              <a:rPr sz="4800" spc="175" dirty="0">
                <a:solidFill>
                  <a:srgbClr val="1C1C1C"/>
                </a:solidFill>
              </a:rPr>
              <a:t>Structures</a:t>
            </a:r>
            <a:r>
              <a:rPr sz="4800" spc="-190" dirty="0">
                <a:solidFill>
                  <a:srgbClr val="1C1C1C"/>
                </a:solidFill>
              </a:rPr>
              <a:t> </a:t>
            </a:r>
            <a:r>
              <a:rPr sz="4800" dirty="0">
                <a:solidFill>
                  <a:srgbClr val="232323"/>
                </a:solidFill>
              </a:rPr>
              <a:t>and</a:t>
            </a:r>
            <a:r>
              <a:rPr sz="4800" spc="-370" dirty="0">
                <a:solidFill>
                  <a:srgbClr val="232323"/>
                </a:solidFill>
              </a:rPr>
              <a:t> </a:t>
            </a:r>
            <a:r>
              <a:rPr sz="4800" spc="-10" dirty="0">
                <a:solidFill>
                  <a:srgbClr val="1C1C1C"/>
                </a:solidFill>
              </a:rPr>
              <a:t>Message</a:t>
            </a:r>
            <a:r>
              <a:rPr sz="4800" spc="-105" dirty="0">
                <a:solidFill>
                  <a:srgbClr val="1C1C1C"/>
                </a:solidFill>
              </a:rPr>
              <a:t> </a:t>
            </a:r>
            <a:r>
              <a:rPr sz="4800" spc="-20" dirty="0">
                <a:solidFill>
                  <a:srgbClr val="1D1D1D"/>
                </a:solidFill>
              </a:rPr>
              <a:t>Flow</a:t>
            </a:r>
            <a:endParaRPr sz="4800"/>
          </a:p>
        </p:txBody>
      </p:sp>
      <p:sp>
        <p:nvSpPr>
          <p:cNvPr id="9" name="object 9"/>
          <p:cNvSpPr txBox="1">
            <a:spLocks noGrp="1"/>
          </p:cNvSpPr>
          <p:nvPr>
            <p:ph type="ftr" sz="quarter" idx="5"/>
          </p:nvPr>
        </p:nvSpPr>
        <p:spPr>
          <a:prstGeom prst="rect">
            <a:avLst/>
          </a:prstGeom>
        </p:spPr>
        <p:txBody>
          <a:bodyPr vert="horz" wrap="square" lIns="0" tIns="0" rIns="0" bIns="0" rtlCol="0">
            <a:spAutoFit/>
          </a:bodyPr>
          <a:lstStyle/>
          <a:p>
            <a:pPr marL="12700">
              <a:lnSpc>
                <a:spcPts val="1555"/>
              </a:lnSpc>
            </a:pPr>
            <a:r>
              <a:rPr dirty="0"/>
              <a:t>G</a:t>
            </a:r>
            <a:r>
              <a:rPr spc="490" dirty="0"/>
              <a:t> </a:t>
            </a:r>
            <a:r>
              <a:rPr spc="-10" dirty="0"/>
              <a:t>NotebookLM</a:t>
            </a:r>
            <a:endParaRPr spc="-10" dirty="0"/>
          </a:p>
        </p:txBody>
      </p:sp>
      <p:sp>
        <p:nvSpPr>
          <p:cNvPr id="5" name="object 5"/>
          <p:cNvSpPr txBox="1"/>
          <p:nvPr/>
        </p:nvSpPr>
        <p:spPr>
          <a:xfrm>
            <a:off x="849630" y="1842770"/>
            <a:ext cx="4457065" cy="3527425"/>
          </a:xfrm>
          <a:prstGeom prst="rect">
            <a:avLst/>
          </a:prstGeom>
        </p:spPr>
        <p:txBody>
          <a:bodyPr vert="horz" wrap="square" lIns="0" tIns="11430" rIns="0" bIns="0" rtlCol="0">
            <a:spAutoFit/>
          </a:bodyPr>
          <a:lstStyle/>
          <a:p>
            <a:pPr marL="21590">
              <a:lnSpc>
                <a:spcPct val="100000"/>
              </a:lnSpc>
              <a:spcBef>
                <a:spcPts val="90"/>
              </a:spcBef>
            </a:pPr>
            <a:r>
              <a:rPr sz="3550" spc="-30" dirty="0">
                <a:solidFill>
                  <a:srgbClr val="151515"/>
                </a:solidFill>
                <a:latin typeface="Trebuchet MS" panose="020B0603020202020204"/>
                <a:cs typeface="Trebuchet MS" panose="020B0603020202020204"/>
              </a:rPr>
              <a:t>Core</a:t>
            </a:r>
            <a:r>
              <a:rPr sz="3550" spc="-285" dirty="0">
                <a:solidFill>
                  <a:srgbClr val="151515"/>
                </a:solidFill>
                <a:latin typeface="Trebuchet MS" panose="020B0603020202020204"/>
                <a:cs typeface="Trebuchet MS" panose="020B0603020202020204"/>
              </a:rPr>
              <a:t> </a:t>
            </a:r>
            <a:r>
              <a:rPr sz="3550" spc="-85" dirty="0">
                <a:solidFill>
                  <a:srgbClr val="1A1A1A"/>
                </a:solidFill>
                <a:latin typeface="Trebuchet MS" panose="020B0603020202020204"/>
                <a:cs typeface="Trebuchet MS" panose="020B0603020202020204"/>
              </a:rPr>
              <a:t>Data</a:t>
            </a:r>
            <a:r>
              <a:rPr sz="3550" spc="-295" dirty="0">
                <a:solidFill>
                  <a:srgbClr val="1A1A1A"/>
                </a:solidFill>
                <a:latin typeface="Trebuchet MS" panose="020B0603020202020204"/>
                <a:cs typeface="Trebuchet MS" panose="020B0603020202020204"/>
              </a:rPr>
              <a:t> </a:t>
            </a:r>
            <a:r>
              <a:rPr sz="3550" spc="-10" dirty="0">
                <a:solidFill>
                  <a:srgbClr val="111111"/>
                </a:solidFill>
                <a:latin typeface="Trebuchet MS" panose="020B0603020202020204"/>
                <a:cs typeface="Trebuchet MS" panose="020B0603020202020204"/>
              </a:rPr>
              <a:t>Structures</a:t>
            </a:r>
            <a:endParaRPr sz="3550">
              <a:latin typeface="Trebuchet MS" panose="020B0603020202020204"/>
              <a:cs typeface="Trebuchet MS" panose="020B0603020202020204"/>
            </a:endParaRPr>
          </a:p>
          <a:p>
            <a:pPr marL="12700">
              <a:lnSpc>
                <a:spcPct val="100000"/>
              </a:lnSpc>
              <a:spcBef>
                <a:spcPts val="1990"/>
              </a:spcBef>
            </a:pPr>
            <a:r>
              <a:rPr sz="2700" spc="-114" dirty="0">
                <a:latin typeface="Arial MT"/>
                <a:cs typeface="Arial MT"/>
              </a:rPr>
              <a:t>DroneCommand</a:t>
            </a:r>
            <a:r>
              <a:rPr sz="2700" spc="-45" dirty="0">
                <a:latin typeface="Arial MT"/>
                <a:cs typeface="Arial MT"/>
              </a:rPr>
              <a:t> </a:t>
            </a:r>
            <a:r>
              <a:rPr sz="2700" spc="-10" dirty="0">
                <a:latin typeface="Arial MT"/>
                <a:cs typeface="Arial MT"/>
              </a:rPr>
              <a:t>(Enum)</a:t>
            </a:r>
            <a:endParaRPr sz="2700" spc="-10" dirty="0">
              <a:latin typeface="Arial MT"/>
              <a:cs typeface="Arial MT"/>
            </a:endParaRPr>
          </a:p>
          <a:p>
            <a:pPr marL="12700">
              <a:lnSpc>
                <a:spcPct val="100000"/>
              </a:lnSpc>
              <a:spcBef>
                <a:spcPts val="1990"/>
              </a:spcBef>
            </a:pPr>
            <a:endParaRPr sz="2700">
              <a:latin typeface="Arial MT"/>
              <a:cs typeface="Arial MT"/>
            </a:endParaRPr>
          </a:p>
          <a:p>
            <a:pPr marL="826135" marR="2340610" indent="-576580">
              <a:lnSpc>
                <a:spcPts val="2450"/>
              </a:lnSpc>
            </a:pPr>
            <a:r>
              <a:rPr sz="2350" spc="-150" dirty="0">
                <a:latin typeface="Consolas" panose="020B0609020204030204"/>
                <a:cs typeface="Consolas" panose="020B0609020204030204"/>
              </a:rPr>
              <a:t>enum</a:t>
            </a:r>
            <a:r>
              <a:rPr sz="2350" spc="-200" dirty="0">
                <a:latin typeface="Consolas" panose="020B0609020204030204"/>
                <a:cs typeface="Consolas" panose="020B0609020204030204"/>
              </a:rPr>
              <a:t> </a:t>
            </a:r>
            <a:r>
              <a:rPr sz="2350" spc="-155" dirty="0">
                <a:latin typeface="Consolas" panose="020B0609020204030204"/>
                <a:cs typeface="Consolas" panose="020B0609020204030204"/>
              </a:rPr>
              <a:t>DroneCommand</a:t>
            </a:r>
            <a:r>
              <a:rPr sz="2350" spc="-75" dirty="0">
                <a:latin typeface="Consolas" panose="020B0609020204030204"/>
                <a:cs typeface="Consolas" panose="020B0609020204030204"/>
              </a:rPr>
              <a:t> </a:t>
            </a:r>
            <a:r>
              <a:rPr sz="2350" spc="-50" dirty="0">
                <a:latin typeface="Consolas" panose="020B0609020204030204"/>
                <a:cs typeface="Consolas" panose="020B0609020204030204"/>
              </a:rPr>
              <a:t>{ </a:t>
            </a:r>
            <a:r>
              <a:rPr sz="2350" spc="-65" dirty="0">
                <a:latin typeface="Consolas" panose="020B0609020204030204"/>
                <a:cs typeface="Consolas" panose="020B0609020204030204"/>
              </a:rPr>
              <a:t>Take0ff,</a:t>
            </a:r>
            <a:endParaRPr sz="2350">
              <a:latin typeface="Consolas" panose="020B0609020204030204"/>
              <a:cs typeface="Consolas" panose="020B0609020204030204"/>
            </a:endParaRPr>
          </a:p>
          <a:p>
            <a:pPr marL="828040">
              <a:lnSpc>
                <a:spcPts val="2165"/>
              </a:lnSpc>
            </a:pPr>
            <a:r>
              <a:rPr sz="2550" spc="-10" dirty="0">
                <a:latin typeface="Trebuchet MS" panose="020B0603020202020204"/>
                <a:cs typeface="Trebuchet MS" panose="020B0603020202020204"/>
              </a:rPr>
              <a:t>Land,</a:t>
            </a:r>
            <a:endParaRPr sz="2550">
              <a:latin typeface="Trebuchet MS" panose="020B0603020202020204"/>
              <a:cs typeface="Trebuchet MS" panose="020B0603020202020204"/>
            </a:endParaRPr>
          </a:p>
          <a:p>
            <a:pPr marL="828675">
              <a:lnSpc>
                <a:spcPts val="2695"/>
              </a:lnSpc>
              <a:tabLst>
                <a:tab pos="1684655" algn="l"/>
                <a:tab pos="1982470" algn="l"/>
                <a:tab pos="3125470" algn="l"/>
                <a:tab pos="5152390" algn="l"/>
              </a:tabLst>
            </a:pPr>
            <a:r>
              <a:rPr sz="2500" spc="-10" dirty="0">
                <a:latin typeface="Trebuchet MS" panose="020B0603020202020204"/>
                <a:cs typeface="Trebuchet MS" panose="020B0603020202020204"/>
              </a:rPr>
              <a:t>F1yTo</a:t>
            </a:r>
            <a:r>
              <a:rPr sz="2500" dirty="0">
                <a:latin typeface="Trebuchet MS" panose="020B0603020202020204"/>
                <a:cs typeface="Trebuchet MS" panose="020B0603020202020204"/>
              </a:rPr>
              <a:t>	</a:t>
            </a:r>
            <a:r>
              <a:rPr sz="2500" spc="-50" dirty="0">
                <a:latin typeface="Trebuchet MS" panose="020B0603020202020204"/>
                <a:cs typeface="Trebuchet MS" panose="020B0603020202020204"/>
              </a:rPr>
              <a:t>(</a:t>
            </a:r>
            <a:r>
              <a:rPr sz="2500" dirty="0">
                <a:latin typeface="Trebuchet MS" panose="020B0603020202020204"/>
                <a:cs typeface="Trebuchet MS" panose="020B0603020202020204"/>
              </a:rPr>
              <a:t>	</a:t>
            </a:r>
            <a:r>
              <a:rPr sz="2500" spc="-10" dirty="0">
                <a:latin typeface="Trebuchet MS" panose="020B0603020202020204"/>
                <a:cs typeface="Trebuchet MS" panose="020B0603020202020204"/>
              </a:rPr>
              <a:t>target:</a:t>
            </a:r>
            <a:r>
              <a:rPr sz="2500" dirty="0">
                <a:latin typeface="Trebuchet MS" panose="020B0603020202020204"/>
                <a:cs typeface="Trebuchet MS" panose="020B0603020202020204"/>
              </a:rPr>
              <a:t>	</a:t>
            </a:r>
            <a:r>
              <a:rPr sz="2500" spc="-40" dirty="0">
                <a:latin typeface="Trebuchet MS" panose="020B0603020202020204"/>
                <a:cs typeface="Trebuchet MS" panose="020B0603020202020204"/>
              </a:rPr>
              <a:t>GpsCoordinate</a:t>
            </a:r>
            <a:r>
              <a:rPr sz="2500" dirty="0">
                <a:latin typeface="Trebuchet MS" panose="020B0603020202020204"/>
                <a:cs typeface="Trebuchet MS" panose="020B0603020202020204"/>
              </a:rPr>
              <a:t>	</a:t>
            </a:r>
            <a:r>
              <a:rPr sz="2500" spc="-75" dirty="0">
                <a:latin typeface="Trebuchet MS" panose="020B0603020202020204"/>
                <a:cs typeface="Trebuchet MS" panose="020B0603020202020204"/>
              </a:rPr>
              <a:t>),</a:t>
            </a:r>
            <a:endParaRPr sz="2500">
              <a:latin typeface="Trebuchet MS" panose="020B0603020202020204"/>
              <a:cs typeface="Trebuchet MS" panose="020B0603020202020204"/>
            </a:endParaRPr>
          </a:p>
        </p:txBody>
      </p:sp>
      <p:sp>
        <p:nvSpPr>
          <p:cNvPr id="6" name="object 6"/>
          <p:cNvSpPr txBox="1"/>
          <p:nvPr/>
        </p:nvSpPr>
        <p:spPr>
          <a:xfrm>
            <a:off x="873125" y="6477000"/>
            <a:ext cx="4455795" cy="2404745"/>
          </a:xfrm>
          <a:prstGeom prst="rect">
            <a:avLst/>
          </a:prstGeom>
        </p:spPr>
        <p:txBody>
          <a:bodyPr vert="horz" wrap="square" lIns="0" tIns="15240" rIns="0" bIns="0" rtlCol="0">
            <a:spAutoFit/>
          </a:bodyPr>
          <a:lstStyle/>
          <a:p>
            <a:pPr marL="12700">
              <a:lnSpc>
                <a:spcPct val="100000"/>
              </a:lnSpc>
              <a:spcBef>
                <a:spcPts val="120"/>
              </a:spcBef>
            </a:pPr>
            <a:r>
              <a:rPr sz="2550" dirty="0">
                <a:latin typeface="Arial MT"/>
                <a:cs typeface="Arial MT"/>
              </a:rPr>
              <a:t>DroneStatus</a:t>
            </a:r>
            <a:r>
              <a:rPr sz="2550" spc="240" dirty="0">
                <a:latin typeface="Arial MT"/>
                <a:cs typeface="Arial MT"/>
              </a:rPr>
              <a:t> </a:t>
            </a:r>
            <a:r>
              <a:rPr sz="2550" spc="45" dirty="0">
                <a:latin typeface="Arial MT"/>
                <a:cs typeface="Arial MT"/>
              </a:rPr>
              <a:t>(Struct)</a:t>
            </a:r>
            <a:endParaRPr sz="2550">
              <a:latin typeface="Arial MT"/>
              <a:cs typeface="Arial MT"/>
            </a:endParaRPr>
          </a:p>
          <a:p>
            <a:pPr>
              <a:lnSpc>
                <a:spcPct val="100000"/>
              </a:lnSpc>
              <a:spcBef>
                <a:spcPts val="335"/>
              </a:spcBef>
            </a:pPr>
            <a:endParaRPr sz="2550">
              <a:latin typeface="Arial MT"/>
              <a:cs typeface="Arial MT"/>
            </a:endParaRPr>
          </a:p>
          <a:p>
            <a:pPr marL="822325" marR="1054735" indent="-582295">
              <a:lnSpc>
                <a:spcPts val="2400"/>
              </a:lnSpc>
            </a:pPr>
            <a:r>
              <a:rPr sz="2300" spc="-110" dirty="0">
                <a:latin typeface="Consolas" panose="020B0609020204030204"/>
                <a:cs typeface="Consolas" panose="020B0609020204030204"/>
              </a:rPr>
              <a:t>struct</a:t>
            </a:r>
            <a:r>
              <a:rPr sz="2300" spc="-155" dirty="0">
                <a:latin typeface="Consolas" panose="020B0609020204030204"/>
                <a:cs typeface="Consolas" panose="020B0609020204030204"/>
              </a:rPr>
              <a:t> </a:t>
            </a:r>
            <a:r>
              <a:rPr sz="2300" spc="-130" dirty="0">
                <a:latin typeface="Consolas" panose="020B0609020204030204"/>
                <a:cs typeface="Consolas" panose="020B0609020204030204"/>
              </a:rPr>
              <a:t>DroneStatus</a:t>
            </a:r>
            <a:r>
              <a:rPr sz="2300" spc="-160" dirty="0">
                <a:latin typeface="Consolas" panose="020B0609020204030204"/>
                <a:cs typeface="Consolas" panose="020B0609020204030204"/>
              </a:rPr>
              <a:t> </a:t>
            </a:r>
            <a:r>
              <a:rPr sz="2300" spc="-50" dirty="0">
                <a:latin typeface="Consolas" panose="020B0609020204030204"/>
                <a:cs typeface="Consolas" panose="020B0609020204030204"/>
              </a:rPr>
              <a:t>{ </a:t>
            </a:r>
            <a:r>
              <a:rPr sz="2300" spc="-105" dirty="0">
                <a:latin typeface="Consolas" panose="020B0609020204030204"/>
                <a:cs typeface="Consolas" panose="020B0609020204030204"/>
              </a:rPr>
              <a:t>drone</a:t>
            </a:r>
            <a:r>
              <a:rPr sz="2300" spc="-175" dirty="0">
                <a:latin typeface="Consolas" panose="020B0609020204030204"/>
                <a:cs typeface="Consolas" panose="020B0609020204030204"/>
              </a:rPr>
              <a:t> </a:t>
            </a:r>
            <a:r>
              <a:rPr sz="2300" spc="-135" dirty="0">
                <a:latin typeface="Consolas" panose="020B0609020204030204"/>
                <a:cs typeface="Consolas" panose="020B0609020204030204"/>
              </a:rPr>
              <a:t>id:</a:t>
            </a:r>
            <a:r>
              <a:rPr sz="2300" spc="-235" dirty="0">
                <a:latin typeface="Consolas" panose="020B0609020204030204"/>
                <a:cs typeface="Consolas" panose="020B0609020204030204"/>
              </a:rPr>
              <a:t> </a:t>
            </a:r>
            <a:r>
              <a:rPr sz="2300" spc="-140" dirty="0">
                <a:latin typeface="Consolas" panose="020B0609020204030204"/>
                <a:cs typeface="Consolas" panose="020B0609020204030204"/>
              </a:rPr>
              <a:t>String,</a:t>
            </a:r>
            <a:endParaRPr sz="2300">
              <a:latin typeface="Consolas" panose="020B0609020204030204"/>
              <a:cs typeface="Consolas" panose="020B0609020204030204"/>
            </a:endParaRPr>
          </a:p>
          <a:p>
            <a:pPr marL="828040">
              <a:lnSpc>
                <a:spcPts val="2265"/>
              </a:lnSpc>
            </a:pPr>
            <a:r>
              <a:rPr sz="2200" spc="-75" dirty="0">
                <a:latin typeface="Consolas" panose="020B0609020204030204"/>
                <a:cs typeface="Consolas" panose="020B0609020204030204"/>
              </a:rPr>
              <a:t>position:</a:t>
            </a:r>
            <a:r>
              <a:rPr sz="2200" spc="-155" dirty="0">
                <a:latin typeface="Consolas" panose="020B0609020204030204"/>
                <a:cs typeface="Consolas" panose="020B0609020204030204"/>
              </a:rPr>
              <a:t> </a:t>
            </a:r>
            <a:r>
              <a:rPr sz="2200" spc="-60" dirty="0">
                <a:latin typeface="Consolas" panose="020B0609020204030204"/>
                <a:cs typeface="Consolas" panose="020B0609020204030204"/>
              </a:rPr>
              <a:t>GpsCoordinate,</a:t>
            </a:r>
            <a:endParaRPr sz="2200">
              <a:latin typeface="Consolas" panose="020B0609020204030204"/>
              <a:cs typeface="Consolas" panose="020B0609020204030204"/>
            </a:endParaRPr>
          </a:p>
          <a:p>
            <a:pPr marL="826770">
              <a:lnSpc>
                <a:spcPts val="2490"/>
              </a:lnSpc>
            </a:pPr>
            <a:r>
              <a:rPr sz="2350" spc="-170" dirty="0">
                <a:latin typeface="Consolas" panose="020B0609020204030204"/>
                <a:cs typeface="Consolas" panose="020B0609020204030204"/>
              </a:rPr>
              <a:t>battery</a:t>
            </a:r>
            <a:r>
              <a:rPr sz="2350" spc="-155" dirty="0">
                <a:latin typeface="Consolas" panose="020B0609020204030204"/>
                <a:cs typeface="Consolas" panose="020B0609020204030204"/>
              </a:rPr>
              <a:t> </a:t>
            </a:r>
            <a:r>
              <a:rPr sz="2350" spc="-135" dirty="0">
                <a:latin typeface="Consolas" panose="020B0609020204030204"/>
                <a:cs typeface="Consolas" panose="020B0609020204030204"/>
              </a:rPr>
              <a:t>level:</a:t>
            </a:r>
            <a:r>
              <a:rPr sz="2350" spc="-140" dirty="0">
                <a:latin typeface="Consolas" panose="020B0609020204030204"/>
                <a:cs typeface="Consolas" panose="020B0609020204030204"/>
              </a:rPr>
              <a:t> </a:t>
            </a:r>
            <a:r>
              <a:rPr sz="2350" spc="-20" dirty="0">
                <a:latin typeface="Consolas" panose="020B0609020204030204"/>
                <a:cs typeface="Consolas" panose="020B0609020204030204"/>
              </a:rPr>
              <a:t>f64,</a:t>
            </a:r>
            <a:endParaRPr sz="2350">
              <a:latin typeface="Consolas" panose="020B0609020204030204"/>
              <a:cs typeface="Consolas" panose="020B0609020204030204"/>
            </a:endParaRPr>
          </a:p>
          <a:p>
            <a:pPr marL="826135">
              <a:lnSpc>
                <a:spcPts val="2625"/>
              </a:lnSpc>
            </a:pPr>
            <a:r>
              <a:rPr sz="2300" dirty="0">
                <a:latin typeface="Consolas" panose="020B0609020204030204"/>
                <a:cs typeface="Consolas" panose="020B0609020204030204"/>
              </a:rPr>
              <a:t>is</a:t>
            </a:r>
            <a:r>
              <a:rPr sz="2300" spc="-265" dirty="0">
                <a:latin typeface="Consolas" panose="020B0609020204030204"/>
                <a:cs typeface="Consolas" panose="020B0609020204030204"/>
              </a:rPr>
              <a:t> </a:t>
            </a:r>
            <a:r>
              <a:rPr sz="2300" spc="-150" dirty="0">
                <a:latin typeface="Consolas" panose="020B0609020204030204"/>
                <a:cs typeface="Consolas" panose="020B0609020204030204"/>
              </a:rPr>
              <a:t>flying:</a:t>
            </a:r>
            <a:r>
              <a:rPr sz="2300" spc="-185" dirty="0">
                <a:latin typeface="Consolas" panose="020B0609020204030204"/>
                <a:cs typeface="Consolas" panose="020B0609020204030204"/>
              </a:rPr>
              <a:t> </a:t>
            </a:r>
            <a:r>
              <a:rPr sz="2300" spc="-10" dirty="0">
                <a:latin typeface="Consolas" panose="020B0609020204030204"/>
                <a:cs typeface="Consolas" panose="020B0609020204030204"/>
              </a:rPr>
              <a:t>bool,</a:t>
            </a:r>
            <a:endParaRPr sz="2300">
              <a:latin typeface="Consolas" panose="020B0609020204030204"/>
              <a:cs typeface="Consolas" panose="020B0609020204030204"/>
            </a:endParaRPr>
          </a:p>
        </p:txBody>
      </p:sp>
      <p:sp>
        <p:nvSpPr>
          <p:cNvPr id="7" name="object 7"/>
          <p:cNvSpPr txBox="1"/>
          <p:nvPr/>
        </p:nvSpPr>
        <p:spPr>
          <a:xfrm>
            <a:off x="5819140" y="1710690"/>
            <a:ext cx="6954520" cy="2541270"/>
          </a:xfrm>
          <a:prstGeom prst="rect">
            <a:avLst/>
          </a:prstGeom>
        </p:spPr>
        <p:txBody>
          <a:bodyPr vert="horz" wrap="square" lIns="0" tIns="16510" rIns="0" bIns="0" rtlCol="0">
            <a:spAutoFit/>
          </a:bodyPr>
          <a:lstStyle/>
          <a:p>
            <a:pPr marL="12700">
              <a:lnSpc>
                <a:spcPct val="100000"/>
              </a:lnSpc>
              <a:spcBef>
                <a:spcPts val="130"/>
              </a:spcBef>
            </a:pPr>
            <a:r>
              <a:rPr sz="3300" dirty="0">
                <a:solidFill>
                  <a:srgbClr val="131313"/>
                </a:solidFill>
                <a:latin typeface="Arial MT"/>
                <a:cs typeface="Arial MT"/>
              </a:rPr>
              <a:t>Example</a:t>
            </a:r>
            <a:r>
              <a:rPr sz="3300" spc="-200" dirty="0">
                <a:solidFill>
                  <a:srgbClr val="131313"/>
                </a:solidFill>
                <a:latin typeface="Arial MT"/>
                <a:cs typeface="Arial MT"/>
              </a:rPr>
              <a:t> </a:t>
            </a:r>
            <a:r>
              <a:rPr sz="3300" dirty="0">
                <a:solidFill>
                  <a:srgbClr val="111111"/>
                </a:solidFill>
                <a:latin typeface="Arial MT"/>
                <a:cs typeface="Arial MT"/>
              </a:rPr>
              <a:t>Message</a:t>
            </a:r>
            <a:r>
              <a:rPr sz="3300" spc="-190" dirty="0">
                <a:solidFill>
                  <a:srgbClr val="111111"/>
                </a:solidFill>
                <a:latin typeface="Arial MT"/>
                <a:cs typeface="Arial MT"/>
              </a:rPr>
              <a:t> </a:t>
            </a:r>
            <a:r>
              <a:rPr sz="3300" spc="-10" dirty="0">
                <a:solidFill>
                  <a:srgbClr val="0F0F0F"/>
                </a:solidFill>
                <a:latin typeface="Arial MT"/>
                <a:cs typeface="Arial MT"/>
              </a:rPr>
              <a:t>Exchange</a:t>
            </a:r>
            <a:endParaRPr sz="3300">
              <a:latin typeface="Arial MT"/>
              <a:cs typeface="Arial MT"/>
            </a:endParaRPr>
          </a:p>
          <a:p>
            <a:pPr marL="17780">
              <a:lnSpc>
                <a:spcPct val="100000"/>
              </a:lnSpc>
              <a:spcBef>
                <a:spcPts val="2040"/>
              </a:spcBef>
            </a:pPr>
            <a:r>
              <a:rPr sz="2700" spc="-105" dirty="0">
                <a:latin typeface="Arial MT"/>
                <a:cs typeface="Arial MT"/>
              </a:rPr>
              <a:t>Server</a:t>
            </a:r>
            <a:r>
              <a:rPr sz="2700" spc="-85" dirty="0">
                <a:latin typeface="Arial MT"/>
                <a:cs typeface="Arial MT"/>
              </a:rPr>
              <a:t> </a:t>
            </a:r>
            <a:r>
              <a:rPr sz="2700" spc="-165" dirty="0">
                <a:latin typeface="Arial MT"/>
                <a:cs typeface="Arial MT"/>
              </a:rPr>
              <a:t>-</a:t>
            </a:r>
            <a:r>
              <a:rPr sz="2700" spc="-270" dirty="0">
                <a:latin typeface="Arial MT"/>
                <a:cs typeface="Arial MT"/>
              </a:rPr>
              <a:t>+</a:t>
            </a:r>
            <a:r>
              <a:rPr sz="2700" spc="-235" dirty="0">
                <a:latin typeface="Arial MT"/>
                <a:cs typeface="Arial MT"/>
              </a:rPr>
              <a:t> </a:t>
            </a:r>
            <a:r>
              <a:rPr sz="2700" spc="-105" dirty="0">
                <a:latin typeface="Arial MT"/>
                <a:cs typeface="Arial MT"/>
              </a:rPr>
              <a:t>Drone</a:t>
            </a:r>
            <a:r>
              <a:rPr sz="2700" spc="-40" dirty="0">
                <a:latin typeface="Arial MT"/>
                <a:cs typeface="Arial MT"/>
              </a:rPr>
              <a:t> </a:t>
            </a:r>
            <a:r>
              <a:rPr sz="2700" spc="-35" dirty="0">
                <a:latin typeface="Arial MT"/>
                <a:cs typeface="Arial MT"/>
              </a:rPr>
              <a:t>(Command)</a:t>
            </a:r>
            <a:endParaRPr sz="2700">
              <a:latin typeface="Arial MT"/>
              <a:cs typeface="Arial MT"/>
            </a:endParaRPr>
          </a:p>
          <a:p>
            <a:pPr marL="33655">
              <a:lnSpc>
                <a:spcPct val="100000"/>
              </a:lnSpc>
              <a:spcBef>
                <a:spcPts val="860"/>
              </a:spcBef>
            </a:pPr>
            <a:r>
              <a:rPr sz="2550" spc="-445" dirty="0">
                <a:solidFill>
                  <a:srgbClr val="050505"/>
                </a:solidFill>
                <a:latin typeface="Arial MT"/>
                <a:cs typeface="Arial MT"/>
              </a:rPr>
              <a:t>A</a:t>
            </a:r>
            <a:r>
              <a:rPr sz="2550" spc="-145" dirty="0">
                <a:solidFill>
                  <a:srgbClr val="050505"/>
                </a:solidFill>
                <a:latin typeface="Arial MT"/>
                <a:cs typeface="Arial MT"/>
              </a:rPr>
              <a:t> </a:t>
            </a:r>
            <a:r>
              <a:rPr sz="2550" spc="-130" dirty="0">
                <a:latin typeface="Arial MT"/>
                <a:cs typeface="Arial MT"/>
              </a:rPr>
              <a:t>user</a:t>
            </a:r>
            <a:r>
              <a:rPr sz="2550" spc="-50" dirty="0">
                <a:latin typeface="Arial MT"/>
                <a:cs typeface="Arial MT"/>
              </a:rPr>
              <a:t> </a:t>
            </a:r>
            <a:r>
              <a:rPr sz="2550" spc="-70" dirty="0">
                <a:latin typeface="Arial MT"/>
                <a:cs typeface="Arial MT"/>
              </a:rPr>
              <a:t>clicks</a:t>
            </a:r>
            <a:r>
              <a:rPr sz="2550" spc="-85" dirty="0">
                <a:latin typeface="Arial MT"/>
                <a:cs typeface="Arial MT"/>
              </a:rPr>
              <a:t> </a:t>
            </a:r>
            <a:r>
              <a:rPr sz="2550" spc="-195" dirty="0">
                <a:latin typeface="Arial MT"/>
                <a:cs typeface="Arial MT"/>
              </a:rPr>
              <a:t>'Take </a:t>
            </a:r>
            <a:r>
              <a:rPr sz="2550" spc="-20" dirty="0">
                <a:solidFill>
                  <a:srgbClr val="050505"/>
                </a:solidFill>
                <a:latin typeface="Arial MT"/>
                <a:cs typeface="Arial MT"/>
              </a:rPr>
              <a:t>Off!'</a:t>
            </a:r>
            <a:r>
              <a:rPr sz="2550" spc="-45" dirty="0">
                <a:solidFill>
                  <a:srgbClr val="050505"/>
                </a:solidFill>
                <a:latin typeface="Arial MT"/>
                <a:cs typeface="Arial MT"/>
              </a:rPr>
              <a:t> </a:t>
            </a:r>
            <a:r>
              <a:rPr sz="2550" spc="-95" dirty="0">
                <a:latin typeface="Arial MT"/>
                <a:cs typeface="Arial MT"/>
              </a:rPr>
              <a:t>for</a:t>
            </a:r>
            <a:r>
              <a:rPr sz="2550" spc="-114" dirty="0">
                <a:latin typeface="Arial MT"/>
                <a:cs typeface="Arial MT"/>
              </a:rPr>
              <a:t> </a:t>
            </a:r>
            <a:r>
              <a:rPr sz="2550" spc="-160" dirty="0">
                <a:latin typeface="Arial MT"/>
                <a:cs typeface="Arial MT"/>
              </a:rPr>
              <a:t>Drone</a:t>
            </a:r>
            <a:r>
              <a:rPr sz="2550" spc="-45" dirty="0">
                <a:latin typeface="Arial MT"/>
                <a:cs typeface="Arial MT"/>
              </a:rPr>
              <a:t> </a:t>
            </a:r>
            <a:r>
              <a:rPr sz="2550" spc="-20" dirty="0">
                <a:latin typeface="Arial MT"/>
                <a:cs typeface="Arial MT"/>
              </a:rPr>
              <a:t>001.</a:t>
            </a:r>
            <a:endParaRPr sz="2550">
              <a:latin typeface="Arial MT"/>
              <a:cs typeface="Arial MT"/>
            </a:endParaRPr>
          </a:p>
          <a:p>
            <a:pPr>
              <a:lnSpc>
                <a:spcPct val="100000"/>
              </a:lnSpc>
              <a:spcBef>
                <a:spcPts val="710"/>
              </a:spcBef>
            </a:pPr>
            <a:endParaRPr sz="2550">
              <a:latin typeface="Arial MT"/>
              <a:cs typeface="Arial MT"/>
            </a:endParaRPr>
          </a:p>
          <a:p>
            <a:pPr marL="251460">
              <a:lnSpc>
                <a:spcPct val="100000"/>
              </a:lnSpc>
            </a:pPr>
            <a:r>
              <a:rPr sz="2300" spc="-60" dirty="0">
                <a:latin typeface="Consolas" panose="020B0609020204030204"/>
                <a:cs typeface="Consolas" panose="020B0609020204030204"/>
              </a:rPr>
              <a:t>{”drone_id":"XiG001”,”command”:”Take0ff“}</a:t>
            </a:r>
            <a:endParaRPr sz="2300">
              <a:latin typeface="Consolas" panose="020B0609020204030204"/>
              <a:cs typeface="Consolas" panose="020B0609020204030204"/>
            </a:endParaRPr>
          </a:p>
        </p:txBody>
      </p:sp>
      <p:sp>
        <p:nvSpPr>
          <p:cNvPr id="8" name="object 8"/>
          <p:cNvSpPr txBox="1"/>
          <p:nvPr/>
        </p:nvSpPr>
        <p:spPr>
          <a:xfrm>
            <a:off x="5961380" y="5687060"/>
            <a:ext cx="5062220" cy="3517265"/>
          </a:xfrm>
          <a:prstGeom prst="rect">
            <a:avLst/>
          </a:prstGeom>
        </p:spPr>
        <p:txBody>
          <a:bodyPr vert="horz" wrap="square" lIns="0" tIns="131445" rIns="0" bIns="0" rtlCol="0">
            <a:spAutoFit/>
          </a:bodyPr>
          <a:lstStyle/>
          <a:p>
            <a:pPr marL="20320">
              <a:lnSpc>
                <a:spcPct val="100000"/>
              </a:lnSpc>
              <a:spcBef>
                <a:spcPts val="1035"/>
              </a:spcBef>
            </a:pPr>
            <a:r>
              <a:rPr sz="2550" spc="-20" dirty="0">
                <a:latin typeface="Arial MT"/>
                <a:cs typeface="Arial MT"/>
              </a:rPr>
              <a:t>Drone</a:t>
            </a:r>
            <a:r>
              <a:rPr sz="2550" spc="-95" dirty="0">
                <a:latin typeface="Arial MT"/>
                <a:cs typeface="Arial MT"/>
              </a:rPr>
              <a:t> </a:t>
            </a:r>
            <a:r>
              <a:rPr sz="2550" spc="-125" dirty="0">
                <a:latin typeface="Arial MT"/>
                <a:cs typeface="Arial MT"/>
              </a:rPr>
              <a:t>-</a:t>
            </a:r>
            <a:r>
              <a:rPr sz="2550" spc="-200" dirty="0">
                <a:latin typeface="Arial MT"/>
                <a:cs typeface="Arial MT"/>
              </a:rPr>
              <a:t>+</a:t>
            </a:r>
            <a:r>
              <a:rPr sz="2550" spc="-190" dirty="0">
                <a:latin typeface="Arial MT"/>
                <a:cs typeface="Arial MT"/>
              </a:rPr>
              <a:t> </a:t>
            </a:r>
            <a:r>
              <a:rPr sz="2550" dirty="0">
                <a:latin typeface="Arial MT"/>
                <a:cs typeface="Arial MT"/>
              </a:rPr>
              <a:t>Server</a:t>
            </a:r>
            <a:r>
              <a:rPr sz="2550" spc="105" dirty="0">
                <a:latin typeface="Arial MT"/>
                <a:cs typeface="Arial MT"/>
              </a:rPr>
              <a:t> </a:t>
            </a:r>
            <a:r>
              <a:rPr sz="2550" dirty="0">
                <a:latin typeface="Arial MT"/>
                <a:cs typeface="Arial MT"/>
              </a:rPr>
              <a:t>(Status</a:t>
            </a:r>
            <a:r>
              <a:rPr sz="2550" spc="-150" dirty="0">
                <a:latin typeface="Arial MT"/>
                <a:cs typeface="Arial MT"/>
              </a:rPr>
              <a:t> </a:t>
            </a:r>
            <a:r>
              <a:rPr sz="2550" spc="-10" dirty="0">
                <a:latin typeface="Arial MT"/>
                <a:cs typeface="Arial MT"/>
              </a:rPr>
              <a:t>Update)</a:t>
            </a:r>
            <a:endParaRPr sz="2550">
              <a:latin typeface="Arial MT"/>
              <a:cs typeface="Arial MT"/>
            </a:endParaRPr>
          </a:p>
          <a:p>
            <a:pPr marL="12700">
              <a:lnSpc>
                <a:spcPct val="100000"/>
              </a:lnSpc>
              <a:spcBef>
                <a:spcPts val="940"/>
              </a:spcBef>
            </a:pPr>
            <a:r>
              <a:rPr sz="2550" spc="-130" dirty="0">
                <a:solidFill>
                  <a:srgbClr val="0E0E0E"/>
                </a:solidFill>
                <a:latin typeface="Arial MT"/>
                <a:cs typeface="Arial MT"/>
              </a:rPr>
              <a:t>The</a:t>
            </a:r>
            <a:r>
              <a:rPr sz="2550" spc="-190" dirty="0">
                <a:solidFill>
                  <a:srgbClr val="0E0E0E"/>
                </a:solidFill>
                <a:latin typeface="Arial MT"/>
                <a:cs typeface="Arial MT"/>
              </a:rPr>
              <a:t> </a:t>
            </a:r>
            <a:r>
              <a:rPr sz="2550" spc="-75" dirty="0">
                <a:latin typeface="Arial MT"/>
                <a:cs typeface="Arial MT"/>
              </a:rPr>
              <a:t>drone</a:t>
            </a:r>
            <a:r>
              <a:rPr sz="2550" spc="-140" dirty="0">
                <a:latin typeface="Arial MT"/>
                <a:cs typeface="Arial MT"/>
              </a:rPr>
              <a:t> </a:t>
            </a:r>
            <a:r>
              <a:rPr sz="2550" spc="-55" dirty="0">
                <a:latin typeface="Arial MT"/>
                <a:cs typeface="Arial MT"/>
              </a:rPr>
              <a:t>reports</a:t>
            </a:r>
            <a:r>
              <a:rPr sz="2550" spc="-85" dirty="0">
                <a:latin typeface="Arial MT"/>
                <a:cs typeface="Arial MT"/>
              </a:rPr>
              <a:t> </a:t>
            </a:r>
            <a:r>
              <a:rPr sz="2550" dirty="0">
                <a:solidFill>
                  <a:srgbClr val="0E0E0E"/>
                </a:solidFill>
                <a:latin typeface="Arial MT"/>
                <a:cs typeface="Arial MT"/>
              </a:rPr>
              <a:t>its</a:t>
            </a:r>
            <a:r>
              <a:rPr sz="2550" spc="-105" dirty="0">
                <a:solidFill>
                  <a:srgbClr val="0E0E0E"/>
                </a:solidFill>
                <a:latin typeface="Arial MT"/>
                <a:cs typeface="Arial MT"/>
              </a:rPr>
              <a:t> </a:t>
            </a:r>
            <a:r>
              <a:rPr sz="2550" spc="-150" dirty="0">
                <a:solidFill>
                  <a:srgbClr val="050505"/>
                </a:solidFill>
                <a:latin typeface="Arial MT"/>
                <a:cs typeface="Arial MT"/>
              </a:rPr>
              <a:t>new</a:t>
            </a:r>
            <a:r>
              <a:rPr sz="2550" spc="-85" dirty="0">
                <a:solidFill>
                  <a:srgbClr val="050505"/>
                </a:solidFill>
                <a:latin typeface="Arial MT"/>
                <a:cs typeface="Arial MT"/>
              </a:rPr>
              <a:t> </a:t>
            </a:r>
            <a:r>
              <a:rPr sz="2550" spc="-35" dirty="0">
                <a:latin typeface="Arial MT"/>
                <a:cs typeface="Arial MT"/>
              </a:rPr>
              <a:t>state</a:t>
            </a:r>
            <a:r>
              <a:rPr sz="2550" spc="-160" dirty="0">
                <a:latin typeface="Arial MT"/>
                <a:cs typeface="Arial MT"/>
              </a:rPr>
              <a:t> </a:t>
            </a:r>
            <a:r>
              <a:rPr sz="2550" spc="-130" dirty="0">
                <a:latin typeface="Arial MT"/>
                <a:cs typeface="Arial MT"/>
              </a:rPr>
              <a:t>every</a:t>
            </a:r>
            <a:r>
              <a:rPr sz="2550" spc="-50" dirty="0">
                <a:latin typeface="Arial MT"/>
                <a:cs typeface="Arial MT"/>
              </a:rPr>
              <a:t> </a:t>
            </a:r>
            <a:r>
              <a:rPr sz="2550" spc="-165" dirty="0">
                <a:solidFill>
                  <a:srgbClr val="080808"/>
                </a:solidFill>
                <a:latin typeface="Arial MT"/>
                <a:cs typeface="Arial MT"/>
              </a:rPr>
              <a:t>5</a:t>
            </a:r>
            <a:r>
              <a:rPr sz="2550" spc="-114" dirty="0">
                <a:solidFill>
                  <a:srgbClr val="080808"/>
                </a:solidFill>
                <a:latin typeface="Arial MT"/>
                <a:cs typeface="Arial MT"/>
              </a:rPr>
              <a:t> </a:t>
            </a:r>
            <a:r>
              <a:rPr sz="2550" spc="-10" dirty="0">
                <a:solidFill>
                  <a:srgbClr val="050505"/>
                </a:solidFill>
                <a:latin typeface="Arial MT"/>
                <a:cs typeface="Arial MT"/>
              </a:rPr>
              <a:t>seconds</a:t>
            </a:r>
            <a:endParaRPr sz="2550">
              <a:latin typeface="Arial MT"/>
              <a:cs typeface="Arial MT"/>
            </a:endParaRPr>
          </a:p>
          <a:p>
            <a:pPr>
              <a:lnSpc>
                <a:spcPct val="100000"/>
              </a:lnSpc>
              <a:spcBef>
                <a:spcPts val="975"/>
              </a:spcBef>
            </a:pPr>
            <a:endParaRPr sz="2550">
              <a:latin typeface="Arial MT"/>
              <a:cs typeface="Arial MT"/>
            </a:endParaRPr>
          </a:p>
          <a:p>
            <a:pPr marL="244475" marR="5080" indent="-1905" algn="just">
              <a:lnSpc>
                <a:spcPct val="87000"/>
              </a:lnSpc>
            </a:pPr>
            <a:r>
              <a:rPr sz="2350" spc="-165" dirty="0">
                <a:latin typeface="Consolas" panose="020B0609020204030204"/>
                <a:cs typeface="Consolas" panose="020B0609020204030204"/>
              </a:rPr>
              <a:t>(”statusUpdate”:(“drone</a:t>
            </a:r>
            <a:r>
              <a:rPr sz="2350" spc="35" dirty="0">
                <a:latin typeface="Consolas" panose="020B0609020204030204"/>
                <a:cs typeface="Consolas" panose="020B0609020204030204"/>
              </a:rPr>
              <a:t> </a:t>
            </a:r>
            <a:r>
              <a:rPr sz="2350" spc="-10" dirty="0">
                <a:latin typeface="Consolas" panose="020B0609020204030204"/>
                <a:cs typeface="Consolas" panose="020B0609020204030204"/>
              </a:rPr>
              <a:t>id”:”Tii001”,”positi </a:t>
            </a:r>
            <a:r>
              <a:rPr sz="2350" spc="-95" dirty="0">
                <a:latin typeface="Consolas" panose="020B0609020204030204"/>
                <a:cs typeface="Consolas" panose="020B0609020204030204"/>
              </a:rPr>
              <a:t>on”:(latitude":39.9,longitude”:116.4,”altitud </a:t>
            </a:r>
            <a:r>
              <a:rPr sz="2350" spc="-175" dirty="0">
                <a:latin typeface="Consolas" panose="020B0609020204030204"/>
                <a:cs typeface="Consolas" panose="020B0609020204030204"/>
              </a:rPr>
              <a:t>e”:50.0},"battery</a:t>
            </a:r>
            <a:r>
              <a:rPr sz="2350" spc="-155" dirty="0">
                <a:latin typeface="Consolas" panose="020B0609020204030204"/>
                <a:cs typeface="Consolas" panose="020B0609020204030204"/>
              </a:rPr>
              <a:t> </a:t>
            </a:r>
            <a:r>
              <a:rPr sz="2350" spc="-180" dirty="0">
                <a:latin typeface="Consolas" panose="020B0609020204030204"/>
                <a:cs typeface="Consolas" panose="020B0609020204030204"/>
              </a:rPr>
              <a:t>level”:99.5,"is</a:t>
            </a:r>
            <a:r>
              <a:rPr sz="2350" spc="-120" dirty="0">
                <a:latin typeface="Consolas" panose="020B0609020204030204"/>
                <a:cs typeface="Consolas" panose="020B0609020204030204"/>
              </a:rPr>
              <a:t> </a:t>
            </a:r>
            <a:r>
              <a:rPr sz="2350" spc="-140" dirty="0">
                <a:latin typeface="Consolas" panose="020B0609020204030204"/>
                <a:cs typeface="Consolas" panose="020B0609020204030204"/>
              </a:rPr>
              <a:t>flying”:true}}</a:t>
            </a:r>
            <a:endParaRPr sz="2350">
              <a:latin typeface="Consolas" panose="020B0609020204030204"/>
              <a:cs typeface="Consolas" panose="020B0609020204030204"/>
            </a:endParaRPr>
          </a:p>
        </p:txBody>
      </p:sp>
      <p:pic>
        <p:nvPicPr>
          <p:cNvPr id="12" name="图片 11"/>
          <p:cNvPicPr>
            <a:picLocks noChangeAspect="1"/>
          </p:cNvPicPr>
          <p:nvPr/>
        </p:nvPicPr>
        <p:blipFill>
          <a:blip r:embed="rId3"/>
          <a:stretch>
            <a:fillRect/>
          </a:stretch>
        </p:blipFill>
        <p:spPr>
          <a:xfrm>
            <a:off x="11604625" y="5532755"/>
            <a:ext cx="5337810" cy="315023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13081000" y="3505200"/>
            <a:ext cx="3454400" cy="3225800"/>
            <a:chOff x="12954000" y="3479800"/>
            <a:chExt cx="3454400" cy="3225800"/>
          </a:xfrm>
        </p:grpSpPr>
        <p:pic>
          <p:nvPicPr>
            <p:cNvPr id="3" name="object 3"/>
            <p:cNvPicPr/>
            <p:nvPr/>
          </p:nvPicPr>
          <p:blipFill>
            <a:blip r:embed="rId1" cstate="print"/>
            <a:stretch>
              <a:fillRect/>
            </a:stretch>
          </p:blipFill>
          <p:spPr>
            <a:xfrm>
              <a:off x="12954000" y="3479800"/>
              <a:ext cx="3454400" cy="3225800"/>
            </a:xfrm>
            <a:prstGeom prst="rect">
              <a:avLst/>
            </a:prstGeom>
          </p:spPr>
        </p:pic>
        <p:pic>
          <p:nvPicPr>
            <p:cNvPr id="4" name="object 4"/>
            <p:cNvPicPr/>
            <p:nvPr/>
          </p:nvPicPr>
          <p:blipFill>
            <a:blip r:embed="rId2" cstate="print"/>
            <a:stretch>
              <a:fillRect/>
            </a:stretch>
          </p:blipFill>
          <p:spPr>
            <a:xfrm>
              <a:off x="14325600" y="4749800"/>
              <a:ext cx="698500" cy="711200"/>
            </a:xfrm>
            <a:prstGeom prst="rect">
              <a:avLst/>
            </a:prstGeom>
          </p:spPr>
        </p:pic>
      </p:grpSp>
      <p:sp>
        <p:nvSpPr>
          <p:cNvPr id="5" name="object 5"/>
          <p:cNvSpPr txBox="1">
            <a:spLocks noGrp="1"/>
          </p:cNvSpPr>
          <p:nvPr>
            <p:ph type="title"/>
          </p:nvPr>
        </p:nvSpPr>
        <p:spPr>
          <a:prstGeom prst="rect">
            <a:avLst/>
          </a:prstGeom>
        </p:spPr>
        <p:txBody>
          <a:bodyPr vert="horz" wrap="square" lIns="0" tIns="151482" rIns="0" bIns="0" rtlCol="0">
            <a:spAutoFit/>
          </a:bodyPr>
          <a:lstStyle/>
          <a:p>
            <a:pPr marL="2016125">
              <a:lnSpc>
                <a:spcPct val="100000"/>
              </a:lnSpc>
              <a:spcBef>
                <a:spcPts val="115"/>
              </a:spcBef>
            </a:pPr>
            <a:r>
              <a:rPr sz="5400" spc="60" dirty="0">
                <a:solidFill>
                  <a:srgbClr val="232323"/>
                </a:solidFill>
              </a:rPr>
              <a:t>Pillar</a:t>
            </a:r>
            <a:r>
              <a:rPr sz="5400" spc="-275" dirty="0">
                <a:solidFill>
                  <a:srgbClr val="232323"/>
                </a:solidFill>
              </a:rPr>
              <a:t> </a:t>
            </a:r>
            <a:r>
              <a:rPr sz="5400" spc="85" dirty="0">
                <a:solidFill>
                  <a:srgbClr val="262626"/>
                </a:solidFill>
              </a:rPr>
              <a:t>II:</a:t>
            </a:r>
            <a:r>
              <a:rPr sz="5400" spc="-500" dirty="0">
                <a:solidFill>
                  <a:srgbClr val="262626"/>
                </a:solidFill>
              </a:rPr>
              <a:t> </a:t>
            </a:r>
            <a:r>
              <a:rPr sz="5400" dirty="0">
                <a:solidFill>
                  <a:srgbClr val="242424"/>
                </a:solidFill>
              </a:rPr>
              <a:t>The</a:t>
            </a:r>
            <a:r>
              <a:rPr sz="5400" spc="-250" dirty="0">
                <a:solidFill>
                  <a:srgbClr val="242424"/>
                </a:solidFill>
              </a:rPr>
              <a:t> </a:t>
            </a:r>
            <a:r>
              <a:rPr sz="5400" spc="55" dirty="0">
                <a:solidFill>
                  <a:srgbClr val="232323"/>
                </a:solidFill>
              </a:rPr>
              <a:t>Asynchronous</a:t>
            </a:r>
            <a:r>
              <a:rPr sz="5400" spc="-20" dirty="0">
                <a:solidFill>
                  <a:srgbClr val="232323"/>
                </a:solidFill>
              </a:rPr>
              <a:t> </a:t>
            </a:r>
            <a:r>
              <a:rPr sz="5400" dirty="0">
                <a:solidFill>
                  <a:srgbClr val="232323"/>
                </a:solidFill>
              </a:rPr>
              <a:t>Server</a:t>
            </a:r>
            <a:r>
              <a:rPr sz="5400" spc="-175" dirty="0">
                <a:solidFill>
                  <a:srgbClr val="232323"/>
                </a:solidFill>
              </a:rPr>
              <a:t> </a:t>
            </a:r>
            <a:r>
              <a:rPr sz="5400" spc="-20" dirty="0">
                <a:solidFill>
                  <a:srgbClr val="262626"/>
                </a:solidFill>
              </a:rPr>
              <a:t>Core</a:t>
            </a:r>
            <a:endParaRPr sz="5400"/>
          </a:p>
        </p:txBody>
      </p:sp>
      <p:sp>
        <p:nvSpPr>
          <p:cNvPr id="9" name="object 9"/>
          <p:cNvSpPr txBox="1">
            <a:spLocks noGrp="1"/>
          </p:cNvSpPr>
          <p:nvPr>
            <p:ph type="ftr" sz="quarter" idx="5"/>
          </p:nvPr>
        </p:nvSpPr>
        <p:spPr>
          <a:prstGeom prst="rect">
            <a:avLst/>
          </a:prstGeom>
        </p:spPr>
        <p:txBody>
          <a:bodyPr vert="horz" wrap="square" lIns="0" tIns="0" rIns="0" bIns="0" rtlCol="0">
            <a:spAutoFit/>
          </a:bodyPr>
          <a:lstStyle/>
          <a:p>
            <a:pPr marL="12700">
              <a:lnSpc>
                <a:spcPts val="1555"/>
              </a:lnSpc>
            </a:pPr>
            <a:r>
              <a:rPr dirty="0"/>
              <a:t>G</a:t>
            </a:r>
            <a:r>
              <a:rPr spc="490" dirty="0"/>
              <a:t> </a:t>
            </a:r>
            <a:r>
              <a:rPr spc="-10" dirty="0"/>
              <a:t>NotebookLM</a:t>
            </a:r>
            <a:endParaRPr spc="-10" dirty="0"/>
          </a:p>
        </p:txBody>
      </p:sp>
      <p:sp>
        <p:nvSpPr>
          <p:cNvPr id="6" name="object 6"/>
          <p:cNvSpPr txBox="1">
            <a:spLocks noGrp="1"/>
          </p:cNvSpPr>
          <p:nvPr>
            <p:ph sz="half" idx="2"/>
          </p:nvPr>
        </p:nvSpPr>
        <p:spPr>
          <a:xfrm>
            <a:off x="878251" y="2068688"/>
            <a:ext cx="7395845" cy="6057265"/>
          </a:xfrm>
          <a:prstGeom prst="rect">
            <a:avLst/>
          </a:prstGeom>
        </p:spPr>
        <p:txBody>
          <a:bodyPr vert="horz" wrap="square" lIns="0" tIns="69850" rIns="0" bIns="0" rtlCol="0">
            <a:spAutoFit/>
          </a:bodyPr>
          <a:lstStyle/>
          <a:p>
            <a:pPr marL="27940" marR="344170" indent="-15875">
              <a:lnSpc>
                <a:spcPts val="3950"/>
              </a:lnSpc>
              <a:spcBef>
                <a:spcPts val="550"/>
              </a:spcBef>
            </a:pPr>
            <a:r>
              <a:rPr sz="4000" spc="-10" dirty="0">
                <a:latin typeface="Times New Roman" panose="02020603050405020304" charset="0"/>
                <a:cs typeface="Times New Roman" panose="02020603050405020304" charset="0"/>
              </a:rPr>
              <a:t>The</a:t>
            </a:r>
            <a:r>
              <a:rPr sz="4000" spc="-190" dirty="0">
                <a:latin typeface="Times New Roman" panose="02020603050405020304" charset="0"/>
                <a:cs typeface="Times New Roman" panose="02020603050405020304" charset="0"/>
              </a:rPr>
              <a:t> </a:t>
            </a:r>
            <a:r>
              <a:rPr sz="4000" dirty="0">
                <a:latin typeface="Times New Roman" panose="02020603050405020304" charset="0"/>
                <a:cs typeface="Times New Roman" panose="02020603050405020304" charset="0"/>
              </a:rPr>
              <a:t>Challenge:</a:t>
            </a:r>
            <a:r>
              <a:rPr sz="4000" spc="80" dirty="0">
                <a:latin typeface="Times New Roman" panose="02020603050405020304" charset="0"/>
                <a:cs typeface="Times New Roman" panose="02020603050405020304" charset="0"/>
              </a:rPr>
              <a:t> </a:t>
            </a:r>
            <a:r>
              <a:rPr sz="4000" dirty="0">
                <a:latin typeface="Times New Roman" panose="02020603050405020304" charset="0"/>
                <a:cs typeface="Times New Roman" panose="02020603050405020304" charset="0"/>
              </a:rPr>
              <a:t>High</a:t>
            </a:r>
            <a:r>
              <a:rPr sz="4000" spc="-120" dirty="0">
                <a:latin typeface="Times New Roman" panose="02020603050405020304" charset="0"/>
                <a:cs typeface="Times New Roman" panose="02020603050405020304" charset="0"/>
              </a:rPr>
              <a:t> </a:t>
            </a:r>
            <a:r>
              <a:rPr sz="4000" spc="-10" dirty="0">
                <a:latin typeface="Times New Roman" panose="02020603050405020304" charset="0"/>
                <a:cs typeface="Times New Roman" panose="02020603050405020304" charset="0"/>
              </a:rPr>
              <a:t>Concurrency, </a:t>
            </a:r>
            <a:r>
              <a:rPr sz="4000" spc="-55" dirty="0">
                <a:latin typeface="Times New Roman" panose="02020603050405020304" charset="0"/>
                <a:cs typeface="Times New Roman" panose="02020603050405020304" charset="0"/>
              </a:rPr>
              <a:t>Low</a:t>
            </a:r>
            <a:r>
              <a:rPr sz="4000" spc="-285" dirty="0">
                <a:latin typeface="Times New Roman" panose="02020603050405020304" charset="0"/>
                <a:cs typeface="Times New Roman" panose="02020603050405020304" charset="0"/>
              </a:rPr>
              <a:t> </a:t>
            </a:r>
            <a:r>
              <a:rPr sz="4000" spc="-10" dirty="0">
                <a:latin typeface="Times New Roman" panose="02020603050405020304" charset="0"/>
                <a:cs typeface="Times New Roman" panose="02020603050405020304" charset="0"/>
              </a:rPr>
              <a:t>Overhead</a:t>
            </a:r>
            <a:endParaRPr sz="4000" spc="-10" dirty="0">
              <a:latin typeface="Times New Roman" panose="02020603050405020304" charset="0"/>
              <a:cs typeface="Times New Roman" panose="02020603050405020304" charset="0"/>
            </a:endParaRPr>
          </a:p>
          <a:p>
            <a:pPr marL="13970">
              <a:lnSpc>
                <a:spcPct val="100000"/>
              </a:lnSpc>
              <a:spcBef>
                <a:spcPts val="2860"/>
              </a:spcBef>
            </a:pPr>
            <a:r>
              <a:rPr sz="2950" spc="-110" dirty="0"/>
              <a:t>The</a:t>
            </a:r>
            <a:r>
              <a:rPr sz="2950" spc="-125" dirty="0"/>
              <a:t> </a:t>
            </a:r>
            <a:r>
              <a:rPr sz="2950" spc="-90" dirty="0"/>
              <a:t>server</a:t>
            </a:r>
            <a:r>
              <a:rPr sz="2950" spc="-140" dirty="0"/>
              <a:t> </a:t>
            </a:r>
            <a:r>
              <a:rPr sz="2950" dirty="0"/>
              <a:t>must</a:t>
            </a:r>
            <a:r>
              <a:rPr sz="2950" spc="20" dirty="0"/>
              <a:t> </a:t>
            </a:r>
            <a:r>
              <a:rPr sz="2950" spc="-35" dirty="0"/>
              <a:t>simultaneously</a:t>
            </a:r>
            <a:r>
              <a:rPr sz="2950" spc="-280" dirty="0"/>
              <a:t> </a:t>
            </a:r>
            <a:r>
              <a:rPr sz="2950" spc="-10" dirty="0"/>
              <a:t>manage:</a:t>
            </a:r>
            <a:endParaRPr sz="2950"/>
          </a:p>
          <a:p>
            <a:pPr marL="731520" marR="5080" indent="-538480">
              <a:lnSpc>
                <a:spcPct val="105000"/>
              </a:lnSpc>
              <a:spcBef>
                <a:spcPts val="3100"/>
              </a:spcBef>
              <a:buChar char="•"/>
              <a:tabLst>
                <a:tab pos="740410" algn="l"/>
              </a:tabLst>
            </a:pPr>
            <a:r>
              <a:rPr lang="en-US" altLang="zh-CN" sz="2900">
                <a:latin typeface="Times New Roman" panose="02020603050405020304" charset="0"/>
                <a:ea typeface="Arial" panose="020B0604020202020204" pitchFamily="34" charset="0"/>
                <a:cs typeface="Times New Roman" panose="02020603050405020304" charset="0"/>
              </a:rPr>
              <a:t>Multiple, long-lived TCP connections from 	the entire drone fleet.</a:t>
            </a:r>
            <a:endParaRPr lang="en-US" altLang="zh-CN" sz="2900">
              <a:latin typeface="Times New Roman" panose="02020603050405020304" charset="0"/>
              <a:ea typeface="Arial" panose="020B0604020202020204" pitchFamily="34" charset="0"/>
              <a:cs typeface="Times New Roman" panose="02020603050405020304" charset="0"/>
            </a:endParaRPr>
          </a:p>
          <a:p>
            <a:pPr marL="730885" marR="57785" indent="-525145">
              <a:lnSpc>
                <a:spcPts val="3700"/>
              </a:lnSpc>
              <a:spcBef>
                <a:spcPts val="50"/>
              </a:spcBef>
              <a:buChar char="•"/>
              <a:tabLst>
                <a:tab pos="743585" algn="l"/>
              </a:tabLst>
            </a:pPr>
            <a:r>
              <a:rPr lang="en-US" altLang="zh-CN" sz="2900">
                <a:latin typeface="Times New Roman" panose="02020603050405020304" charset="0"/>
                <a:ea typeface="Arial" panose="020B0604020202020204" pitchFamily="34" charset="0"/>
                <a:cs typeface="Times New Roman" panose="02020603050405020304" charset="0"/>
              </a:rPr>
              <a:t>Numerous, short-lived HTTP API requests 	from the GUI.</a:t>
            </a:r>
            <a:endParaRPr lang="en-US" altLang="zh-CN" sz="2900">
              <a:latin typeface="Times New Roman" panose="02020603050405020304" charset="0"/>
              <a:ea typeface="Arial" panose="020B0604020202020204" pitchFamily="34" charset="0"/>
              <a:cs typeface="Times New Roman" panose="02020603050405020304" charset="0"/>
            </a:endParaRPr>
          </a:p>
          <a:p>
            <a:pPr marL="21590" marR="447675" indent="13970">
              <a:lnSpc>
                <a:spcPct val="100000"/>
              </a:lnSpc>
              <a:spcBef>
                <a:spcPts val="3020"/>
              </a:spcBef>
            </a:pPr>
            <a:r>
              <a:rPr lang="en-US" altLang="zh-CN" sz="3200">
                <a:latin typeface="Times New Roman" panose="02020603050405020304" charset="0"/>
                <a:ea typeface="Arial" panose="020B0604020202020204" pitchFamily="34" charset="0"/>
                <a:cs typeface="Times New Roman" panose="02020603050405020304" charset="0"/>
              </a:rPr>
              <a:t>A traditional thread-per-connection model would be in</a:t>
            </a:r>
            <a:r>
              <a:rPr lang="en-US" altLang="zh-CN" sz="3200">
                <a:latin typeface="Times New Roman" panose="02020603050405020304" charset="0"/>
                <a:ea typeface="Arial" panose="020B0604020202020204" pitchFamily="34" charset="0"/>
                <a:cs typeface="Times New Roman" panose="02020603050405020304" charset="0"/>
              </a:rPr>
              <a:t>efficient and resource-intensive as the fleet size grows.</a:t>
            </a:r>
            <a:endParaRPr lang="en-US" altLang="zh-CN" sz="3200">
              <a:latin typeface="Times New Roman" panose="02020603050405020304" charset="0"/>
              <a:ea typeface="Arial" panose="020B0604020202020204" pitchFamily="34" charset="0"/>
              <a:cs typeface="Times New Roman" panose="02020603050405020304" charset="0"/>
            </a:endParaRPr>
          </a:p>
        </p:txBody>
      </p:sp>
      <p:sp>
        <p:nvSpPr>
          <p:cNvPr id="7" name="object 7"/>
          <p:cNvSpPr txBox="1"/>
          <p:nvPr/>
        </p:nvSpPr>
        <p:spPr>
          <a:xfrm>
            <a:off x="8966200" y="1889125"/>
            <a:ext cx="7736840" cy="3298190"/>
          </a:xfrm>
          <a:prstGeom prst="rect">
            <a:avLst/>
          </a:prstGeom>
        </p:spPr>
        <p:txBody>
          <a:bodyPr vert="horz" wrap="square" lIns="0" tIns="82550" rIns="0" bIns="0" rtlCol="0">
            <a:spAutoFit/>
          </a:bodyPr>
          <a:lstStyle/>
          <a:p>
            <a:pPr marL="25400" marR="5080" indent="-12700">
              <a:lnSpc>
                <a:spcPts val="4000"/>
              </a:lnSpc>
              <a:spcBef>
                <a:spcPts val="650"/>
              </a:spcBef>
            </a:pPr>
            <a:r>
              <a:rPr sz="4000" spc="-120" dirty="0">
                <a:latin typeface="Times New Roman" panose="02020603050405020304" charset="0"/>
                <a:cs typeface="Times New Roman" panose="02020603050405020304" charset="0"/>
              </a:rPr>
              <a:t>The</a:t>
            </a:r>
            <a:r>
              <a:rPr sz="4000" spc="-290" dirty="0">
                <a:latin typeface="Times New Roman" panose="02020603050405020304" charset="0"/>
                <a:cs typeface="Times New Roman" panose="02020603050405020304" charset="0"/>
              </a:rPr>
              <a:t> </a:t>
            </a:r>
            <a:r>
              <a:rPr sz="4000" dirty="0">
                <a:latin typeface="Times New Roman" panose="02020603050405020304" charset="0"/>
                <a:cs typeface="Times New Roman" panose="02020603050405020304" charset="0"/>
              </a:rPr>
              <a:t>Solution:</a:t>
            </a:r>
            <a:r>
              <a:rPr sz="4000" spc="-75" dirty="0">
                <a:latin typeface="Times New Roman" panose="02020603050405020304" charset="0"/>
                <a:cs typeface="Times New Roman" panose="02020603050405020304" charset="0"/>
              </a:rPr>
              <a:t> Non-</a:t>
            </a:r>
            <a:r>
              <a:rPr sz="4000" spc="-40" dirty="0">
                <a:latin typeface="Times New Roman" panose="02020603050405020304" charset="0"/>
                <a:cs typeface="Times New Roman" panose="02020603050405020304" charset="0"/>
              </a:rPr>
              <a:t>Blocking</a:t>
            </a:r>
            <a:r>
              <a:rPr sz="4000" spc="-10" dirty="0">
                <a:latin typeface="Times New Roman" panose="02020603050405020304" charset="0"/>
                <a:cs typeface="Times New Roman" panose="02020603050405020304" charset="0"/>
              </a:rPr>
              <a:t> </a:t>
            </a:r>
            <a:r>
              <a:rPr sz="4000" dirty="0">
                <a:latin typeface="Times New Roman" panose="02020603050405020304" charset="0"/>
                <a:cs typeface="Times New Roman" panose="02020603050405020304" charset="0"/>
              </a:rPr>
              <a:t>I/O</a:t>
            </a:r>
            <a:r>
              <a:rPr sz="4000" spc="-315" dirty="0">
                <a:latin typeface="Times New Roman" panose="02020603050405020304" charset="0"/>
                <a:cs typeface="Times New Roman" panose="02020603050405020304" charset="0"/>
              </a:rPr>
              <a:t> </a:t>
            </a:r>
            <a:r>
              <a:rPr sz="4000" spc="105" dirty="0">
                <a:latin typeface="Times New Roman" panose="02020603050405020304" charset="0"/>
                <a:cs typeface="Times New Roman" panose="02020603050405020304" charset="0"/>
              </a:rPr>
              <a:t>with </a:t>
            </a:r>
            <a:r>
              <a:rPr sz="4000" spc="-10" dirty="0">
                <a:latin typeface="Times New Roman" panose="02020603050405020304" charset="0"/>
                <a:cs typeface="Times New Roman" panose="02020603050405020304" charset="0"/>
              </a:rPr>
              <a:t>Tokio</a:t>
            </a:r>
            <a:endParaRPr sz="4000">
              <a:latin typeface="Times New Roman" panose="02020603050405020304" charset="0"/>
              <a:cs typeface="Times New Roman" panose="02020603050405020304" charset="0"/>
            </a:endParaRPr>
          </a:p>
          <a:p>
            <a:pPr marL="22225" marR="4479290" indent="8890" algn="l">
              <a:lnSpc>
                <a:spcPct val="103000"/>
              </a:lnSpc>
              <a:spcBef>
                <a:spcPts val="2755"/>
              </a:spcBef>
            </a:pPr>
            <a:r>
              <a:rPr kumimoji="0" lang="en-US" altLang="zh-CN" sz="2900" b="0" i="0" u="none" strike="noStrike" kern="0" cap="none" spc="0" normalizeH="0" baseline="0" noProof="1">
                <a:solidFill>
                  <a:schemeClr val="tx1"/>
                </a:solidFill>
                <a:latin typeface="Times New Roman" panose="02020603050405020304" charset="0"/>
                <a:ea typeface="Arial" panose="020B0604020202020204" pitchFamily="34" charset="0"/>
                <a:cs typeface="Times New Roman" panose="02020603050405020304" charset="0"/>
              </a:rPr>
              <a:t>We built the server </a:t>
            </a:r>
            <a:r>
              <a:rPr kumimoji="0" lang="en-US" altLang="zh-CN" sz="2900" b="0" i="0" u="none" strike="noStrike" kern="0" cap="none" spc="0" normalizeH="0" baseline="0" noProof="1">
                <a:solidFill>
                  <a:schemeClr val="tx1"/>
                </a:solidFill>
                <a:latin typeface="Times New Roman" panose="02020603050405020304" charset="0"/>
                <a:ea typeface="Arial" panose="020B0604020202020204" pitchFamily="34" charset="0"/>
                <a:cs typeface="Times New Roman" panose="02020603050405020304" charset="0"/>
                <a:sym typeface="+mn-ea"/>
              </a:rPr>
              <a:t>on the Tokio </a:t>
            </a:r>
            <a:r>
              <a:rPr kumimoji="0" lang="en-US" altLang="zh-CN" sz="2900" b="0" i="0" u="none" strike="noStrike" kern="0" cap="none" spc="0" normalizeH="0" baseline="0" noProof="1">
                <a:solidFill>
                  <a:schemeClr val="tx1"/>
                </a:solidFill>
                <a:latin typeface="Times New Roman" panose="02020603050405020304" charset="0"/>
                <a:ea typeface="Arial" panose="020B0604020202020204" pitchFamily="34" charset="0"/>
                <a:cs typeface="Times New Roman" panose="02020603050405020304" charset="0"/>
              </a:rPr>
              <a:t>   asynchronous runtime.</a:t>
            </a:r>
            <a:endParaRPr kumimoji="0" lang="en-US" altLang="zh-CN" sz="2900" b="0" i="0" u="none" strike="noStrike" kern="0" cap="none" spc="0" normalizeH="0" baseline="0" noProof="1">
              <a:solidFill>
                <a:schemeClr val="tx1"/>
              </a:solidFill>
              <a:latin typeface="Times New Roman" panose="02020603050405020304" charset="0"/>
              <a:ea typeface="Arial" panose="020B0604020202020204" pitchFamily="34" charset="0"/>
              <a:cs typeface="Times New Roman" panose="02020603050405020304" charset="0"/>
            </a:endParaRPr>
          </a:p>
        </p:txBody>
      </p:sp>
      <p:sp>
        <p:nvSpPr>
          <p:cNvPr id="8" name="object 8"/>
          <p:cNvSpPr txBox="1"/>
          <p:nvPr/>
        </p:nvSpPr>
        <p:spPr>
          <a:xfrm>
            <a:off x="8764905" y="5365750"/>
            <a:ext cx="4193540" cy="2160270"/>
          </a:xfrm>
          <a:prstGeom prst="rect">
            <a:avLst/>
          </a:prstGeom>
        </p:spPr>
        <p:txBody>
          <a:bodyPr vert="horz" wrap="square" lIns="0" tIns="85090" rIns="0" bIns="0" rtlCol="0">
            <a:noAutofit/>
          </a:bodyPr>
          <a:lstStyle/>
          <a:p>
            <a:pPr marL="12700" marR="5080" algn="l">
              <a:lnSpc>
                <a:spcPts val="2500"/>
              </a:lnSpc>
              <a:spcBef>
                <a:spcPts val="670"/>
              </a:spcBef>
            </a:pPr>
            <a:r>
              <a:rPr kumimoji="0" lang="en-US" altLang="zh-CN" sz="2900" b="0" i="0" u="none" strike="noStrike" kern="0" cap="none" spc="0" normalizeH="0" baseline="0" noProof="1">
                <a:solidFill>
                  <a:schemeClr val="tx1"/>
                </a:solidFill>
                <a:latin typeface="Times New Roman" panose="02020603050405020304" charset="0"/>
                <a:ea typeface="Arial" panose="020B0604020202020204" pitchFamily="34" charset="0"/>
                <a:cs typeface="Times New Roman" panose="02020603050405020304" charset="0"/>
              </a:rPr>
              <a:t>Asynchronous tasks yield the CPU while waiting for I/O, allowing a small number of threads to handle thousands of concurrent operations efficiently.</a:t>
            </a:r>
            <a:endParaRPr kumimoji="0" lang="en-US" altLang="zh-CN" sz="2900" b="0" i="0" u="none" strike="noStrike" kern="0" cap="none" spc="0" normalizeH="0" baseline="0" noProof="1">
              <a:solidFill>
                <a:schemeClr val="tx1"/>
              </a:solidFill>
              <a:latin typeface="Times New Roman" panose="02020603050405020304" charset="0"/>
              <a:ea typeface="Arial" panose="020B0604020202020204" pitchFamily="34" charset="0"/>
              <a:cs typeface="Times New Roman" panose="02020603050405020304"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622300" y="2959100"/>
            <a:ext cx="10985500" cy="5321300"/>
            <a:chOff x="622300" y="2959100"/>
            <a:chExt cx="10985500" cy="5321300"/>
          </a:xfrm>
        </p:grpSpPr>
        <p:pic>
          <p:nvPicPr>
            <p:cNvPr id="3" name="object 3"/>
            <p:cNvPicPr/>
            <p:nvPr/>
          </p:nvPicPr>
          <p:blipFill>
            <a:blip r:embed="rId1" cstate="print"/>
            <a:stretch>
              <a:fillRect/>
            </a:stretch>
          </p:blipFill>
          <p:spPr>
            <a:xfrm>
              <a:off x="622300" y="2959100"/>
              <a:ext cx="10985500" cy="5321300"/>
            </a:xfrm>
            <a:prstGeom prst="rect">
              <a:avLst/>
            </a:prstGeom>
          </p:spPr>
        </p:pic>
        <p:pic>
          <p:nvPicPr>
            <p:cNvPr id="4" name="object 4"/>
            <p:cNvPicPr/>
            <p:nvPr/>
          </p:nvPicPr>
          <p:blipFill>
            <a:blip r:embed="rId2" cstate="print"/>
            <a:stretch>
              <a:fillRect/>
            </a:stretch>
          </p:blipFill>
          <p:spPr>
            <a:xfrm>
              <a:off x="9194800" y="4356100"/>
              <a:ext cx="317500" cy="165100"/>
            </a:xfrm>
            <a:prstGeom prst="rect">
              <a:avLst/>
            </a:prstGeom>
          </p:spPr>
        </p:pic>
      </p:grpSp>
      <p:sp>
        <p:nvSpPr>
          <p:cNvPr id="5" name="object 5"/>
          <p:cNvSpPr txBox="1">
            <a:spLocks noGrp="1"/>
          </p:cNvSpPr>
          <p:nvPr>
            <p:ph type="title"/>
          </p:nvPr>
        </p:nvSpPr>
        <p:spPr>
          <a:prstGeom prst="rect">
            <a:avLst/>
          </a:prstGeom>
        </p:spPr>
        <p:txBody>
          <a:bodyPr vert="horz" wrap="square" lIns="0" tIns="11430" rIns="0" bIns="0" rtlCol="0">
            <a:spAutoFit/>
          </a:bodyPr>
          <a:lstStyle/>
          <a:p>
            <a:pPr marL="47625">
              <a:lnSpc>
                <a:spcPct val="100000"/>
              </a:lnSpc>
              <a:spcBef>
                <a:spcPts val="90"/>
              </a:spcBef>
            </a:pPr>
            <a:r>
              <a:rPr sz="4800" dirty="0">
                <a:solidFill>
                  <a:srgbClr val="232323"/>
                </a:solidFill>
              </a:rPr>
              <a:t>Server</a:t>
            </a:r>
            <a:r>
              <a:rPr sz="4800" spc="190" dirty="0">
                <a:solidFill>
                  <a:srgbClr val="232323"/>
                </a:solidFill>
              </a:rPr>
              <a:t> </a:t>
            </a:r>
            <a:r>
              <a:rPr sz="4800" spc="160" dirty="0">
                <a:solidFill>
                  <a:srgbClr val="212121"/>
                </a:solidFill>
              </a:rPr>
              <a:t>Architecture:</a:t>
            </a:r>
            <a:r>
              <a:rPr sz="4800" spc="180" dirty="0">
                <a:solidFill>
                  <a:srgbClr val="212121"/>
                </a:solidFill>
              </a:rPr>
              <a:t> </a:t>
            </a:r>
            <a:r>
              <a:rPr sz="4800" dirty="0">
                <a:solidFill>
                  <a:srgbClr val="232323"/>
                </a:solidFill>
              </a:rPr>
              <a:t>Decoupled</a:t>
            </a:r>
            <a:r>
              <a:rPr sz="4800" spc="-20" dirty="0">
                <a:solidFill>
                  <a:srgbClr val="232323"/>
                </a:solidFill>
              </a:rPr>
              <a:t> </a:t>
            </a:r>
            <a:r>
              <a:rPr sz="4800" spc="-70" dirty="0">
                <a:solidFill>
                  <a:srgbClr val="212121"/>
                </a:solidFill>
              </a:rPr>
              <a:t>Tasks</a:t>
            </a:r>
            <a:r>
              <a:rPr sz="4800" spc="-40" dirty="0">
                <a:solidFill>
                  <a:srgbClr val="212121"/>
                </a:solidFill>
              </a:rPr>
              <a:t> </a:t>
            </a:r>
            <a:r>
              <a:rPr sz="4800" spc="75" dirty="0">
                <a:solidFill>
                  <a:srgbClr val="232323"/>
                </a:solidFill>
              </a:rPr>
              <a:t>and</a:t>
            </a:r>
            <a:r>
              <a:rPr sz="4800" spc="-350" dirty="0">
                <a:solidFill>
                  <a:srgbClr val="232323"/>
                </a:solidFill>
              </a:rPr>
              <a:t> </a:t>
            </a:r>
            <a:r>
              <a:rPr sz="4800" spc="-10" dirty="0">
                <a:solidFill>
                  <a:srgbClr val="232323"/>
                </a:solidFill>
              </a:rPr>
              <a:t>Safe</a:t>
            </a:r>
            <a:r>
              <a:rPr sz="4800" spc="-350" dirty="0">
                <a:solidFill>
                  <a:srgbClr val="232323"/>
                </a:solidFill>
              </a:rPr>
              <a:t> </a:t>
            </a:r>
            <a:r>
              <a:rPr sz="4800" spc="160" dirty="0">
                <a:solidFill>
                  <a:srgbClr val="232323"/>
                </a:solidFill>
              </a:rPr>
              <a:t>State</a:t>
            </a:r>
            <a:endParaRPr sz="4800"/>
          </a:p>
        </p:txBody>
      </p:sp>
      <p:sp>
        <p:nvSpPr>
          <p:cNvPr id="18" name="object 18"/>
          <p:cNvSpPr txBox="1">
            <a:spLocks noGrp="1"/>
          </p:cNvSpPr>
          <p:nvPr>
            <p:ph type="ftr" sz="quarter" idx="5"/>
          </p:nvPr>
        </p:nvSpPr>
        <p:spPr>
          <a:prstGeom prst="rect">
            <a:avLst/>
          </a:prstGeom>
        </p:spPr>
        <p:txBody>
          <a:bodyPr vert="horz" wrap="square" lIns="0" tIns="0" rIns="0" bIns="0" rtlCol="0">
            <a:spAutoFit/>
          </a:bodyPr>
          <a:lstStyle/>
          <a:p>
            <a:pPr marL="12700">
              <a:lnSpc>
                <a:spcPts val="1555"/>
              </a:lnSpc>
            </a:pPr>
            <a:r>
              <a:rPr dirty="0"/>
              <a:t>G</a:t>
            </a:r>
            <a:r>
              <a:rPr spc="490" dirty="0"/>
              <a:t> </a:t>
            </a:r>
            <a:r>
              <a:rPr spc="-10" dirty="0"/>
              <a:t>NotebookLM</a:t>
            </a:r>
            <a:endParaRPr spc="-10" dirty="0"/>
          </a:p>
        </p:txBody>
      </p:sp>
      <p:sp>
        <p:nvSpPr>
          <p:cNvPr id="6" name="object 6"/>
          <p:cNvSpPr txBox="1"/>
          <p:nvPr/>
        </p:nvSpPr>
        <p:spPr>
          <a:xfrm>
            <a:off x="762399" y="5051425"/>
            <a:ext cx="1137285" cy="808355"/>
          </a:xfrm>
          <a:prstGeom prst="rect">
            <a:avLst/>
          </a:prstGeom>
        </p:spPr>
        <p:txBody>
          <a:bodyPr vert="horz" wrap="square" lIns="0" tIns="15875" rIns="0" bIns="0" rtlCol="0">
            <a:spAutoFit/>
          </a:bodyPr>
          <a:lstStyle/>
          <a:p>
            <a:pPr marL="307340">
              <a:lnSpc>
                <a:spcPts val="2160"/>
              </a:lnSpc>
              <a:spcBef>
                <a:spcPts val="125"/>
              </a:spcBef>
            </a:pPr>
            <a:r>
              <a:rPr sz="1850" spc="-280" dirty="0">
                <a:solidFill>
                  <a:srgbClr val="262626"/>
                </a:solidFill>
                <a:latin typeface="Arial MT"/>
                <a:cs typeface="Arial MT"/>
              </a:rPr>
              <a:t>cO</a:t>
            </a:r>
            <a:endParaRPr sz="1850">
              <a:latin typeface="Arial MT"/>
              <a:cs typeface="Arial MT"/>
            </a:endParaRPr>
          </a:p>
          <a:p>
            <a:pPr marL="375285">
              <a:lnSpc>
                <a:spcPts val="1810"/>
              </a:lnSpc>
            </a:pPr>
            <a:r>
              <a:rPr sz="1700" spc="-25" dirty="0">
                <a:solidFill>
                  <a:srgbClr val="0C0C0C"/>
                </a:solidFill>
                <a:latin typeface="Arial MT"/>
                <a:cs typeface="Arial MT"/>
              </a:rPr>
              <a:t>TCP</a:t>
            </a:r>
            <a:endParaRPr sz="1700">
              <a:latin typeface="Arial MT"/>
              <a:cs typeface="Arial MT"/>
            </a:endParaRPr>
          </a:p>
          <a:p>
            <a:pPr marL="12700">
              <a:lnSpc>
                <a:spcPts val="2170"/>
              </a:lnSpc>
            </a:pPr>
            <a:r>
              <a:rPr sz="1950" spc="-114" dirty="0">
                <a:latin typeface="Arial MT"/>
                <a:cs typeface="Arial MT"/>
              </a:rPr>
              <a:t>Connection</a:t>
            </a:r>
            <a:endParaRPr sz="1950">
              <a:latin typeface="Arial MT"/>
              <a:cs typeface="Arial MT"/>
            </a:endParaRPr>
          </a:p>
        </p:txBody>
      </p:sp>
      <p:sp>
        <p:nvSpPr>
          <p:cNvPr id="7" name="object 7"/>
          <p:cNvSpPr txBox="1"/>
          <p:nvPr/>
        </p:nvSpPr>
        <p:spPr>
          <a:xfrm>
            <a:off x="3491230" y="1960880"/>
            <a:ext cx="4906010" cy="568960"/>
          </a:xfrm>
          <a:prstGeom prst="rect">
            <a:avLst/>
          </a:prstGeom>
        </p:spPr>
        <p:txBody>
          <a:bodyPr vert="horz" wrap="square" lIns="0" tIns="15240" rIns="0" bIns="0" rtlCol="0">
            <a:spAutoFit/>
          </a:bodyPr>
          <a:lstStyle/>
          <a:p>
            <a:pPr marL="12700">
              <a:lnSpc>
                <a:spcPct val="100000"/>
              </a:lnSpc>
              <a:spcBef>
                <a:spcPts val="120"/>
              </a:spcBef>
            </a:pPr>
            <a:r>
              <a:rPr sz="3600" spc="-20" dirty="0">
                <a:solidFill>
                  <a:srgbClr val="080808"/>
                </a:solidFill>
                <a:latin typeface="Times New Roman" panose="02020603050405020304" charset="0"/>
                <a:cs typeface="Times New Roman" panose="02020603050405020304" charset="0"/>
              </a:rPr>
              <a:t>Command</a:t>
            </a:r>
            <a:r>
              <a:rPr sz="3600" spc="-155" dirty="0">
                <a:solidFill>
                  <a:srgbClr val="080808"/>
                </a:solidFill>
                <a:latin typeface="Times New Roman" panose="02020603050405020304" charset="0"/>
                <a:cs typeface="Times New Roman" panose="02020603050405020304" charset="0"/>
              </a:rPr>
              <a:t> </a:t>
            </a:r>
            <a:r>
              <a:rPr sz="3600" spc="-30" dirty="0">
                <a:solidFill>
                  <a:srgbClr val="0F0F0F"/>
                </a:solidFill>
                <a:latin typeface="Times New Roman" panose="02020603050405020304" charset="0"/>
                <a:cs typeface="Times New Roman" panose="02020603050405020304" charset="0"/>
              </a:rPr>
              <a:t>Server</a:t>
            </a:r>
            <a:r>
              <a:rPr sz="3600" spc="-105" dirty="0">
                <a:solidFill>
                  <a:srgbClr val="0F0F0F"/>
                </a:solidFill>
                <a:latin typeface="Times New Roman" panose="02020603050405020304" charset="0"/>
                <a:cs typeface="Times New Roman" panose="02020603050405020304" charset="0"/>
              </a:rPr>
              <a:t> </a:t>
            </a:r>
            <a:r>
              <a:rPr sz="3600" spc="-10" dirty="0">
                <a:solidFill>
                  <a:srgbClr val="0C0C0C"/>
                </a:solidFill>
                <a:latin typeface="Times New Roman" panose="02020603050405020304" charset="0"/>
                <a:cs typeface="Times New Roman" panose="02020603050405020304" charset="0"/>
              </a:rPr>
              <a:t>Internals</a:t>
            </a:r>
            <a:endParaRPr sz="3600" spc="-10" dirty="0">
              <a:solidFill>
                <a:srgbClr val="0C0C0C"/>
              </a:solidFill>
              <a:latin typeface="Times New Roman" panose="02020603050405020304" charset="0"/>
              <a:cs typeface="Times New Roman" panose="02020603050405020304" charset="0"/>
            </a:endParaRPr>
          </a:p>
        </p:txBody>
      </p:sp>
      <p:sp>
        <p:nvSpPr>
          <p:cNvPr id="8" name="object 8"/>
          <p:cNvSpPr txBox="1"/>
          <p:nvPr/>
        </p:nvSpPr>
        <p:spPr>
          <a:xfrm>
            <a:off x="3435346" y="3024981"/>
            <a:ext cx="5064125" cy="1139825"/>
          </a:xfrm>
          <a:prstGeom prst="rect">
            <a:avLst/>
          </a:prstGeom>
        </p:spPr>
        <p:txBody>
          <a:bodyPr vert="horz" wrap="square" lIns="0" tIns="130810" rIns="0" bIns="0" rtlCol="0">
            <a:spAutoFit/>
          </a:bodyPr>
          <a:lstStyle/>
          <a:p>
            <a:pPr marL="17780" algn="ctr">
              <a:lnSpc>
                <a:spcPct val="100000"/>
              </a:lnSpc>
              <a:spcBef>
                <a:spcPts val="1030"/>
              </a:spcBef>
            </a:pPr>
            <a:r>
              <a:rPr sz="2300" dirty="0">
                <a:latin typeface="Arial MT"/>
                <a:cs typeface="Arial MT"/>
              </a:rPr>
              <a:t>Shared</a:t>
            </a:r>
            <a:r>
              <a:rPr sz="2300" spc="-130" dirty="0">
                <a:latin typeface="Arial MT"/>
                <a:cs typeface="Arial MT"/>
              </a:rPr>
              <a:t> </a:t>
            </a:r>
            <a:r>
              <a:rPr sz="2300" spc="45" dirty="0">
                <a:latin typeface="Arial MT"/>
                <a:cs typeface="Arial MT"/>
              </a:rPr>
              <a:t>State</a:t>
            </a:r>
            <a:endParaRPr sz="2300">
              <a:latin typeface="Arial MT"/>
              <a:cs typeface="Arial MT"/>
            </a:endParaRPr>
          </a:p>
          <a:p>
            <a:pPr marL="12065" marR="5080" indent="-8255" algn="ctr">
              <a:lnSpc>
                <a:spcPts val="1950"/>
              </a:lnSpc>
              <a:spcBef>
                <a:spcPts val="1180"/>
              </a:spcBef>
              <a:tabLst>
                <a:tab pos="1606550" algn="l"/>
              </a:tabLst>
            </a:pPr>
            <a:r>
              <a:rPr sz="1950" spc="-125" dirty="0">
                <a:latin typeface="Arial MT"/>
                <a:cs typeface="Arial MT"/>
              </a:rPr>
              <a:t>DroneStatuses:</a:t>
            </a:r>
            <a:r>
              <a:rPr sz="1950" spc="-130" dirty="0">
                <a:latin typeface="Arial MT"/>
                <a:cs typeface="Arial MT"/>
              </a:rPr>
              <a:t> Arc‹Mutex‹HashMap‹ID,</a:t>
            </a:r>
            <a:r>
              <a:rPr sz="1950" spc="45" dirty="0">
                <a:latin typeface="Arial MT"/>
                <a:cs typeface="Arial MT"/>
              </a:rPr>
              <a:t> </a:t>
            </a:r>
            <a:r>
              <a:rPr sz="1950" spc="125" dirty="0">
                <a:latin typeface="Arial MT"/>
                <a:cs typeface="Arial MT"/>
              </a:rPr>
              <a:t>Status» </a:t>
            </a:r>
            <a:r>
              <a:rPr sz="1950" spc="-90" dirty="0">
                <a:latin typeface="Arial MT"/>
                <a:cs typeface="Arial MT"/>
              </a:rPr>
              <a:t>DroneChannels</a:t>
            </a:r>
            <a:r>
              <a:rPr sz="1950" dirty="0">
                <a:latin typeface="Arial MT"/>
                <a:cs typeface="Arial MT"/>
              </a:rPr>
              <a:t>	</a:t>
            </a:r>
            <a:r>
              <a:rPr sz="1950" spc="-145" dirty="0">
                <a:latin typeface="Arial MT"/>
                <a:cs typeface="Arial MT"/>
              </a:rPr>
              <a:t>Arc‹Mutex‹HashMap«ID,</a:t>
            </a:r>
            <a:r>
              <a:rPr sz="1950" spc="-85" dirty="0">
                <a:latin typeface="Arial MT"/>
                <a:cs typeface="Arial MT"/>
              </a:rPr>
              <a:t> </a:t>
            </a:r>
            <a:r>
              <a:rPr sz="1950" spc="65" dirty="0">
                <a:latin typeface="Arial MT"/>
                <a:cs typeface="Arial MT"/>
              </a:rPr>
              <a:t>Sender»</a:t>
            </a:r>
            <a:endParaRPr sz="1950">
              <a:latin typeface="Arial MT"/>
              <a:cs typeface="Arial MT"/>
            </a:endParaRPr>
          </a:p>
        </p:txBody>
      </p:sp>
      <p:sp>
        <p:nvSpPr>
          <p:cNvPr id="9" name="object 9"/>
          <p:cNvSpPr txBox="1"/>
          <p:nvPr/>
        </p:nvSpPr>
        <p:spPr>
          <a:xfrm>
            <a:off x="2851131" y="5169605"/>
            <a:ext cx="1242060" cy="561340"/>
          </a:xfrm>
          <a:prstGeom prst="rect">
            <a:avLst/>
          </a:prstGeom>
        </p:spPr>
        <p:txBody>
          <a:bodyPr vert="horz" wrap="square" lIns="0" tIns="12065" rIns="0" bIns="0" rtlCol="0">
            <a:spAutoFit/>
          </a:bodyPr>
          <a:lstStyle/>
          <a:p>
            <a:pPr marL="57150">
              <a:lnSpc>
                <a:spcPts val="2170"/>
              </a:lnSpc>
              <a:spcBef>
                <a:spcPts val="95"/>
              </a:spcBef>
            </a:pPr>
            <a:r>
              <a:rPr sz="1950" spc="-70" dirty="0">
                <a:latin typeface="Arial MT"/>
                <a:cs typeface="Arial MT"/>
              </a:rPr>
              <a:t>Connection</a:t>
            </a:r>
            <a:endParaRPr sz="1950">
              <a:latin typeface="Arial MT"/>
              <a:cs typeface="Arial MT"/>
            </a:endParaRPr>
          </a:p>
          <a:p>
            <a:pPr marL="12700">
              <a:lnSpc>
                <a:spcPts val="2050"/>
              </a:lnSpc>
            </a:pPr>
            <a:r>
              <a:rPr sz="1850" spc="-105" dirty="0">
                <a:latin typeface="Arial MT"/>
                <a:cs typeface="Arial MT"/>
              </a:rPr>
              <a:t>Handler</a:t>
            </a:r>
            <a:r>
              <a:rPr sz="1850" spc="-70" dirty="0">
                <a:latin typeface="Arial MT"/>
                <a:cs typeface="Arial MT"/>
              </a:rPr>
              <a:t> </a:t>
            </a:r>
            <a:r>
              <a:rPr sz="1850" spc="-145" dirty="0">
                <a:latin typeface="Arial MT"/>
                <a:cs typeface="Arial MT"/>
              </a:rPr>
              <a:t>Task</a:t>
            </a:r>
            <a:endParaRPr sz="1850">
              <a:latin typeface="Arial MT"/>
              <a:cs typeface="Arial MT"/>
            </a:endParaRPr>
          </a:p>
        </p:txBody>
      </p:sp>
      <p:sp>
        <p:nvSpPr>
          <p:cNvPr id="10" name="object 10"/>
          <p:cNvSpPr txBox="1"/>
          <p:nvPr/>
        </p:nvSpPr>
        <p:spPr>
          <a:xfrm>
            <a:off x="4828116" y="6170083"/>
            <a:ext cx="2032000" cy="876300"/>
          </a:xfrm>
          <a:prstGeom prst="rect">
            <a:avLst/>
          </a:prstGeom>
          <a:ln w="12700">
            <a:solidFill>
              <a:srgbClr val="4B77A8"/>
            </a:solidFill>
          </a:ln>
        </p:spPr>
        <p:txBody>
          <a:bodyPr vert="horz" wrap="square" lIns="0" tIns="147955" rIns="0" bIns="0" rtlCol="0">
            <a:spAutoFit/>
          </a:bodyPr>
          <a:lstStyle/>
          <a:p>
            <a:pPr marL="211455" marR="144145" indent="351155">
              <a:lnSpc>
                <a:spcPts val="2000"/>
              </a:lnSpc>
              <a:spcBef>
                <a:spcPts val="1165"/>
              </a:spcBef>
            </a:pPr>
            <a:r>
              <a:rPr sz="1850" spc="-155" dirty="0">
                <a:latin typeface="Arial MT"/>
                <a:cs typeface="Arial MT"/>
              </a:rPr>
              <a:t>Read</a:t>
            </a:r>
            <a:r>
              <a:rPr sz="1850" spc="-135" dirty="0">
                <a:latin typeface="Arial MT"/>
                <a:cs typeface="Arial MT"/>
              </a:rPr>
              <a:t> </a:t>
            </a:r>
            <a:r>
              <a:rPr sz="1850" spc="-20" dirty="0">
                <a:latin typeface="Arial MT"/>
                <a:cs typeface="Arial MT"/>
              </a:rPr>
              <a:t>Task </a:t>
            </a:r>
            <a:r>
              <a:rPr sz="1850" spc="-114" dirty="0">
                <a:latin typeface="Arial MT"/>
                <a:cs typeface="Arial MT"/>
              </a:rPr>
              <a:t>(Receives</a:t>
            </a:r>
            <a:r>
              <a:rPr sz="1850" spc="10" dirty="0">
                <a:latin typeface="Arial MT"/>
                <a:cs typeface="Arial MT"/>
              </a:rPr>
              <a:t> </a:t>
            </a:r>
            <a:r>
              <a:rPr sz="1850" spc="-70" dirty="0">
                <a:latin typeface="Arial MT"/>
                <a:cs typeface="Arial MT"/>
              </a:rPr>
              <a:t>Status)</a:t>
            </a:r>
            <a:endParaRPr sz="1850">
              <a:latin typeface="Arial MT"/>
              <a:cs typeface="Arial MT"/>
            </a:endParaRPr>
          </a:p>
        </p:txBody>
      </p:sp>
      <p:sp>
        <p:nvSpPr>
          <p:cNvPr id="11" name="object 11"/>
          <p:cNvSpPr txBox="1"/>
          <p:nvPr/>
        </p:nvSpPr>
        <p:spPr>
          <a:xfrm>
            <a:off x="4815416" y="7465483"/>
            <a:ext cx="2044700" cy="850900"/>
          </a:xfrm>
          <a:prstGeom prst="rect">
            <a:avLst/>
          </a:prstGeom>
          <a:ln w="12700">
            <a:solidFill>
              <a:srgbClr val="4B77A8"/>
            </a:solidFill>
          </a:ln>
        </p:spPr>
        <p:txBody>
          <a:bodyPr vert="horz" wrap="square" lIns="0" tIns="133985" rIns="0" bIns="0" rtlCol="0">
            <a:spAutoFit/>
          </a:bodyPr>
          <a:lstStyle/>
          <a:p>
            <a:pPr marL="123190" marR="62865" indent="455295">
              <a:lnSpc>
                <a:spcPts val="1950"/>
              </a:lnSpc>
              <a:spcBef>
                <a:spcPts val="1055"/>
              </a:spcBef>
            </a:pPr>
            <a:r>
              <a:rPr sz="1800" spc="-70" dirty="0">
                <a:latin typeface="Arial MT"/>
                <a:cs typeface="Arial MT"/>
              </a:rPr>
              <a:t>Write</a:t>
            </a:r>
            <a:r>
              <a:rPr sz="1800" spc="-105" dirty="0">
                <a:latin typeface="Arial MT"/>
                <a:cs typeface="Arial MT"/>
              </a:rPr>
              <a:t> </a:t>
            </a:r>
            <a:r>
              <a:rPr sz="1800" spc="-20" dirty="0">
                <a:latin typeface="Arial MT"/>
                <a:cs typeface="Arial MT"/>
              </a:rPr>
              <a:t>Task </a:t>
            </a:r>
            <a:r>
              <a:rPr sz="1800" spc="-85" dirty="0">
                <a:latin typeface="Arial MT"/>
                <a:cs typeface="Arial MT"/>
              </a:rPr>
              <a:t>(Sends</a:t>
            </a:r>
            <a:r>
              <a:rPr sz="1800" spc="-95" dirty="0">
                <a:latin typeface="Arial MT"/>
                <a:cs typeface="Arial MT"/>
              </a:rPr>
              <a:t> </a:t>
            </a:r>
            <a:r>
              <a:rPr sz="1800" spc="-105" dirty="0">
                <a:latin typeface="Arial MT"/>
                <a:cs typeface="Arial MT"/>
              </a:rPr>
              <a:t>Commands)</a:t>
            </a:r>
            <a:endParaRPr sz="1800">
              <a:latin typeface="Arial MT"/>
              <a:cs typeface="Arial MT"/>
            </a:endParaRPr>
          </a:p>
        </p:txBody>
      </p:sp>
      <p:sp>
        <p:nvSpPr>
          <p:cNvPr id="12" name="object 12"/>
          <p:cNvSpPr txBox="1"/>
          <p:nvPr/>
        </p:nvSpPr>
        <p:spPr>
          <a:xfrm>
            <a:off x="7269694" y="6875285"/>
            <a:ext cx="833119" cy="586740"/>
          </a:xfrm>
          <a:prstGeom prst="rect">
            <a:avLst/>
          </a:prstGeom>
        </p:spPr>
        <p:txBody>
          <a:bodyPr vert="horz" wrap="square" lIns="0" tIns="64769" rIns="0" bIns="0" rtlCol="0">
            <a:spAutoFit/>
          </a:bodyPr>
          <a:lstStyle/>
          <a:p>
            <a:pPr marL="12700" marR="5080" indent="155575">
              <a:lnSpc>
                <a:spcPts val="2000"/>
              </a:lnSpc>
              <a:spcBef>
                <a:spcPts val="510"/>
              </a:spcBef>
            </a:pPr>
            <a:r>
              <a:rPr sz="2000" spc="-20" dirty="0">
                <a:latin typeface="Arial MT"/>
                <a:cs typeface="Arial MT"/>
              </a:rPr>
              <a:t>mpsc </a:t>
            </a:r>
            <a:r>
              <a:rPr sz="2000" spc="-204" dirty="0">
                <a:latin typeface="Arial MT"/>
                <a:cs typeface="Arial MT"/>
              </a:rPr>
              <a:t>Receiver</a:t>
            </a:r>
            <a:endParaRPr sz="2000">
              <a:latin typeface="Arial MT"/>
              <a:cs typeface="Arial MT"/>
            </a:endParaRPr>
          </a:p>
        </p:txBody>
      </p:sp>
      <p:sp>
        <p:nvSpPr>
          <p:cNvPr id="13" name="object 13"/>
          <p:cNvSpPr txBox="1"/>
          <p:nvPr/>
        </p:nvSpPr>
        <p:spPr>
          <a:xfrm>
            <a:off x="8855091" y="4531783"/>
            <a:ext cx="865505" cy="279400"/>
          </a:xfrm>
          <a:prstGeom prst="rect">
            <a:avLst/>
          </a:prstGeom>
        </p:spPr>
        <p:txBody>
          <a:bodyPr vert="horz" wrap="square" lIns="0" tIns="14604" rIns="0" bIns="0" rtlCol="0">
            <a:spAutoFit/>
          </a:bodyPr>
          <a:lstStyle/>
          <a:p>
            <a:pPr marL="12700">
              <a:lnSpc>
                <a:spcPct val="100000"/>
              </a:lnSpc>
              <a:spcBef>
                <a:spcPts val="115"/>
              </a:spcBef>
            </a:pPr>
            <a:r>
              <a:rPr sz="1650" spc="-10" dirty="0">
                <a:solidFill>
                  <a:srgbClr val="647E9A"/>
                </a:solidFill>
                <a:latin typeface="Arial MT"/>
                <a:cs typeface="Arial MT"/>
              </a:rPr>
              <a:t>Statuses</a:t>
            </a:r>
            <a:endParaRPr sz="1650">
              <a:latin typeface="Arial MT"/>
              <a:cs typeface="Arial MT"/>
            </a:endParaRPr>
          </a:p>
        </p:txBody>
      </p:sp>
      <p:sp>
        <p:nvSpPr>
          <p:cNvPr id="14" name="object 14"/>
          <p:cNvSpPr txBox="1"/>
          <p:nvPr/>
        </p:nvSpPr>
        <p:spPr>
          <a:xfrm>
            <a:off x="7871883" y="5090583"/>
            <a:ext cx="1680845" cy="859790"/>
          </a:xfrm>
          <a:prstGeom prst="rect">
            <a:avLst/>
          </a:prstGeom>
          <a:ln w="12700">
            <a:solidFill>
              <a:srgbClr val="4B77A8"/>
            </a:solidFill>
          </a:ln>
        </p:spPr>
        <p:txBody>
          <a:bodyPr vert="horz" wrap="square" lIns="0" tIns="8255" rIns="0" bIns="0" rtlCol="0">
            <a:spAutoFit/>
          </a:bodyPr>
          <a:lstStyle/>
          <a:p>
            <a:pPr>
              <a:lnSpc>
                <a:spcPct val="100000"/>
              </a:lnSpc>
              <a:spcBef>
                <a:spcPts val="65"/>
              </a:spcBef>
            </a:pPr>
            <a:endParaRPr sz="1650">
              <a:latin typeface="Times New Roman" panose="02020603050405020304"/>
              <a:cs typeface="Times New Roman" panose="02020603050405020304"/>
            </a:endParaRPr>
          </a:p>
          <a:p>
            <a:pPr marL="332105">
              <a:lnSpc>
                <a:spcPct val="100000"/>
              </a:lnSpc>
              <a:spcBef>
                <a:spcPts val="5"/>
              </a:spcBef>
            </a:pPr>
            <a:r>
              <a:rPr sz="1650" spc="-110" dirty="0">
                <a:latin typeface="Arial MT"/>
                <a:cs typeface="Arial MT"/>
              </a:rPr>
              <a:t>API</a:t>
            </a:r>
            <a:r>
              <a:rPr sz="1650" spc="-155" dirty="0">
                <a:latin typeface="Arial MT"/>
                <a:cs typeface="Arial MT"/>
              </a:rPr>
              <a:t> </a:t>
            </a:r>
            <a:r>
              <a:rPr sz="1650" spc="-30" dirty="0">
                <a:latin typeface="Arial MT"/>
                <a:cs typeface="Arial MT"/>
              </a:rPr>
              <a:t>Hand</a:t>
            </a:r>
            <a:r>
              <a:rPr sz="1650" spc="-280" dirty="0">
                <a:latin typeface="Arial MT"/>
                <a:cs typeface="Arial MT"/>
              </a:rPr>
              <a:t> </a:t>
            </a:r>
            <a:r>
              <a:rPr sz="1650" spc="-25" dirty="0">
                <a:latin typeface="Arial MT"/>
                <a:cs typeface="Arial MT"/>
              </a:rPr>
              <a:t>ler</a:t>
            </a:r>
            <a:endParaRPr sz="1650">
              <a:latin typeface="Arial MT"/>
              <a:cs typeface="Arial MT"/>
            </a:endParaRPr>
          </a:p>
        </p:txBody>
      </p:sp>
      <p:sp>
        <p:nvSpPr>
          <p:cNvPr id="15" name="object 15"/>
          <p:cNvSpPr txBox="1"/>
          <p:nvPr/>
        </p:nvSpPr>
        <p:spPr>
          <a:xfrm>
            <a:off x="8904702" y="7138105"/>
            <a:ext cx="631190" cy="561340"/>
          </a:xfrm>
          <a:prstGeom prst="rect">
            <a:avLst/>
          </a:prstGeom>
        </p:spPr>
        <p:txBody>
          <a:bodyPr vert="horz" wrap="square" lIns="0" tIns="12065" rIns="0" bIns="0" rtlCol="0">
            <a:spAutoFit/>
          </a:bodyPr>
          <a:lstStyle/>
          <a:p>
            <a:pPr marL="95885">
              <a:lnSpc>
                <a:spcPts val="2170"/>
              </a:lnSpc>
              <a:spcBef>
                <a:spcPts val="95"/>
              </a:spcBef>
            </a:pPr>
            <a:r>
              <a:rPr sz="1950" spc="-130" dirty="0">
                <a:latin typeface="Arial MT"/>
                <a:cs typeface="Arial MT"/>
              </a:rPr>
              <a:t>mpsc</a:t>
            </a:r>
            <a:endParaRPr sz="1950">
              <a:latin typeface="Arial MT"/>
              <a:cs typeface="Arial MT"/>
            </a:endParaRPr>
          </a:p>
          <a:p>
            <a:pPr marL="12700">
              <a:lnSpc>
                <a:spcPts val="2050"/>
              </a:lnSpc>
            </a:pPr>
            <a:r>
              <a:rPr sz="1850" spc="-110" dirty="0">
                <a:latin typeface="Arial MT"/>
                <a:cs typeface="Arial MT"/>
              </a:rPr>
              <a:t>Sendg</a:t>
            </a:r>
            <a:endParaRPr sz="1850">
              <a:latin typeface="Arial MT"/>
              <a:cs typeface="Arial MT"/>
            </a:endParaRPr>
          </a:p>
        </p:txBody>
      </p:sp>
      <p:sp>
        <p:nvSpPr>
          <p:cNvPr id="16" name="object 16"/>
          <p:cNvSpPr txBox="1"/>
          <p:nvPr/>
        </p:nvSpPr>
        <p:spPr>
          <a:xfrm>
            <a:off x="10431536" y="5062713"/>
            <a:ext cx="893444" cy="795655"/>
          </a:xfrm>
          <a:prstGeom prst="rect">
            <a:avLst/>
          </a:prstGeom>
        </p:spPr>
        <p:txBody>
          <a:bodyPr vert="horz" wrap="square" lIns="0" tIns="17145" rIns="0" bIns="0" rtlCol="0">
            <a:spAutoFit/>
          </a:bodyPr>
          <a:lstStyle/>
          <a:p>
            <a:pPr algn="ctr">
              <a:lnSpc>
                <a:spcPts val="2020"/>
              </a:lnSpc>
              <a:spcBef>
                <a:spcPts val="135"/>
              </a:spcBef>
            </a:pPr>
            <a:r>
              <a:rPr sz="1700" spc="-10" dirty="0">
                <a:latin typeface="Arial MT"/>
                <a:cs typeface="Arial MT"/>
              </a:rPr>
              <a:t>Incoming</a:t>
            </a:r>
            <a:endParaRPr sz="1700">
              <a:latin typeface="Arial MT"/>
              <a:cs typeface="Arial MT"/>
            </a:endParaRPr>
          </a:p>
          <a:p>
            <a:pPr marL="2540" algn="ctr">
              <a:lnSpc>
                <a:spcPts val="1870"/>
              </a:lnSpc>
            </a:pPr>
            <a:r>
              <a:rPr sz="1650" spc="-20" dirty="0">
                <a:latin typeface="Arial MT"/>
                <a:cs typeface="Arial MT"/>
              </a:rPr>
              <a:t>HTTP</a:t>
            </a:r>
            <a:endParaRPr sz="1650">
              <a:latin typeface="Arial MT"/>
              <a:cs typeface="Arial MT"/>
            </a:endParaRPr>
          </a:p>
          <a:p>
            <a:pPr marR="17145" algn="ctr">
              <a:lnSpc>
                <a:spcPts val="2130"/>
              </a:lnSpc>
            </a:pPr>
            <a:r>
              <a:rPr sz="1850" spc="-20" dirty="0">
                <a:latin typeface="Arial MT"/>
                <a:cs typeface="Arial MT"/>
              </a:rPr>
              <a:t>Request</a:t>
            </a:r>
            <a:endParaRPr sz="1850">
              <a:latin typeface="Arial MT"/>
              <a:cs typeface="Arial MT"/>
            </a:endParaRPr>
          </a:p>
        </p:txBody>
      </p:sp>
      <p:sp>
        <p:nvSpPr>
          <p:cNvPr id="17" name="object 17"/>
          <p:cNvSpPr txBox="1">
            <a:spLocks noGrp="1"/>
          </p:cNvSpPr>
          <p:nvPr>
            <p:ph sz="half" idx="3"/>
          </p:nvPr>
        </p:nvSpPr>
        <p:spPr>
          <a:xfrm>
            <a:off x="12049921" y="1763996"/>
            <a:ext cx="4859655" cy="6030595"/>
          </a:xfrm>
          <a:prstGeom prst="rect">
            <a:avLst/>
          </a:prstGeom>
        </p:spPr>
        <p:txBody>
          <a:bodyPr vert="horz" wrap="square" lIns="0" tIns="267970" rIns="0" bIns="0" rtlCol="0">
            <a:spAutoFit/>
          </a:bodyPr>
          <a:lstStyle/>
          <a:p>
            <a:pPr marL="12700">
              <a:lnSpc>
                <a:spcPct val="100000"/>
              </a:lnSpc>
              <a:spcBef>
                <a:spcPts val="2110"/>
              </a:spcBef>
            </a:pPr>
            <a:r>
              <a:rPr lang="en-US" sz="3600" spc="-20" dirty="0">
                <a:solidFill>
                  <a:srgbClr val="131313"/>
                </a:solidFill>
                <a:latin typeface="Times New Roman" panose="02020603050405020304" charset="0"/>
                <a:cs typeface="Times New Roman" panose="02020603050405020304" charset="0"/>
              </a:rPr>
              <a:t>	</a:t>
            </a:r>
            <a:r>
              <a:rPr sz="3600" spc="-20" dirty="0">
                <a:solidFill>
                  <a:srgbClr val="131313"/>
                </a:solidFill>
                <a:latin typeface="Times New Roman" panose="02020603050405020304" charset="0"/>
                <a:cs typeface="Times New Roman" panose="02020603050405020304" charset="0"/>
              </a:rPr>
              <a:t>Key</a:t>
            </a:r>
            <a:r>
              <a:rPr sz="3600" spc="-190" dirty="0">
                <a:solidFill>
                  <a:srgbClr val="131313"/>
                </a:solidFill>
                <a:latin typeface="Times New Roman" panose="02020603050405020304" charset="0"/>
                <a:cs typeface="Times New Roman" panose="02020603050405020304" charset="0"/>
              </a:rPr>
              <a:t> </a:t>
            </a:r>
            <a:r>
              <a:rPr sz="3600" spc="95" dirty="0">
                <a:latin typeface="Times New Roman" panose="02020603050405020304" charset="0"/>
                <a:cs typeface="Times New Roman" panose="02020603050405020304" charset="0"/>
              </a:rPr>
              <a:t>Concepts</a:t>
            </a:r>
            <a:endParaRPr sz="3600" spc="95" dirty="0">
              <a:latin typeface="Times New Roman" panose="02020603050405020304" charset="0"/>
              <a:cs typeface="Times New Roman" panose="02020603050405020304" charset="0"/>
            </a:endParaRPr>
          </a:p>
          <a:p>
            <a:pPr marL="474345" marR="170180" indent="-285750">
              <a:lnSpc>
                <a:spcPct val="101000"/>
              </a:lnSpc>
              <a:spcBef>
                <a:spcPts val="1615"/>
              </a:spcBef>
              <a:buChar char="•"/>
              <a:tabLst>
                <a:tab pos="474345" algn="l"/>
                <a:tab pos="485140" algn="l"/>
              </a:tabLst>
            </a:pPr>
            <a:r>
              <a:rPr sz="2500" dirty="0">
                <a:solidFill>
                  <a:srgbClr val="3B89DF"/>
                </a:solidFill>
              </a:rPr>
              <a:t>	</a:t>
            </a:r>
            <a:r>
              <a:rPr sz="2600" spc="-114" dirty="0">
                <a:solidFill>
                  <a:srgbClr val="000000"/>
                </a:solidFill>
                <a:latin typeface="Times New Roman" panose="02020603050405020304" charset="0"/>
                <a:cs typeface="Times New Roman" panose="02020603050405020304" charset="0"/>
              </a:rPr>
              <a:t>Arc&lt;Mutex‹T&gt;&gt;:</a:t>
            </a:r>
            <a:r>
              <a:rPr sz="2600" spc="-360" dirty="0">
                <a:solidFill>
                  <a:srgbClr val="000000"/>
                </a:solidFill>
                <a:latin typeface="Times New Roman" panose="02020603050405020304" charset="0"/>
                <a:cs typeface="Times New Roman" panose="02020603050405020304" charset="0"/>
              </a:rPr>
              <a:t> </a:t>
            </a:r>
            <a:r>
              <a:rPr sz="2600" spc="-225" dirty="0">
                <a:solidFill>
                  <a:srgbClr val="000000"/>
                </a:solidFill>
                <a:latin typeface="Times New Roman" panose="02020603050405020304" charset="0"/>
                <a:cs typeface="Times New Roman" panose="02020603050405020304" charset="0"/>
              </a:rPr>
              <a:t>Enables</a:t>
            </a:r>
            <a:r>
              <a:rPr sz="2600" spc="25" dirty="0">
                <a:solidFill>
                  <a:srgbClr val="000000"/>
                </a:solidFill>
                <a:latin typeface="Times New Roman" panose="02020603050405020304" charset="0"/>
                <a:cs typeface="Times New Roman" panose="02020603050405020304" charset="0"/>
              </a:rPr>
              <a:t> </a:t>
            </a:r>
            <a:r>
              <a:rPr sz="2600" spc="-20" dirty="0">
                <a:solidFill>
                  <a:srgbClr val="000000"/>
                </a:solidFill>
                <a:latin typeface="Times New Roman" panose="02020603050405020304" charset="0"/>
                <a:cs typeface="Times New Roman" panose="02020603050405020304" charset="0"/>
              </a:rPr>
              <a:t>safe. </a:t>
            </a:r>
            <a:r>
              <a:rPr sz="2600" spc="-204" dirty="0">
                <a:solidFill>
                  <a:srgbClr val="000000"/>
                </a:solidFill>
                <a:latin typeface="Times New Roman" panose="02020603050405020304" charset="0"/>
                <a:cs typeface="Times New Roman" panose="02020603050405020304" charset="0"/>
              </a:rPr>
              <a:t>shared</a:t>
            </a:r>
            <a:r>
              <a:rPr sz="2600" spc="-75" dirty="0">
                <a:solidFill>
                  <a:srgbClr val="000000"/>
                </a:solidFill>
                <a:latin typeface="Times New Roman" panose="02020603050405020304" charset="0"/>
                <a:cs typeface="Times New Roman" panose="02020603050405020304" charset="0"/>
              </a:rPr>
              <a:t> </a:t>
            </a:r>
            <a:r>
              <a:rPr sz="2600" spc="-200" dirty="0">
                <a:solidFill>
                  <a:srgbClr val="000000"/>
                </a:solidFill>
                <a:latin typeface="Times New Roman" panose="02020603050405020304" charset="0"/>
                <a:cs typeface="Times New Roman" panose="02020603050405020304" charset="0"/>
              </a:rPr>
              <a:t>access</a:t>
            </a:r>
            <a:r>
              <a:rPr sz="2600" spc="-135" dirty="0">
                <a:solidFill>
                  <a:srgbClr val="000000"/>
                </a:solidFill>
                <a:latin typeface="Times New Roman" panose="02020603050405020304" charset="0"/>
                <a:cs typeface="Times New Roman" panose="02020603050405020304" charset="0"/>
              </a:rPr>
              <a:t> </a:t>
            </a:r>
            <a:r>
              <a:rPr sz="2600" spc="-60" dirty="0">
                <a:solidFill>
                  <a:srgbClr val="000000"/>
                </a:solidFill>
                <a:latin typeface="Times New Roman" panose="02020603050405020304" charset="0"/>
                <a:cs typeface="Times New Roman" panose="02020603050405020304" charset="0"/>
              </a:rPr>
              <a:t>to</a:t>
            </a:r>
            <a:r>
              <a:rPr sz="2600" spc="-204" dirty="0">
                <a:solidFill>
                  <a:srgbClr val="000000"/>
                </a:solidFill>
                <a:latin typeface="Times New Roman" panose="02020603050405020304" charset="0"/>
                <a:cs typeface="Times New Roman" panose="02020603050405020304" charset="0"/>
              </a:rPr>
              <a:t> </a:t>
            </a:r>
            <a:r>
              <a:rPr sz="2600" spc="-125" dirty="0">
                <a:solidFill>
                  <a:srgbClr val="000000"/>
                </a:solidFill>
                <a:latin typeface="Times New Roman" panose="02020603050405020304" charset="0"/>
                <a:cs typeface="Times New Roman" panose="02020603050405020304" charset="0"/>
              </a:rPr>
              <a:t>state</a:t>
            </a:r>
            <a:r>
              <a:rPr sz="2600" spc="-15" dirty="0">
                <a:solidFill>
                  <a:srgbClr val="000000"/>
                </a:solidFill>
                <a:latin typeface="Times New Roman" panose="02020603050405020304" charset="0"/>
                <a:cs typeface="Times New Roman" panose="02020603050405020304" charset="0"/>
              </a:rPr>
              <a:t> </a:t>
            </a:r>
            <a:r>
              <a:rPr sz="2600" spc="-170" dirty="0">
                <a:solidFill>
                  <a:srgbClr val="000000"/>
                </a:solidFill>
                <a:latin typeface="Times New Roman" panose="02020603050405020304" charset="0"/>
                <a:cs typeface="Times New Roman" panose="02020603050405020304" charset="0"/>
              </a:rPr>
              <a:t>(like</a:t>
            </a:r>
            <a:r>
              <a:rPr sz="2600" spc="-65" dirty="0">
                <a:solidFill>
                  <a:srgbClr val="000000"/>
                </a:solidFill>
                <a:latin typeface="Times New Roman" panose="02020603050405020304" charset="0"/>
                <a:cs typeface="Times New Roman" panose="02020603050405020304" charset="0"/>
              </a:rPr>
              <a:t> </a:t>
            </a:r>
            <a:r>
              <a:rPr sz="2600" spc="-114" dirty="0">
                <a:solidFill>
                  <a:srgbClr val="000000"/>
                </a:solidFill>
                <a:latin typeface="Times New Roman" panose="02020603050405020304" charset="0"/>
                <a:cs typeface="Times New Roman" panose="02020603050405020304" charset="0"/>
              </a:rPr>
              <a:t>the</a:t>
            </a:r>
            <a:r>
              <a:rPr sz="2600" spc="-145" dirty="0">
                <a:solidFill>
                  <a:srgbClr val="000000"/>
                </a:solidFill>
                <a:latin typeface="Times New Roman" panose="02020603050405020304" charset="0"/>
                <a:cs typeface="Times New Roman" panose="02020603050405020304" charset="0"/>
              </a:rPr>
              <a:t> </a:t>
            </a:r>
            <a:r>
              <a:rPr sz="2600" spc="-40" dirty="0">
                <a:solidFill>
                  <a:srgbClr val="000000"/>
                </a:solidFill>
                <a:latin typeface="Times New Roman" panose="02020603050405020304" charset="0"/>
                <a:cs typeface="Times New Roman" panose="02020603050405020304" charset="0"/>
              </a:rPr>
              <a:t>list </a:t>
            </a:r>
            <a:r>
              <a:rPr sz="2600" spc="-135" dirty="0">
                <a:solidFill>
                  <a:srgbClr val="000000"/>
                </a:solidFill>
                <a:latin typeface="Times New Roman" panose="02020603050405020304" charset="0"/>
                <a:cs typeface="Times New Roman" panose="02020603050405020304" charset="0"/>
              </a:rPr>
              <a:t>of</a:t>
            </a:r>
            <a:r>
              <a:rPr sz="2600" spc="-150" dirty="0">
                <a:solidFill>
                  <a:srgbClr val="000000"/>
                </a:solidFill>
                <a:latin typeface="Times New Roman" panose="02020603050405020304" charset="0"/>
                <a:cs typeface="Times New Roman" panose="02020603050405020304" charset="0"/>
              </a:rPr>
              <a:t> </a:t>
            </a:r>
            <a:r>
              <a:rPr sz="2600" spc="-190" dirty="0">
                <a:solidFill>
                  <a:srgbClr val="000000"/>
                </a:solidFill>
                <a:latin typeface="Times New Roman" panose="02020603050405020304" charset="0"/>
                <a:cs typeface="Times New Roman" panose="02020603050405020304" charset="0"/>
              </a:rPr>
              <a:t>drones)</a:t>
            </a:r>
            <a:r>
              <a:rPr sz="2600" spc="95" dirty="0">
                <a:solidFill>
                  <a:srgbClr val="000000"/>
                </a:solidFill>
                <a:latin typeface="Times New Roman" panose="02020603050405020304" charset="0"/>
                <a:cs typeface="Times New Roman" panose="02020603050405020304" charset="0"/>
              </a:rPr>
              <a:t> </a:t>
            </a:r>
            <a:r>
              <a:rPr sz="2600" spc="-204" dirty="0">
                <a:solidFill>
                  <a:srgbClr val="000000"/>
                </a:solidFill>
                <a:latin typeface="Times New Roman" panose="02020603050405020304" charset="0"/>
                <a:cs typeface="Times New Roman" panose="02020603050405020304" charset="0"/>
              </a:rPr>
              <a:t>across</a:t>
            </a:r>
            <a:r>
              <a:rPr sz="2600" spc="-45" dirty="0">
                <a:solidFill>
                  <a:srgbClr val="000000"/>
                </a:solidFill>
                <a:latin typeface="Times New Roman" panose="02020603050405020304" charset="0"/>
                <a:cs typeface="Times New Roman" panose="02020603050405020304" charset="0"/>
              </a:rPr>
              <a:t> </a:t>
            </a:r>
            <a:r>
              <a:rPr sz="2600" spc="-300" dirty="0">
                <a:solidFill>
                  <a:srgbClr val="000000"/>
                </a:solidFill>
                <a:latin typeface="Times New Roman" panose="02020603050405020304" charset="0"/>
                <a:cs typeface="Times New Roman" panose="02020603050405020304" charset="0"/>
              </a:rPr>
              <a:t>many </a:t>
            </a:r>
            <a:r>
              <a:rPr sz="2600" spc="-80" dirty="0">
                <a:solidFill>
                  <a:srgbClr val="000000"/>
                </a:solidFill>
                <a:latin typeface="Times New Roman" panose="02020603050405020304" charset="0"/>
                <a:cs typeface="Times New Roman" panose="02020603050405020304" charset="0"/>
              </a:rPr>
              <a:t>asynchronous</a:t>
            </a:r>
            <a:r>
              <a:rPr sz="2600" spc="-30" dirty="0">
                <a:solidFill>
                  <a:srgbClr val="000000"/>
                </a:solidFill>
                <a:latin typeface="Times New Roman" panose="02020603050405020304" charset="0"/>
                <a:cs typeface="Times New Roman" panose="02020603050405020304" charset="0"/>
              </a:rPr>
              <a:t> </a:t>
            </a:r>
            <a:r>
              <a:rPr sz="2600" spc="-70" dirty="0">
                <a:solidFill>
                  <a:srgbClr val="000000"/>
                </a:solidFill>
                <a:latin typeface="Times New Roman" panose="02020603050405020304" charset="0"/>
                <a:cs typeface="Times New Roman" panose="02020603050405020304" charset="0"/>
              </a:rPr>
              <a:t>tasks</a:t>
            </a:r>
            <a:r>
              <a:rPr sz="2600" spc="-90" dirty="0">
                <a:solidFill>
                  <a:srgbClr val="000000"/>
                </a:solidFill>
                <a:latin typeface="Times New Roman" panose="02020603050405020304" charset="0"/>
                <a:cs typeface="Times New Roman" panose="02020603050405020304" charset="0"/>
              </a:rPr>
              <a:t> </a:t>
            </a:r>
            <a:r>
              <a:rPr sz="2600" spc="-10" dirty="0">
                <a:solidFill>
                  <a:srgbClr val="000000"/>
                </a:solidFill>
                <a:latin typeface="Times New Roman" panose="02020603050405020304" charset="0"/>
                <a:cs typeface="Times New Roman" panose="02020603050405020304" charset="0"/>
              </a:rPr>
              <a:t>without</a:t>
            </a:r>
            <a:r>
              <a:rPr sz="2600" spc="-90" dirty="0">
                <a:solidFill>
                  <a:srgbClr val="000000"/>
                </a:solidFill>
                <a:latin typeface="Times New Roman" panose="02020603050405020304" charset="0"/>
                <a:cs typeface="Times New Roman" panose="02020603050405020304" charset="0"/>
              </a:rPr>
              <a:t> </a:t>
            </a:r>
            <a:r>
              <a:rPr sz="2600" spc="-20" dirty="0">
                <a:solidFill>
                  <a:srgbClr val="000000"/>
                </a:solidFill>
                <a:latin typeface="Times New Roman" panose="02020603050405020304" charset="0"/>
                <a:cs typeface="Times New Roman" panose="02020603050405020304" charset="0"/>
              </a:rPr>
              <a:t>data </a:t>
            </a:r>
            <a:r>
              <a:rPr sz="2600" spc="-10" dirty="0">
                <a:solidFill>
                  <a:srgbClr val="000000"/>
                </a:solidFill>
                <a:latin typeface="Times New Roman" panose="02020603050405020304" charset="0"/>
                <a:cs typeface="Times New Roman" panose="02020603050405020304" charset="0"/>
              </a:rPr>
              <a:t>races.</a:t>
            </a:r>
            <a:endParaRPr sz="2600">
              <a:latin typeface="Times New Roman" panose="02020603050405020304" charset="0"/>
              <a:cs typeface="Times New Roman" panose="02020603050405020304" charset="0"/>
            </a:endParaRPr>
          </a:p>
          <a:p>
            <a:pPr marL="478155" indent="-288290">
              <a:lnSpc>
                <a:spcPts val="2600"/>
              </a:lnSpc>
              <a:buClr>
                <a:srgbClr val="3B8AE4"/>
              </a:buClr>
              <a:buChar char="•"/>
              <a:tabLst>
                <a:tab pos="478155" algn="l"/>
              </a:tabLst>
            </a:pPr>
            <a:r>
              <a:rPr sz="2600" spc="-60" dirty="0">
                <a:solidFill>
                  <a:srgbClr val="000000"/>
                </a:solidFill>
                <a:latin typeface="Times New Roman" panose="02020603050405020304" charset="0"/>
                <a:cs typeface="Times New Roman" panose="02020603050405020304" charset="0"/>
              </a:rPr>
              <a:t>mpsc</a:t>
            </a:r>
            <a:r>
              <a:rPr sz="2600" spc="-100" dirty="0">
                <a:solidFill>
                  <a:srgbClr val="000000"/>
                </a:solidFill>
                <a:latin typeface="Times New Roman" panose="02020603050405020304" charset="0"/>
                <a:cs typeface="Times New Roman" panose="02020603050405020304" charset="0"/>
              </a:rPr>
              <a:t> </a:t>
            </a:r>
            <a:r>
              <a:rPr sz="2600" spc="-40" dirty="0">
                <a:solidFill>
                  <a:srgbClr val="000000"/>
                </a:solidFill>
                <a:latin typeface="Times New Roman" panose="02020603050405020304" charset="0"/>
                <a:cs typeface="Times New Roman" panose="02020603050405020304" charset="0"/>
              </a:rPr>
              <a:t>Channel: </a:t>
            </a:r>
            <a:r>
              <a:rPr sz="2600" spc="-385" dirty="0">
                <a:solidFill>
                  <a:srgbClr val="000000"/>
                </a:solidFill>
                <a:latin typeface="Times New Roman" panose="02020603050405020304" charset="0"/>
                <a:cs typeface="Times New Roman" panose="02020603050405020304" charset="0"/>
              </a:rPr>
              <a:t>A</a:t>
            </a:r>
            <a:r>
              <a:rPr sz="2600" spc="-160" dirty="0">
                <a:solidFill>
                  <a:srgbClr val="000000"/>
                </a:solidFill>
                <a:latin typeface="Times New Roman" panose="02020603050405020304" charset="0"/>
                <a:cs typeface="Times New Roman" panose="02020603050405020304" charset="0"/>
              </a:rPr>
              <a:t> </a:t>
            </a:r>
            <a:r>
              <a:rPr sz="2600" spc="-60" dirty="0">
                <a:solidFill>
                  <a:srgbClr val="000000"/>
                </a:solidFill>
                <a:latin typeface="Times New Roman" panose="02020603050405020304" charset="0"/>
                <a:cs typeface="Times New Roman" panose="02020603050405020304" charset="0"/>
              </a:rPr>
              <a:t>multi-</a:t>
            </a:r>
            <a:r>
              <a:rPr sz="2600" spc="-10" dirty="0">
                <a:solidFill>
                  <a:srgbClr val="000000"/>
                </a:solidFill>
                <a:latin typeface="Times New Roman" panose="02020603050405020304" charset="0"/>
                <a:cs typeface="Times New Roman" panose="02020603050405020304" charset="0"/>
              </a:rPr>
              <a:t>producer,</a:t>
            </a:r>
            <a:endParaRPr sz="2600">
              <a:latin typeface="Times New Roman" panose="02020603050405020304" charset="0"/>
              <a:cs typeface="Times New Roman" panose="02020603050405020304" charset="0"/>
            </a:endParaRPr>
          </a:p>
          <a:p>
            <a:pPr marL="481965" marR="58420" indent="-6350">
              <a:lnSpc>
                <a:spcPct val="109000"/>
              </a:lnSpc>
            </a:pPr>
            <a:r>
              <a:rPr sz="2600" spc="-65" dirty="0">
                <a:solidFill>
                  <a:srgbClr val="000000"/>
                </a:solidFill>
                <a:latin typeface="Times New Roman" panose="02020603050405020304" charset="0"/>
                <a:cs typeface="Times New Roman" panose="02020603050405020304" charset="0"/>
              </a:rPr>
              <a:t>single-</a:t>
            </a:r>
            <a:r>
              <a:rPr sz="2600" spc="-75" dirty="0">
                <a:solidFill>
                  <a:srgbClr val="000000"/>
                </a:solidFill>
                <a:latin typeface="Times New Roman" panose="02020603050405020304" charset="0"/>
                <a:cs typeface="Times New Roman" panose="02020603050405020304" charset="0"/>
              </a:rPr>
              <a:t>consumer</a:t>
            </a:r>
            <a:r>
              <a:rPr sz="2600" dirty="0">
                <a:solidFill>
                  <a:srgbClr val="000000"/>
                </a:solidFill>
                <a:latin typeface="Times New Roman" panose="02020603050405020304" charset="0"/>
                <a:cs typeface="Times New Roman" panose="02020603050405020304" charset="0"/>
              </a:rPr>
              <a:t> </a:t>
            </a:r>
            <a:r>
              <a:rPr sz="2600" spc="-100" dirty="0">
                <a:solidFill>
                  <a:srgbClr val="000000"/>
                </a:solidFill>
                <a:latin typeface="Times New Roman" panose="02020603050405020304" charset="0"/>
                <a:cs typeface="Times New Roman" panose="02020603050405020304" charset="0"/>
              </a:rPr>
              <a:t>channel</a:t>
            </a:r>
            <a:r>
              <a:rPr sz="2600" spc="-35" dirty="0">
                <a:solidFill>
                  <a:srgbClr val="000000"/>
                </a:solidFill>
                <a:latin typeface="Times New Roman" panose="02020603050405020304" charset="0"/>
                <a:cs typeface="Times New Roman" panose="02020603050405020304" charset="0"/>
              </a:rPr>
              <a:t> </a:t>
            </a:r>
            <a:r>
              <a:rPr sz="2600" spc="-40" dirty="0">
                <a:solidFill>
                  <a:srgbClr val="000000"/>
                </a:solidFill>
                <a:latin typeface="Times New Roman" panose="02020603050405020304" charset="0"/>
                <a:cs typeface="Times New Roman" panose="02020603050405020304" charset="0"/>
              </a:rPr>
              <a:t>is</a:t>
            </a:r>
            <a:r>
              <a:rPr sz="2600" spc="-265" dirty="0">
                <a:solidFill>
                  <a:srgbClr val="000000"/>
                </a:solidFill>
                <a:latin typeface="Times New Roman" panose="02020603050405020304" charset="0"/>
                <a:cs typeface="Times New Roman" panose="02020603050405020304" charset="0"/>
              </a:rPr>
              <a:t> </a:t>
            </a:r>
            <a:r>
              <a:rPr sz="2600" spc="-10" dirty="0">
                <a:solidFill>
                  <a:srgbClr val="000000"/>
                </a:solidFill>
                <a:latin typeface="Times New Roman" panose="02020603050405020304" charset="0"/>
                <a:cs typeface="Times New Roman" panose="02020603050405020304" charset="0"/>
              </a:rPr>
              <a:t>created </a:t>
            </a:r>
            <a:r>
              <a:rPr sz="2600" spc="-55" dirty="0">
                <a:solidFill>
                  <a:srgbClr val="000000"/>
                </a:solidFill>
                <a:latin typeface="Times New Roman" panose="02020603050405020304" charset="0"/>
                <a:cs typeface="Times New Roman" panose="02020603050405020304" charset="0"/>
              </a:rPr>
              <a:t>for</a:t>
            </a:r>
            <a:r>
              <a:rPr sz="2600" spc="-140" dirty="0">
                <a:solidFill>
                  <a:srgbClr val="000000"/>
                </a:solidFill>
                <a:latin typeface="Times New Roman" panose="02020603050405020304" charset="0"/>
                <a:cs typeface="Times New Roman" panose="02020603050405020304" charset="0"/>
              </a:rPr>
              <a:t> </a:t>
            </a:r>
            <a:r>
              <a:rPr sz="2600" spc="-80" dirty="0">
                <a:solidFill>
                  <a:srgbClr val="000000"/>
                </a:solidFill>
                <a:latin typeface="Times New Roman" panose="02020603050405020304" charset="0"/>
                <a:cs typeface="Times New Roman" panose="02020603050405020304" charset="0"/>
              </a:rPr>
              <a:t>each*</a:t>
            </a:r>
            <a:r>
              <a:rPr sz="2600" spc="-100" dirty="0">
                <a:solidFill>
                  <a:srgbClr val="000000"/>
                </a:solidFill>
                <a:latin typeface="Times New Roman" panose="02020603050405020304" charset="0"/>
                <a:cs typeface="Times New Roman" panose="02020603050405020304" charset="0"/>
              </a:rPr>
              <a:t> </a:t>
            </a:r>
            <a:r>
              <a:rPr sz="2600" spc="-80" dirty="0">
                <a:solidFill>
                  <a:srgbClr val="000000"/>
                </a:solidFill>
                <a:latin typeface="Times New Roman" panose="02020603050405020304" charset="0"/>
                <a:cs typeface="Times New Roman" panose="02020603050405020304" charset="0"/>
              </a:rPr>
              <a:t>drone</a:t>
            </a:r>
            <a:r>
              <a:rPr sz="2600" spc="-210" dirty="0">
                <a:solidFill>
                  <a:srgbClr val="000000"/>
                </a:solidFill>
                <a:latin typeface="Times New Roman" panose="02020603050405020304" charset="0"/>
                <a:cs typeface="Times New Roman" panose="02020603050405020304" charset="0"/>
              </a:rPr>
              <a:t> </a:t>
            </a:r>
            <a:r>
              <a:rPr sz="2600" spc="-55" dirty="0">
                <a:solidFill>
                  <a:srgbClr val="000000"/>
                </a:solidFill>
                <a:latin typeface="Times New Roman" panose="02020603050405020304" charset="0"/>
                <a:cs typeface="Times New Roman" panose="02020603050405020304" charset="0"/>
              </a:rPr>
              <a:t>connection.</a:t>
            </a:r>
            <a:r>
              <a:rPr sz="2600" spc="-35" dirty="0">
                <a:solidFill>
                  <a:srgbClr val="000000"/>
                </a:solidFill>
                <a:latin typeface="Times New Roman" panose="02020603050405020304" charset="0"/>
                <a:cs typeface="Times New Roman" panose="02020603050405020304" charset="0"/>
              </a:rPr>
              <a:t> </a:t>
            </a:r>
            <a:r>
              <a:rPr sz="2600" spc="-20" dirty="0">
                <a:solidFill>
                  <a:srgbClr val="000000"/>
                </a:solidFill>
                <a:latin typeface="Times New Roman" panose="02020603050405020304" charset="0"/>
                <a:cs typeface="Times New Roman" panose="02020603050405020304" charset="0"/>
              </a:rPr>
              <a:t>This</a:t>
            </a:r>
            <a:r>
              <a:rPr lang="en-US" sz="2600" spc="-20" dirty="0">
                <a:solidFill>
                  <a:srgbClr val="000000"/>
                </a:solidFill>
                <a:latin typeface="Times New Roman" panose="02020603050405020304" charset="0"/>
                <a:cs typeface="Times New Roman" panose="02020603050405020304" charset="0"/>
              </a:rPr>
              <a:t> </a:t>
            </a:r>
            <a:r>
              <a:rPr sz="2600" spc="-75" dirty="0">
                <a:solidFill>
                  <a:srgbClr val="000000"/>
                </a:solidFill>
                <a:latin typeface="Times New Roman" panose="02020603050405020304" charset="0"/>
                <a:cs typeface="Times New Roman" panose="02020603050405020304" charset="0"/>
              </a:rPr>
              <a:t>decouples</a:t>
            </a:r>
            <a:r>
              <a:rPr sz="2600" spc="-70" dirty="0">
                <a:solidFill>
                  <a:srgbClr val="000000"/>
                </a:solidFill>
                <a:latin typeface="Times New Roman" panose="02020603050405020304" charset="0"/>
                <a:cs typeface="Times New Roman" panose="02020603050405020304" charset="0"/>
              </a:rPr>
              <a:t> </a:t>
            </a:r>
            <a:r>
              <a:rPr sz="2600" dirty="0">
                <a:solidFill>
                  <a:srgbClr val="000000"/>
                </a:solidFill>
                <a:latin typeface="Times New Roman" panose="02020603050405020304" charset="0"/>
                <a:cs typeface="Times New Roman" panose="02020603050405020304" charset="0"/>
              </a:rPr>
              <a:t>the</a:t>
            </a:r>
            <a:r>
              <a:rPr sz="2600" spc="-100" dirty="0">
                <a:solidFill>
                  <a:srgbClr val="000000"/>
                </a:solidFill>
                <a:latin typeface="Times New Roman" panose="02020603050405020304" charset="0"/>
                <a:cs typeface="Times New Roman" panose="02020603050405020304" charset="0"/>
              </a:rPr>
              <a:t> </a:t>
            </a:r>
            <a:r>
              <a:rPr sz="2600" spc="-254" dirty="0">
                <a:solidFill>
                  <a:srgbClr val="000000"/>
                </a:solidFill>
                <a:latin typeface="Times New Roman" panose="02020603050405020304" charset="0"/>
                <a:cs typeface="Times New Roman" panose="02020603050405020304" charset="0"/>
              </a:rPr>
              <a:t>API</a:t>
            </a:r>
            <a:r>
              <a:rPr sz="2600" spc="-185" dirty="0">
                <a:solidFill>
                  <a:srgbClr val="000000"/>
                </a:solidFill>
                <a:latin typeface="Times New Roman" panose="02020603050405020304" charset="0"/>
                <a:cs typeface="Times New Roman" panose="02020603050405020304" charset="0"/>
              </a:rPr>
              <a:t> </a:t>
            </a:r>
            <a:r>
              <a:rPr lang="en-US" sz="2600" spc="-185" dirty="0">
                <a:solidFill>
                  <a:srgbClr val="000000"/>
                </a:solidFill>
                <a:latin typeface="Times New Roman" panose="02020603050405020304" charset="0"/>
                <a:cs typeface="Times New Roman" panose="02020603050405020304" charset="0"/>
              </a:rPr>
              <a:t> </a:t>
            </a:r>
            <a:r>
              <a:rPr sz="2600" spc="-85" dirty="0">
                <a:solidFill>
                  <a:srgbClr val="000000"/>
                </a:solidFill>
                <a:latin typeface="Times New Roman" panose="02020603050405020304" charset="0"/>
                <a:cs typeface="Times New Roman" panose="02020603050405020304" charset="0"/>
              </a:rPr>
              <a:t>handlers</a:t>
            </a:r>
            <a:r>
              <a:rPr sz="2600" spc="-5" dirty="0">
                <a:solidFill>
                  <a:srgbClr val="000000"/>
                </a:solidFill>
                <a:latin typeface="Times New Roman" panose="02020603050405020304" charset="0"/>
                <a:cs typeface="Times New Roman" panose="02020603050405020304" charset="0"/>
              </a:rPr>
              <a:t> </a:t>
            </a:r>
            <a:r>
              <a:rPr sz="2600" spc="-100" dirty="0">
                <a:solidFill>
                  <a:srgbClr val="000000"/>
                </a:solidFill>
                <a:latin typeface="Times New Roman" panose="02020603050405020304" charset="0"/>
                <a:cs typeface="Times New Roman" panose="02020603050405020304" charset="0"/>
              </a:rPr>
              <a:t>from</a:t>
            </a:r>
            <a:r>
              <a:rPr sz="2600" spc="-125" dirty="0">
                <a:solidFill>
                  <a:srgbClr val="000000"/>
                </a:solidFill>
                <a:latin typeface="Times New Roman" panose="02020603050405020304" charset="0"/>
                <a:cs typeface="Times New Roman" panose="02020603050405020304" charset="0"/>
              </a:rPr>
              <a:t> </a:t>
            </a:r>
            <a:r>
              <a:rPr sz="2600" spc="-25" dirty="0">
                <a:solidFill>
                  <a:srgbClr val="000000"/>
                </a:solidFill>
                <a:latin typeface="Times New Roman" panose="02020603050405020304" charset="0"/>
                <a:cs typeface="Times New Roman" panose="02020603050405020304" charset="0"/>
              </a:rPr>
              <a:t>the </a:t>
            </a:r>
            <a:r>
              <a:rPr sz="2600" spc="-265" dirty="0">
                <a:solidFill>
                  <a:srgbClr val="000000"/>
                </a:solidFill>
                <a:latin typeface="Times New Roman" panose="02020603050405020304" charset="0"/>
                <a:cs typeface="Times New Roman" panose="02020603050405020304" charset="0"/>
              </a:rPr>
              <a:t>TCP</a:t>
            </a:r>
            <a:r>
              <a:rPr sz="2600" spc="-40" dirty="0">
                <a:solidFill>
                  <a:srgbClr val="000000"/>
                </a:solidFill>
                <a:latin typeface="Times New Roman" panose="02020603050405020304" charset="0"/>
                <a:cs typeface="Times New Roman" panose="02020603050405020304" charset="0"/>
              </a:rPr>
              <a:t> </a:t>
            </a:r>
            <a:r>
              <a:rPr sz="2600" spc="-50" dirty="0">
                <a:solidFill>
                  <a:srgbClr val="000000"/>
                </a:solidFill>
                <a:latin typeface="Times New Roman" panose="02020603050405020304" charset="0"/>
                <a:cs typeface="Times New Roman" panose="02020603050405020304" charset="0"/>
              </a:rPr>
              <a:t>write</a:t>
            </a:r>
            <a:r>
              <a:rPr sz="2600" spc="-175" dirty="0">
                <a:solidFill>
                  <a:srgbClr val="000000"/>
                </a:solidFill>
                <a:latin typeface="Times New Roman" panose="02020603050405020304" charset="0"/>
                <a:cs typeface="Times New Roman" panose="02020603050405020304" charset="0"/>
              </a:rPr>
              <a:t> </a:t>
            </a:r>
            <a:r>
              <a:rPr sz="2600" spc="-75" dirty="0">
                <a:solidFill>
                  <a:srgbClr val="000000"/>
                </a:solidFill>
                <a:latin typeface="Times New Roman" panose="02020603050405020304" charset="0"/>
                <a:cs typeface="Times New Roman" panose="02020603050405020304" charset="0"/>
              </a:rPr>
              <a:t>logic,</a:t>
            </a:r>
            <a:r>
              <a:rPr sz="2600" spc="-85" dirty="0">
                <a:solidFill>
                  <a:srgbClr val="000000"/>
                </a:solidFill>
                <a:latin typeface="Times New Roman" panose="02020603050405020304" charset="0"/>
                <a:cs typeface="Times New Roman" panose="02020603050405020304" charset="0"/>
              </a:rPr>
              <a:t> </a:t>
            </a:r>
            <a:r>
              <a:rPr sz="2600" spc="-50" dirty="0">
                <a:solidFill>
                  <a:srgbClr val="000000"/>
                </a:solidFill>
                <a:latin typeface="Times New Roman" panose="02020603050405020304" charset="0"/>
                <a:cs typeface="Times New Roman" panose="02020603050405020304" charset="0"/>
              </a:rPr>
              <a:t>creating</a:t>
            </a:r>
            <a:r>
              <a:rPr sz="2600" spc="-35" dirty="0">
                <a:solidFill>
                  <a:srgbClr val="000000"/>
                </a:solidFill>
                <a:latin typeface="Times New Roman" panose="02020603050405020304" charset="0"/>
                <a:cs typeface="Times New Roman" panose="02020603050405020304" charset="0"/>
              </a:rPr>
              <a:t> </a:t>
            </a:r>
            <a:r>
              <a:rPr sz="2600" spc="-25" dirty="0">
                <a:solidFill>
                  <a:srgbClr val="000000"/>
                </a:solidFill>
                <a:latin typeface="Times New Roman" panose="02020603050405020304" charset="0"/>
                <a:cs typeface="Times New Roman" panose="02020603050405020304" charset="0"/>
              </a:rPr>
              <a:t>an</a:t>
            </a:r>
            <a:r>
              <a:rPr sz="2600" spc="-90" dirty="0">
                <a:solidFill>
                  <a:srgbClr val="000000"/>
                </a:solidFill>
                <a:latin typeface="Times New Roman" panose="02020603050405020304" charset="0"/>
                <a:cs typeface="Times New Roman" panose="02020603050405020304" charset="0"/>
              </a:rPr>
              <a:t>in-</a:t>
            </a:r>
            <a:r>
              <a:rPr sz="2600" spc="-110" dirty="0">
                <a:solidFill>
                  <a:srgbClr val="000000"/>
                </a:solidFill>
                <a:latin typeface="Times New Roman" panose="02020603050405020304" charset="0"/>
                <a:cs typeface="Times New Roman" panose="02020603050405020304" charset="0"/>
              </a:rPr>
              <a:t>memory,</a:t>
            </a:r>
            <a:r>
              <a:rPr sz="2600" spc="-5" dirty="0">
                <a:solidFill>
                  <a:srgbClr val="000000"/>
                </a:solidFill>
                <a:latin typeface="Times New Roman" panose="02020603050405020304" charset="0"/>
                <a:cs typeface="Times New Roman" panose="02020603050405020304" charset="0"/>
              </a:rPr>
              <a:t> </a:t>
            </a:r>
            <a:r>
              <a:rPr sz="2600" spc="-80" dirty="0">
                <a:solidFill>
                  <a:srgbClr val="000000"/>
                </a:solidFill>
                <a:latin typeface="Times New Roman" panose="02020603050405020304" charset="0"/>
                <a:cs typeface="Times New Roman" panose="02020603050405020304" charset="0"/>
              </a:rPr>
              <a:t>non-</a:t>
            </a:r>
            <a:r>
              <a:rPr sz="2600" spc="-60" dirty="0">
                <a:solidFill>
                  <a:srgbClr val="000000"/>
                </a:solidFill>
                <a:latin typeface="Times New Roman" panose="02020603050405020304" charset="0"/>
                <a:cs typeface="Times New Roman" panose="02020603050405020304" charset="0"/>
              </a:rPr>
              <a:t>blocking</a:t>
            </a:r>
            <a:r>
              <a:rPr sz="2600" spc="-55" dirty="0">
                <a:solidFill>
                  <a:srgbClr val="000000"/>
                </a:solidFill>
                <a:latin typeface="Times New Roman" panose="02020603050405020304" charset="0"/>
                <a:cs typeface="Times New Roman" panose="02020603050405020304" charset="0"/>
              </a:rPr>
              <a:t> </a:t>
            </a:r>
            <a:r>
              <a:rPr sz="2600" spc="-70" dirty="0">
                <a:solidFill>
                  <a:srgbClr val="000000"/>
                </a:solidFill>
                <a:latin typeface="Times New Roman" panose="02020603050405020304" charset="0"/>
                <a:cs typeface="Times New Roman" panose="02020603050405020304" charset="0"/>
              </a:rPr>
              <a:t>command </a:t>
            </a:r>
            <a:r>
              <a:rPr sz="2600" spc="-80" dirty="0">
                <a:solidFill>
                  <a:srgbClr val="000000"/>
                </a:solidFill>
                <a:latin typeface="Times New Roman" panose="02020603050405020304" charset="0"/>
                <a:cs typeface="Times New Roman" panose="02020603050405020304" charset="0"/>
              </a:rPr>
              <a:t>queue</a:t>
            </a:r>
            <a:r>
              <a:rPr sz="2600" spc="-40" dirty="0">
                <a:solidFill>
                  <a:srgbClr val="000000"/>
                </a:solidFill>
                <a:latin typeface="Times New Roman" panose="02020603050405020304" charset="0"/>
                <a:cs typeface="Times New Roman" panose="02020603050405020304" charset="0"/>
              </a:rPr>
              <a:t> </a:t>
            </a:r>
            <a:r>
              <a:rPr sz="2600" spc="-80" dirty="0">
                <a:solidFill>
                  <a:srgbClr val="000000"/>
                </a:solidFill>
                <a:latin typeface="Times New Roman" panose="02020603050405020304" charset="0"/>
                <a:cs typeface="Times New Roman" panose="02020603050405020304" charset="0"/>
              </a:rPr>
              <a:t>(capacity.</a:t>
            </a:r>
            <a:r>
              <a:rPr sz="2600" spc="-155" dirty="0">
                <a:solidFill>
                  <a:srgbClr val="000000"/>
                </a:solidFill>
                <a:latin typeface="Times New Roman" panose="02020603050405020304" charset="0"/>
                <a:cs typeface="Times New Roman" panose="02020603050405020304" charset="0"/>
              </a:rPr>
              <a:t> </a:t>
            </a:r>
            <a:r>
              <a:rPr sz="2600" spc="-100" dirty="0">
                <a:solidFill>
                  <a:srgbClr val="000000"/>
                </a:solidFill>
                <a:latin typeface="Times New Roman" panose="02020603050405020304" charset="0"/>
                <a:cs typeface="Times New Roman" panose="02020603050405020304" charset="0"/>
              </a:rPr>
              <a:t>100)</a:t>
            </a:r>
            <a:r>
              <a:rPr sz="2600" spc="15" dirty="0">
                <a:solidFill>
                  <a:srgbClr val="000000"/>
                </a:solidFill>
                <a:latin typeface="Times New Roman" panose="02020603050405020304" charset="0"/>
                <a:cs typeface="Times New Roman" panose="02020603050405020304" charset="0"/>
              </a:rPr>
              <a:t> </a:t>
            </a:r>
            <a:r>
              <a:rPr sz="2600" spc="-55" dirty="0">
                <a:solidFill>
                  <a:srgbClr val="000000"/>
                </a:solidFill>
                <a:latin typeface="Times New Roman" panose="02020603050405020304" charset="0"/>
                <a:cs typeface="Times New Roman" panose="02020603050405020304" charset="0"/>
              </a:rPr>
              <a:t>for</a:t>
            </a:r>
            <a:r>
              <a:rPr sz="2600" spc="-145" dirty="0">
                <a:solidFill>
                  <a:srgbClr val="000000"/>
                </a:solidFill>
                <a:latin typeface="Times New Roman" panose="02020603050405020304" charset="0"/>
                <a:cs typeface="Times New Roman" panose="02020603050405020304" charset="0"/>
              </a:rPr>
              <a:t> </a:t>
            </a:r>
            <a:r>
              <a:rPr sz="2600" spc="-20" dirty="0">
                <a:solidFill>
                  <a:srgbClr val="000000"/>
                </a:solidFill>
                <a:latin typeface="Times New Roman" panose="02020603050405020304" charset="0"/>
                <a:cs typeface="Times New Roman" panose="02020603050405020304" charset="0"/>
              </a:rPr>
              <a:t>each </a:t>
            </a:r>
            <a:r>
              <a:rPr sz="2600" spc="-10" dirty="0">
                <a:solidFill>
                  <a:srgbClr val="000000"/>
                </a:solidFill>
                <a:latin typeface="Times New Roman" panose="02020603050405020304" charset="0"/>
                <a:cs typeface="Times New Roman" panose="02020603050405020304" charset="0"/>
              </a:rPr>
              <a:t>drone.</a:t>
            </a:r>
            <a:endParaRPr sz="2600">
              <a:latin typeface="Times New Roman" panose="02020603050405020304" charset="0"/>
              <a:cs typeface="Times New Roman" panose="02020603050405020304"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pic>
        <p:nvPicPr>
          <p:cNvPr id="5" name="内容占位符 4" descr="屏幕截图 2025-11-29 150131"/>
          <p:cNvPicPr>
            <a:picLocks noChangeAspect="1"/>
          </p:cNvPicPr>
          <p:nvPr>
            <p:ph sz="half" idx="2"/>
          </p:nvPr>
        </p:nvPicPr>
        <p:blipFill>
          <a:blip r:embed="rId1"/>
          <a:stretch>
            <a:fillRect/>
          </a:stretch>
        </p:blipFill>
        <p:spPr>
          <a:xfrm>
            <a:off x="8890" y="0"/>
            <a:ext cx="8471535" cy="4639945"/>
          </a:xfrm>
          <a:prstGeom prst="rect">
            <a:avLst/>
          </a:prstGeom>
        </p:spPr>
      </p:pic>
      <p:pic>
        <p:nvPicPr>
          <p:cNvPr id="6" name="内容占位符 5" descr="屏幕截图 2025-11-29 150302"/>
          <p:cNvPicPr>
            <a:picLocks noChangeAspect="1"/>
          </p:cNvPicPr>
          <p:nvPr>
            <p:ph sz="half" idx="3"/>
          </p:nvPr>
        </p:nvPicPr>
        <p:blipFill>
          <a:blip r:embed="rId2"/>
          <a:stretch>
            <a:fillRect/>
          </a:stretch>
        </p:blipFill>
        <p:spPr>
          <a:xfrm>
            <a:off x="8509000" y="0"/>
            <a:ext cx="8966200" cy="4639945"/>
          </a:xfrm>
          <a:prstGeom prst="rect">
            <a:avLst/>
          </a:prstGeom>
        </p:spPr>
      </p:pic>
      <p:pic>
        <p:nvPicPr>
          <p:cNvPr id="7" name="图片 6" descr="屏幕截图 2025-11-29 150319"/>
          <p:cNvPicPr>
            <a:picLocks noChangeAspect="1"/>
          </p:cNvPicPr>
          <p:nvPr/>
        </p:nvPicPr>
        <p:blipFill>
          <a:blip r:embed="rId3"/>
          <a:stretch>
            <a:fillRect/>
          </a:stretch>
        </p:blipFill>
        <p:spPr>
          <a:xfrm>
            <a:off x="-34290" y="4695825"/>
            <a:ext cx="8493125" cy="5060950"/>
          </a:xfrm>
          <a:prstGeom prst="rect">
            <a:avLst/>
          </a:prstGeom>
        </p:spPr>
      </p:pic>
      <p:pic>
        <p:nvPicPr>
          <p:cNvPr id="8" name="图片 7" descr="屏幕截图 2025-11-29 150333"/>
          <p:cNvPicPr>
            <a:picLocks noChangeAspect="1"/>
          </p:cNvPicPr>
          <p:nvPr/>
        </p:nvPicPr>
        <p:blipFill>
          <a:blip r:embed="rId4"/>
          <a:stretch>
            <a:fillRect/>
          </a:stretch>
        </p:blipFill>
        <p:spPr>
          <a:xfrm>
            <a:off x="8481695" y="4695825"/>
            <a:ext cx="8993505" cy="5080635"/>
          </a:xfrm>
          <a:prstGeom prst="rect">
            <a:avLst/>
          </a:prstGeom>
        </p:spPr>
      </p:pic>
      <p:pic>
        <p:nvPicPr>
          <p:cNvPr id="9" name="图片 8" descr="屏幕截图 2025-11-29 150348"/>
          <p:cNvPicPr>
            <a:picLocks noChangeAspect="1"/>
          </p:cNvPicPr>
          <p:nvPr/>
        </p:nvPicPr>
        <p:blipFill>
          <a:blip r:embed="rId5"/>
          <a:stretch>
            <a:fillRect/>
          </a:stretch>
        </p:blipFill>
        <p:spPr>
          <a:xfrm>
            <a:off x="4013200" y="2671445"/>
            <a:ext cx="8847455" cy="4015105"/>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1" cstate="print"/>
          <a:stretch>
            <a:fillRect/>
          </a:stretch>
        </p:blipFill>
        <p:spPr>
          <a:xfrm>
            <a:off x="8115300" y="5765800"/>
            <a:ext cx="1231900" cy="177800"/>
          </a:xfrm>
          <a:prstGeom prst="rect">
            <a:avLst/>
          </a:prstGeom>
        </p:spPr>
      </p:pic>
      <p:pic>
        <p:nvPicPr>
          <p:cNvPr id="3" name="object 3"/>
          <p:cNvPicPr/>
          <p:nvPr/>
        </p:nvPicPr>
        <p:blipFill>
          <a:blip r:embed="rId2" cstate="print"/>
          <a:stretch>
            <a:fillRect/>
          </a:stretch>
        </p:blipFill>
        <p:spPr>
          <a:xfrm>
            <a:off x="5156200" y="3683000"/>
            <a:ext cx="863600" cy="927100"/>
          </a:xfrm>
          <a:prstGeom prst="rect">
            <a:avLst/>
          </a:prstGeom>
        </p:spPr>
      </p:pic>
      <p:pic>
        <p:nvPicPr>
          <p:cNvPr id="4" name="object 4"/>
          <p:cNvPicPr/>
          <p:nvPr/>
        </p:nvPicPr>
        <p:blipFill>
          <a:blip r:embed="rId3" cstate="print"/>
          <a:stretch>
            <a:fillRect/>
          </a:stretch>
        </p:blipFill>
        <p:spPr>
          <a:xfrm>
            <a:off x="9728200" y="3759200"/>
            <a:ext cx="876300" cy="774700"/>
          </a:xfrm>
          <a:prstGeom prst="rect">
            <a:avLst/>
          </a:prstGeom>
        </p:spPr>
      </p:pic>
      <p:sp>
        <p:nvSpPr>
          <p:cNvPr id="5" name="object 5"/>
          <p:cNvSpPr txBox="1">
            <a:spLocks noGrp="1"/>
          </p:cNvSpPr>
          <p:nvPr>
            <p:ph type="title"/>
          </p:nvPr>
        </p:nvSpPr>
        <p:spPr>
          <a:prstGeom prst="rect">
            <a:avLst/>
          </a:prstGeom>
        </p:spPr>
        <p:txBody>
          <a:bodyPr vert="horz" wrap="square" lIns="0" tIns="259432" rIns="0" bIns="0" rtlCol="0">
            <a:spAutoFit/>
          </a:bodyPr>
          <a:lstStyle/>
          <a:p>
            <a:pPr marL="154940">
              <a:lnSpc>
                <a:spcPct val="100000"/>
              </a:lnSpc>
              <a:spcBef>
                <a:spcPts val="90"/>
              </a:spcBef>
            </a:pPr>
            <a:r>
              <a:rPr sz="4800" spc="50" dirty="0">
                <a:solidFill>
                  <a:srgbClr val="1C1C1C"/>
                </a:solidFill>
              </a:rPr>
              <a:t>Pillar</a:t>
            </a:r>
            <a:r>
              <a:rPr sz="4800" spc="-265" dirty="0">
                <a:solidFill>
                  <a:srgbClr val="1C1C1C"/>
                </a:solidFill>
              </a:rPr>
              <a:t> </a:t>
            </a:r>
            <a:r>
              <a:rPr sz="4800" spc="60" dirty="0">
                <a:solidFill>
                  <a:srgbClr val="1F1F1F"/>
                </a:solidFill>
              </a:rPr>
              <a:t>III:</a:t>
            </a:r>
            <a:r>
              <a:rPr sz="4800" spc="-434" dirty="0">
                <a:solidFill>
                  <a:srgbClr val="1F1F1F"/>
                </a:solidFill>
              </a:rPr>
              <a:t> </a:t>
            </a:r>
            <a:r>
              <a:rPr sz="4800" spc="-40" dirty="0">
                <a:solidFill>
                  <a:srgbClr val="1C1C1C"/>
                </a:solidFill>
              </a:rPr>
              <a:t>The</a:t>
            </a:r>
            <a:r>
              <a:rPr sz="4800" spc="-355" dirty="0">
                <a:solidFill>
                  <a:srgbClr val="1C1C1C"/>
                </a:solidFill>
              </a:rPr>
              <a:t> </a:t>
            </a:r>
            <a:r>
              <a:rPr sz="4800" spc="-60" dirty="0">
                <a:solidFill>
                  <a:srgbClr val="1F1F1F"/>
                </a:solidFill>
              </a:rPr>
              <a:t>Real-</a:t>
            </a:r>
            <a:r>
              <a:rPr sz="4800" dirty="0">
                <a:solidFill>
                  <a:srgbClr val="1F1F1F"/>
                </a:solidFill>
              </a:rPr>
              <a:t>Time</a:t>
            </a:r>
            <a:r>
              <a:rPr sz="4800" spc="-110" dirty="0">
                <a:solidFill>
                  <a:srgbClr val="1F1F1F"/>
                </a:solidFill>
              </a:rPr>
              <a:t> </a:t>
            </a:r>
            <a:r>
              <a:rPr sz="4800" spc="-240" dirty="0">
                <a:solidFill>
                  <a:srgbClr val="1D1D1D"/>
                </a:solidFill>
              </a:rPr>
              <a:t>GUI</a:t>
            </a:r>
            <a:r>
              <a:rPr sz="4800" spc="-290" dirty="0">
                <a:solidFill>
                  <a:srgbClr val="1D1D1D"/>
                </a:solidFill>
              </a:rPr>
              <a:t> </a:t>
            </a:r>
            <a:r>
              <a:rPr sz="4800" spc="130" dirty="0">
                <a:solidFill>
                  <a:srgbClr val="1C1C1C"/>
                </a:solidFill>
              </a:rPr>
              <a:t>Architecture</a:t>
            </a:r>
            <a:endParaRPr sz="4800"/>
          </a:p>
        </p:txBody>
      </p:sp>
      <p:sp>
        <p:nvSpPr>
          <p:cNvPr id="13" name="object 13"/>
          <p:cNvSpPr txBox="1">
            <a:spLocks noGrp="1"/>
          </p:cNvSpPr>
          <p:nvPr>
            <p:ph type="ftr" sz="quarter" idx="5"/>
          </p:nvPr>
        </p:nvSpPr>
        <p:spPr>
          <a:prstGeom prst="rect">
            <a:avLst/>
          </a:prstGeom>
        </p:spPr>
        <p:txBody>
          <a:bodyPr vert="horz" wrap="square" lIns="0" tIns="0" rIns="0" bIns="0" rtlCol="0">
            <a:spAutoFit/>
          </a:bodyPr>
          <a:lstStyle/>
          <a:p>
            <a:pPr marL="12700">
              <a:lnSpc>
                <a:spcPts val="1555"/>
              </a:lnSpc>
            </a:pPr>
            <a:r>
              <a:rPr dirty="0"/>
              <a:t>G</a:t>
            </a:r>
            <a:r>
              <a:rPr spc="490" dirty="0"/>
              <a:t> </a:t>
            </a:r>
            <a:r>
              <a:rPr spc="-10" dirty="0"/>
              <a:t>NotebookLM</a:t>
            </a:r>
            <a:endParaRPr spc="-10" dirty="0"/>
          </a:p>
        </p:txBody>
      </p:sp>
      <p:sp>
        <p:nvSpPr>
          <p:cNvPr id="6" name="object 6"/>
          <p:cNvSpPr txBox="1"/>
          <p:nvPr/>
        </p:nvSpPr>
        <p:spPr>
          <a:xfrm>
            <a:off x="785885" y="2346677"/>
            <a:ext cx="3274695" cy="3711575"/>
          </a:xfrm>
          <a:prstGeom prst="rect">
            <a:avLst/>
          </a:prstGeom>
        </p:spPr>
        <p:txBody>
          <a:bodyPr vert="horz" wrap="square" lIns="0" tIns="15240" rIns="0" bIns="0" rtlCol="0">
            <a:spAutoFit/>
          </a:bodyPr>
          <a:lstStyle/>
          <a:p>
            <a:pPr marL="12700">
              <a:lnSpc>
                <a:spcPct val="100000"/>
              </a:lnSpc>
              <a:spcBef>
                <a:spcPts val="120"/>
              </a:spcBef>
            </a:pPr>
            <a:r>
              <a:rPr sz="3450" spc="-20" dirty="0">
                <a:solidFill>
                  <a:srgbClr val="111111"/>
                </a:solidFill>
                <a:latin typeface="Cambria" panose="02040503050406030204"/>
                <a:cs typeface="Cambria" panose="02040503050406030204"/>
              </a:rPr>
              <a:t>The</a:t>
            </a:r>
            <a:r>
              <a:rPr sz="3450" spc="-165" dirty="0">
                <a:solidFill>
                  <a:srgbClr val="111111"/>
                </a:solidFill>
                <a:latin typeface="Cambria" panose="02040503050406030204"/>
                <a:cs typeface="Cambria" panose="02040503050406030204"/>
              </a:rPr>
              <a:t> </a:t>
            </a:r>
            <a:r>
              <a:rPr sz="3450" spc="-20" dirty="0">
                <a:solidFill>
                  <a:srgbClr val="0E0E0E"/>
                </a:solidFill>
                <a:latin typeface="Cambria" panose="02040503050406030204"/>
                <a:cs typeface="Cambria" panose="02040503050406030204"/>
              </a:rPr>
              <a:t>Goal</a:t>
            </a:r>
            <a:endParaRPr sz="3450">
              <a:latin typeface="Cambria" panose="02040503050406030204"/>
              <a:cs typeface="Cambria" panose="02040503050406030204"/>
            </a:endParaRPr>
          </a:p>
          <a:p>
            <a:pPr marL="27940" marR="5080" indent="-4445">
              <a:lnSpc>
                <a:spcPct val="104000"/>
              </a:lnSpc>
              <a:spcBef>
                <a:spcPts val="2995"/>
              </a:spcBef>
            </a:pPr>
            <a:r>
              <a:rPr kumimoji="0" lang="en-US" altLang="zh-CN" sz="2900" b="0" i="0" u="none" strike="noStrike" kern="0" cap="none" spc="0" normalizeH="0" baseline="0" noProof="1">
                <a:solidFill>
                  <a:schemeClr val="tx1"/>
                </a:solidFill>
                <a:latin typeface="Times New Roman" panose="02020603050405020304" charset="0"/>
                <a:ea typeface="Arial" panose="020B0604020202020204" pitchFamily="34" charset="0"/>
                <a:cs typeface="Times New Roman" panose="02020603050405020304" charset="0"/>
              </a:rPr>
              <a:t>Create a responsive and interactive interface for monitoring and control that feels like a native application.</a:t>
            </a:r>
            <a:endParaRPr kumimoji="0" lang="en-US" altLang="zh-CN" sz="2900" b="0" i="0" u="none" strike="noStrike" kern="0" cap="none" spc="0" normalizeH="0" baseline="0" noProof="1">
              <a:solidFill>
                <a:schemeClr val="tx1"/>
              </a:solidFill>
              <a:latin typeface="Times New Roman" panose="02020603050405020304" charset="0"/>
              <a:ea typeface="Arial" panose="020B0604020202020204" pitchFamily="34" charset="0"/>
              <a:cs typeface="Times New Roman" panose="02020603050405020304" charset="0"/>
            </a:endParaRPr>
          </a:p>
        </p:txBody>
      </p:sp>
      <p:sp>
        <p:nvSpPr>
          <p:cNvPr id="7" name="object 7"/>
          <p:cNvSpPr txBox="1"/>
          <p:nvPr/>
        </p:nvSpPr>
        <p:spPr>
          <a:xfrm>
            <a:off x="4771553" y="2373136"/>
            <a:ext cx="7313930" cy="523240"/>
          </a:xfrm>
          <a:prstGeom prst="rect">
            <a:avLst/>
          </a:prstGeom>
        </p:spPr>
        <p:txBody>
          <a:bodyPr vert="horz" wrap="square" lIns="0" tIns="13970" rIns="0" bIns="0" rtlCol="0">
            <a:spAutoFit/>
          </a:bodyPr>
          <a:lstStyle/>
          <a:p>
            <a:pPr marL="12700">
              <a:lnSpc>
                <a:spcPct val="100000"/>
              </a:lnSpc>
              <a:spcBef>
                <a:spcPts val="110"/>
              </a:spcBef>
            </a:pPr>
            <a:r>
              <a:rPr sz="3250" dirty="0">
                <a:solidFill>
                  <a:srgbClr val="161616"/>
                </a:solidFill>
                <a:latin typeface="Trebuchet MS" panose="020B0603020202020204"/>
                <a:cs typeface="Trebuchet MS" panose="020B0603020202020204"/>
              </a:rPr>
              <a:t>The</a:t>
            </a:r>
            <a:r>
              <a:rPr sz="3250" spc="-45" dirty="0">
                <a:solidFill>
                  <a:srgbClr val="161616"/>
                </a:solidFill>
                <a:latin typeface="Trebuchet MS" panose="020B0603020202020204"/>
                <a:cs typeface="Trebuchet MS" panose="020B0603020202020204"/>
              </a:rPr>
              <a:t> </a:t>
            </a:r>
            <a:r>
              <a:rPr sz="3250" spc="-20" dirty="0">
                <a:solidFill>
                  <a:srgbClr val="0E0E0E"/>
                </a:solidFill>
                <a:latin typeface="Trebuchet MS" panose="020B0603020202020204"/>
                <a:cs typeface="Trebuchet MS" panose="020B0603020202020204"/>
              </a:rPr>
              <a:t>Architecture:</a:t>
            </a:r>
            <a:r>
              <a:rPr sz="3250" spc="-25" dirty="0">
                <a:solidFill>
                  <a:srgbClr val="0E0E0E"/>
                </a:solidFill>
                <a:latin typeface="Trebuchet MS" panose="020B0603020202020204"/>
                <a:cs typeface="Trebuchet MS" panose="020B0603020202020204"/>
              </a:rPr>
              <a:t> </a:t>
            </a:r>
            <a:r>
              <a:rPr sz="3250" dirty="0">
                <a:solidFill>
                  <a:srgbClr val="111111"/>
                </a:solidFill>
                <a:latin typeface="Trebuchet MS" panose="020B0603020202020204"/>
                <a:cs typeface="Trebuchet MS" panose="020B0603020202020204"/>
              </a:rPr>
              <a:t>Decoupled</a:t>
            </a:r>
            <a:r>
              <a:rPr sz="3250" spc="-75" dirty="0">
                <a:solidFill>
                  <a:srgbClr val="111111"/>
                </a:solidFill>
                <a:latin typeface="Trebuchet MS" panose="020B0603020202020204"/>
                <a:cs typeface="Trebuchet MS" panose="020B0603020202020204"/>
              </a:rPr>
              <a:t> </a:t>
            </a:r>
            <a:r>
              <a:rPr sz="3250" dirty="0">
                <a:solidFill>
                  <a:srgbClr val="0F0F0F"/>
                </a:solidFill>
                <a:latin typeface="Trebuchet MS" panose="020B0603020202020204"/>
                <a:cs typeface="Trebuchet MS" panose="020B0603020202020204"/>
              </a:rPr>
              <a:t>Front-</a:t>
            </a:r>
            <a:r>
              <a:rPr sz="3250" spc="-25" dirty="0">
                <a:solidFill>
                  <a:srgbClr val="0F0F0F"/>
                </a:solidFill>
                <a:latin typeface="Trebuchet MS" panose="020B0603020202020204"/>
                <a:cs typeface="Trebuchet MS" panose="020B0603020202020204"/>
              </a:rPr>
              <a:t>End</a:t>
            </a:r>
            <a:endParaRPr sz="3250">
              <a:latin typeface="Trebuchet MS" panose="020B0603020202020204"/>
              <a:cs typeface="Trebuchet MS" panose="020B0603020202020204"/>
            </a:endParaRPr>
          </a:p>
        </p:txBody>
      </p:sp>
      <p:sp>
        <p:nvSpPr>
          <p:cNvPr id="8" name="object 8"/>
          <p:cNvSpPr txBox="1"/>
          <p:nvPr/>
        </p:nvSpPr>
        <p:spPr>
          <a:xfrm>
            <a:off x="13253834" y="2373136"/>
            <a:ext cx="2979420" cy="523240"/>
          </a:xfrm>
          <a:prstGeom prst="rect">
            <a:avLst/>
          </a:prstGeom>
        </p:spPr>
        <p:txBody>
          <a:bodyPr vert="horz" wrap="square" lIns="0" tIns="13970" rIns="0" bIns="0" rtlCol="0">
            <a:spAutoFit/>
          </a:bodyPr>
          <a:lstStyle/>
          <a:p>
            <a:pPr marL="12700">
              <a:lnSpc>
                <a:spcPct val="100000"/>
              </a:lnSpc>
              <a:spcBef>
                <a:spcPts val="110"/>
              </a:spcBef>
            </a:pPr>
            <a:r>
              <a:rPr sz="3250" dirty="0">
                <a:solidFill>
                  <a:srgbClr val="151515"/>
                </a:solidFill>
                <a:latin typeface="Trebuchet MS" panose="020B0603020202020204"/>
                <a:cs typeface="Trebuchet MS" panose="020B0603020202020204"/>
              </a:rPr>
              <a:t>Key</a:t>
            </a:r>
            <a:r>
              <a:rPr sz="3250" spc="-225" dirty="0">
                <a:solidFill>
                  <a:srgbClr val="151515"/>
                </a:solidFill>
                <a:latin typeface="Trebuchet MS" panose="020B0603020202020204"/>
                <a:cs typeface="Trebuchet MS" panose="020B0603020202020204"/>
              </a:rPr>
              <a:t> </a:t>
            </a:r>
            <a:r>
              <a:rPr sz="3250" spc="50" dirty="0">
                <a:solidFill>
                  <a:srgbClr val="111111"/>
                </a:solidFill>
                <a:latin typeface="Trebuchet MS" panose="020B0603020202020204"/>
                <a:cs typeface="Trebuchet MS" panose="020B0603020202020204"/>
              </a:rPr>
              <a:t>Advantages</a:t>
            </a:r>
            <a:endParaRPr sz="3250">
              <a:latin typeface="Trebuchet MS" panose="020B0603020202020204"/>
              <a:cs typeface="Trebuchet MS" panose="020B0603020202020204"/>
            </a:endParaRPr>
          </a:p>
        </p:txBody>
      </p:sp>
      <p:sp>
        <p:nvSpPr>
          <p:cNvPr id="9" name="object 9"/>
          <p:cNvSpPr txBox="1"/>
          <p:nvPr/>
        </p:nvSpPr>
        <p:spPr>
          <a:xfrm>
            <a:off x="4394200" y="4858385"/>
            <a:ext cx="3552190" cy="3206115"/>
          </a:xfrm>
          <a:prstGeom prst="rect">
            <a:avLst/>
          </a:prstGeom>
        </p:spPr>
        <p:txBody>
          <a:bodyPr vert="horz" wrap="square" lIns="0" tIns="53975" rIns="0" bIns="0" rtlCol="0">
            <a:spAutoFit/>
          </a:bodyPr>
          <a:lstStyle/>
          <a:p>
            <a:pPr marL="12700" marR="5080" indent="1270">
              <a:lnSpc>
                <a:spcPts val="3150"/>
              </a:lnSpc>
              <a:spcBef>
                <a:spcPts val="425"/>
              </a:spcBef>
            </a:pPr>
            <a:r>
              <a:rPr kumimoji="0" lang="en-US" altLang="zh-CN" sz="2900" b="0" i="0" u="none" strike="noStrike" kern="0" cap="none" spc="0" normalizeH="0" baseline="0" noProof="1">
                <a:solidFill>
                  <a:schemeClr val="tx1"/>
                </a:solidFill>
                <a:latin typeface="Times New Roman" panose="02020603050405020304" charset="0"/>
                <a:ea typeface="Arial" panose="020B0604020202020204" pitchFamily="34" charset="0"/>
                <a:cs typeface="Times New Roman" panose="02020603050405020304" charset="0"/>
              </a:rPr>
              <a:t>Backend (Axum on Port 8080)</a:t>
            </a:r>
            <a:endParaRPr kumimoji="0" lang="en-US" altLang="zh-CN" sz="2900" b="0" i="0" u="none" strike="noStrike" kern="0" cap="none" spc="0" normalizeH="0" baseline="0" noProof="1">
              <a:solidFill>
                <a:schemeClr val="tx1"/>
              </a:solidFill>
              <a:latin typeface="Times New Roman" panose="02020603050405020304" charset="0"/>
              <a:ea typeface="Arial" panose="020B0604020202020204" pitchFamily="34" charset="0"/>
              <a:cs typeface="Times New Roman" panose="02020603050405020304" charset="0"/>
            </a:endParaRPr>
          </a:p>
          <a:p>
            <a:pPr marL="19050" marR="534670" indent="8890">
              <a:lnSpc>
                <a:spcPct val="90000"/>
              </a:lnSpc>
              <a:spcBef>
                <a:spcPts val="1360"/>
              </a:spcBef>
            </a:pPr>
            <a:r>
              <a:rPr kumimoji="0" lang="en-US" altLang="zh-CN" sz="2900" b="0" i="0" u="none" strike="noStrike" kern="0" cap="none" spc="0" normalizeH="0" baseline="0" noProof="1">
                <a:solidFill>
                  <a:schemeClr val="tx1"/>
                </a:solidFill>
                <a:latin typeface="Times New Roman" panose="02020603050405020304" charset="0"/>
                <a:ea typeface="Arial" panose="020B0604020202020204" pitchFamily="34" charset="0"/>
                <a:cs typeface="Times New Roman" panose="02020603050405020304" charset="0"/>
              </a:rPr>
              <a:t>A minimal Rust server responsible only for serving the static index.html,</a:t>
            </a:r>
            <a:endParaRPr kumimoji="0" lang="en-US" altLang="zh-CN" sz="2900" b="0" i="0" u="none" strike="noStrike" kern="0" cap="none" spc="0" normalizeH="0" baseline="0" noProof="1">
              <a:solidFill>
                <a:schemeClr val="tx1"/>
              </a:solidFill>
              <a:latin typeface="Times New Roman" panose="02020603050405020304" charset="0"/>
              <a:ea typeface="Arial" panose="020B0604020202020204" pitchFamily="34" charset="0"/>
              <a:cs typeface="Times New Roman" panose="02020603050405020304" charset="0"/>
            </a:endParaRPr>
          </a:p>
          <a:p>
            <a:pPr marL="20320">
              <a:lnSpc>
                <a:spcPts val="2200"/>
              </a:lnSpc>
              <a:tabLst>
                <a:tab pos="1174115" algn="l"/>
              </a:tabLst>
            </a:pPr>
            <a:r>
              <a:rPr kumimoji="0" lang="en-US" altLang="zh-CN" sz="2900" b="0" i="0" u="none" strike="noStrike" kern="0" cap="none" spc="0" normalizeH="0" baseline="0" noProof="1">
                <a:solidFill>
                  <a:schemeClr val="tx1"/>
                </a:solidFill>
                <a:latin typeface="Times New Roman" panose="02020603050405020304" charset="0"/>
                <a:ea typeface="Arial" panose="020B0604020202020204" pitchFamily="34" charset="0"/>
                <a:cs typeface="Times New Roman" panose="02020603050405020304" charset="0"/>
              </a:rPr>
              <a:t>JavaScript	and CSS files.</a:t>
            </a:r>
            <a:endParaRPr kumimoji="0" lang="en-US" altLang="zh-CN" sz="2900" b="0" i="0" u="none" strike="noStrike" kern="0" cap="none" spc="0" normalizeH="0" baseline="0" noProof="1">
              <a:solidFill>
                <a:schemeClr val="tx1"/>
              </a:solidFill>
              <a:latin typeface="Times New Roman" panose="02020603050405020304" charset="0"/>
              <a:ea typeface="Arial" panose="020B0604020202020204" pitchFamily="34" charset="0"/>
              <a:cs typeface="Times New Roman" panose="02020603050405020304" charset="0"/>
            </a:endParaRPr>
          </a:p>
        </p:txBody>
      </p:sp>
      <p:sp>
        <p:nvSpPr>
          <p:cNvPr id="10" name="object 10"/>
          <p:cNvSpPr txBox="1"/>
          <p:nvPr/>
        </p:nvSpPr>
        <p:spPr>
          <a:xfrm>
            <a:off x="9652851" y="4884561"/>
            <a:ext cx="2773045" cy="427990"/>
          </a:xfrm>
          <a:prstGeom prst="rect">
            <a:avLst/>
          </a:prstGeom>
        </p:spPr>
        <p:txBody>
          <a:bodyPr vert="horz" wrap="square" lIns="0" tIns="17145" rIns="0" bIns="0" rtlCol="0">
            <a:spAutoFit/>
          </a:bodyPr>
          <a:lstStyle/>
          <a:p>
            <a:pPr marL="12700">
              <a:lnSpc>
                <a:spcPct val="100000"/>
              </a:lnSpc>
              <a:spcBef>
                <a:spcPts val="135"/>
              </a:spcBef>
            </a:pPr>
            <a:r>
              <a:rPr sz="2600" spc="-50" dirty="0">
                <a:solidFill>
                  <a:srgbClr val="0C0C0C"/>
                </a:solidFill>
                <a:latin typeface="Trebuchet MS" panose="020B0603020202020204"/>
                <a:cs typeface="Trebuchet MS" panose="020B0603020202020204"/>
              </a:rPr>
              <a:t>Frontend</a:t>
            </a:r>
            <a:r>
              <a:rPr sz="2600" spc="-130" dirty="0">
                <a:solidFill>
                  <a:srgbClr val="0C0C0C"/>
                </a:solidFill>
                <a:latin typeface="Trebuchet MS" panose="020B0603020202020204"/>
                <a:cs typeface="Trebuchet MS" panose="020B0603020202020204"/>
              </a:rPr>
              <a:t> </a:t>
            </a:r>
            <a:r>
              <a:rPr sz="2600" spc="-40" dirty="0">
                <a:solidFill>
                  <a:srgbClr val="080808"/>
                </a:solidFill>
                <a:latin typeface="Trebuchet MS" panose="020B0603020202020204"/>
                <a:cs typeface="Trebuchet MS" panose="020B0603020202020204"/>
              </a:rPr>
              <a:t>(Browser)</a:t>
            </a:r>
            <a:endParaRPr sz="2600">
              <a:latin typeface="Trebuchet MS" panose="020B0603020202020204"/>
              <a:cs typeface="Trebuchet MS" panose="020B0603020202020204"/>
            </a:endParaRPr>
          </a:p>
        </p:txBody>
      </p:sp>
      <p:sp>
        <p:nvSpPr>
          <p:cNvPr id="11" name="object 11"/>
          <p:cNvSpPr txBox="1"/>
          <p:nvPr/>
        </p:nvSpPr>
        <p:spPr>
          <a:xfrm>
            <a:off x="9575800" y="5486400"/>
            <a:ext cx="3338830" cy="2431415"/>
          </a:xfrm>
          <a:prstGeom prst="rect">
            <a:avLst/>
          </a:prstGeom>
        </p:spPr>
        <p:txBody>
          <a:bodyPr vert="horz" wrap="square" lIns="0" tIns="39369" rIns="0" bIns="0" rtlCol="0">
            <a:spAutoFit/>
          </a:bodyPr>
          <a:lstStyle/>
          <a:p>
            <a:pPr marL="12700" marR="5080" indent="9525">
              <a:lnSpc>
                <a:spcPct val="91000"/>
              </a:lnSpc>
              <a:spcBef>
                <a:spcPts val="310"/>
              </a:spcBef>
            </a:pPr>
            <a:r>
              <a:rPr kumimoji="0" lang="en-US" altLang="zh-CN" sz="2400" b="0" i="0" u="none" strike="noStrike" kern="0" cap="none" spc="0" normalizeH="0" baseline="0" noProof="1">
                <a:solidFill>
                  <a:schemeClr val="tx1"/>
                </a:solidFill>
                <a:latin typeface="Times New Roman" panose="02020603050405020304" charset="0"/>
                <a:ea typeface="Arial" panose="020B0604020202020204" pitchFamily="34" charset="0"/>
                <a:cs typeface="Times New Roman" panose="02020603050405020304" charset="0"/>
              </a:rPr>
              <a:t>A single-page application built with vanilla JavaScript and the Leaflet.js library.</a:t>
            </a:r>
            <a:endParaRPr kumimoji="0" lang="en-US" altLang="zh-CN" sz="2400" b="0" i="0" u="none" strike="noStrike" kern="0" cap="none" spc="0" normalizeH="0" baseline="0" noProof="1">
              <a:solidFill>
                <a:schemeClr val="tx1"/>
              </a:solidFill>
              <a:latin typeface="Times New Roman" panose="02020603050405020304" charset="0"/>
              <a:ea typeface="Arial" panose="020B0604020202020204" pitchFamily="34" charset="0"/>
              <a:cs typeface="Times New Roman" panose="02020603050405020304" charset="0"/>
            </a:endParaRPr>
          </a:p>
          <a:p>
            <a:pPr marL="22225">
              <a:lnSpc>
                <a:spcPts val="2045"/>
              </a:lnSpc>
            </a:pPr>
            <a:r>
              <a:rPr kumimoji="0" lang="en-US" altLang="zh-CN" sz="2400" b="0" i="0" u="none" strike="noStrike" kern="0" cap="none" spc="0" normalizeH="0" baseline="0" noProof="1">
                <a:solidFill>
                  <a:schemeClr val="tx1"/>
                </a:solidFill>
                <a:latin typeface="Times New Roman" panose="02020603050405020304" charset="0"/>
                <a:ea typeface="Arial" panose="020B0604020202020204" pitchFamily="34" charset="0"/>
                <a:cs typeface="Times New Roman" panose="02020603050405020304" charset="0"/>
              </a:rPr>
              <a:t>All logic for rendering, state management. and user interaction runs client- side.</a:t>
            </a:r>
            <a:endParaRPr kumimoji="0" lang="en-US" altLang="zh-CN" sz="2400" b="0" i="0" u="none" strike="noStrike" kern="0" cap="none" spc="0" normalizeH="0" baseline="0" noProof="1">
              <a:solidFill>
                <a:schemeClr val="tx1"/>
              </a:solidFill>
              <a:latin typeface="Times New Roman" panose="02020603050405020304" charset="0"/>
              <a:ea typeface="Arial" panose="020B0604020202020204" pitchFamily="34" charset="0"/>
              <a:cs typeface="Times New Roman" panose="02020603050405020304" charset="0"/>
            </a:endParaRPr>
          </a:p>
        </p:txBody>
      </p:sp>
      <p:sp>
        <p:nvSpPr>
          <p:cNvPr id="12" name="object 12"/>
          <p:cNvSpPr txBox="1"/>
          <p:nvPr/>
        </p:nvSpPr>
        <p:spPr>
          <a:xfrm>
            <a:off x="13381990" y="3236595"/>
            <a:ext cx="3658870" cy="4476750"/>
          </a:xfrm>
          <a:prstGeom prst="rect">
            <a:avLst/>
          </a:prstGeom>
        </p:spPr>
        <p:txBody>
          <a:bodyPr vert="horz" wrap="square" lIns="0" tIns="19050" rIns="0" bIns="0" rtlCol="0">
            <a:spAutoFit/>
          </a:bodyPr>
          <a:lstStyle/>
          <a:p>
            <a:pPr marL="318135" marR="5080" indent="-306070">
              <a:lnSpc>
                <a:spcPct val="106000"/>
              </a:lnSpc>
              <a:spcBef>
                <a:spcPts val="150"/>
              </a:spcBef>
              <a:buChar char="•"/>
              <a:tabLst>
                <a:tab pos="318135" algn="l"/>
                <a:tab pos="319405" algn="l"/>
              </a:tabLst>
            </a:pPr>
            <a:r>
              <a:rPr kumimoji="0" lang="en-US" altLang="zh-CN" sz="2400" b="0" i="0" u="none" strike="noStrike" kern="0" cap="none" spc="0" normalizeH="0" baseline="0" noProof="1">
                <a:solidFill>
                  <a:schemeClr val="tx1"/>
                </a:solidFill>
                <a:latin typeface="Times New Roman" panose="02020603050405020304" charset="0"/>
                <a:ea typeface="Arial" panose="020B0604020202020204" pitchFamily="34" charset="0"/>
                <a:cs typeface="Times New Roman" panose="02020603050405020304" charset="0"/>
              </a:rPr>
              <a:t>	Separation of Concerns: Frontend and backend development are fully independent.</a:t>
            </a:r>
            <a:endParaRPr kumimoji="0" lang="en-US" altLang="zh-CN" sz="2400" b="0" i="0" u="none" strike="noStrike" kern="0" cap="none" spc="0" normalizeH="0" baseline="0" noProof="1">
              <a:solidFill>
                <a:schemeClr val="tx1"/>
              </a:solidFill>
              <a:latin typeface="Times New Roman" panose="02020603050405020304" charset="0"/>
              <a:ea typeface="Arial" panose="020B0604020202020204" pitchFamily="34" charset="0"/>
              <a:cs typeface="Times New Roman" panose="02020603050405020304" charset="0"/>
            </a:endParaRPr>
          </a:p>
          <a:p>
            <a:pPr marL="322580" marR="242570" indent="-309880">
              <a:lnSpc>
                <a:spcPct val="107000"/>
              </a:lnSpc>
              <a:spcBef>
                <a:spcPts val="850"/>
              </a:spcBef>
              <a:buChar char="•"/>
              <a:tabLst>
                <a:tab pos="322580" algn="l"/>
                <a:tab pos="324485" algn="l"/>
              </a:tabLst>
            </a:pPr>
            <a:r>
              <a:rPr kumimoji="0" lang="en-US" altLang="zh-CN" sz="2400" b="0" i="0" u="none" strike="noStrike" kern="0" cap="none" spc="0" normalizeH="0" baseline="0" noProof="1">
                <a:solidFill>
                  <a:schemeClr val="tx1"/>
                </a:solidFill>
                <a:latin typeface="Times New Roman" panose="02020603050405020304" charset="0"/>
                <a:ea typeface="Arial" panose="020B0604020202020204" pitchFamily="34" charset="0"/>
                <a:cs typeface="Times New Roman" panose="02020603050405020304" charset="0"/>
              </a:rPr>
              <a:t>	Leverages Browser Power: Utilizes the browser's highly optimized</a:t>
            </a:r>
            <a:endParaRPr kumimoji="0" lang="en-US" altLang="zh-CN" sz="2400" b="0" i="0" u="none" strike="noStrike" kern="0" cap="none" spc="0" normalizeH="0" baseline="0" noProof="1">
              <a:solidFill>
                <a:schemeClr val="tx1"/>
              </a:solidFill>
              <a:latin typeface="Times New Roman" panose="02020603050405020304" charset="0"/>
              <a:ea typeface="Arial" panose="020B0604020202020204" pitchFamily="34" charset="0"/>
              <a:cs typeface="Times New Roman" panose="02020603050405020304" charset="0"/>
            </a:endParaRPr>
          </a:p>
          <a:p>
            <a:pPr marL="321945" marR="184150" indent="2540">
              <a:lnSpc>
                <a:spcPts val="3100"/>
              </a:lnSpc>
              <a:spcBef>
                <a:spcPts val="90"/>
              </a:spcBef>
            </a:pPr>
            <a:r>
              <a:rPr kumimoji="0" lang="en-US" altLang="zh-CN" sz="2400" b="0" i="0" u="none" strike="noStrike" kern="0" cap="none" spc="0" normalizeH="0" baseline="0" noProof="1">
                <a:solidFill>
                  <a:schemeClr val="tx1"/>
                </a:solidFill>
                <a:latin typeface="Times New Roman" panose="02020603050405020304" charset="0"/>
                <a:ea typeface="Arial" panose="020B0604020202020204" pitchFamily="34" charset="0"/>
                <a:cs typeface="Times New Roman" panose="02020603050405020304" charset="0"/>
              </a:rPr>
              <a:t>rendering engine for smooth map animations and UI updates.</a:t>
            </a:r>
            <a:endParaRPr kumimoji="0" lang="en-US" altLang="zh-CN" sz="2400" b="0" i="0" u="none" strike="noStrike" kern="0" cap="none" spc="0" normalizeH="0" baseline="0" noProof="1">
              <a:solidFill>
                <a:schemeClr val="tx1"/>
              </a:solidFill>
              <a:latin typeface="Times New Roman" panose="02020603050405020304" charset="0"/>
              <a:ea typeface="Arial" panose="020B0604020202020204" pitchFamily="34" charset="0"/>
              <a:cs typeface="Times New Roman" panose="02020603050405020304"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1" cstate="print"/>
          <a:stretch>
            <a:fillRect/>
          </a:stretch>
        </p:blipFill>
        <p:spPr>
          <a:xfrm>
            <a:off x="647700" y="2336800"/>
            <a:ext cx="16179800" cy="3581400"/>
          </a:xfrm>
          <a:prstGeom prst="rect">
            <a:avLst/>
          </a:prstGeom>
        </p:spPr>
      </p:pic>
      <p:sp>
        <p:nvSpPr>
          <p:cNvPr id="3" name="object 3"/>
          <p:cNvSpPr txBox="1">
            <a:spLocks noGrp="1"/>
          </p:cNvSpPr>
          <p:nvPr>
            <p:ph type="title"/>
          </p:nvPr>
        </p:nvSpPr>
        <p:spPr>
          <a:xfrm>
            <a:off x="648580" y="613127"/>
            <a:ext cx="13413105" cy="745490"/>
          </a:xfrm>
          <a:prstGeom prst="rect">
            <a:avLst/>
          </a:prstGeom>
        </p:spPr>
        <p:txBody>
          <a:bodyPr vert="horz" wrap="square" lIns="0" tIns="15240" rIns="0" bIns="0" rtlCol="0">
            <a:spAutoFit/>
          </a:bodyPr>
          <a:lstStyle/>
          <a:p>
            <a:pPr marL="12700">
              <a:lnSpc>
                <a:spcPct val="100000"/>
              </a:lnSpc>
              <a:spcBef>
                <a:spcPts val="120"/>
              </a:spcBef>
            </a:pPr>
            <a:r>
              <a:rPr sz="4700" spc="130" dirty="0">
                <a:solidFill>
                  <a:srgbClr val="232323"/>
                </a:solidFill>
              </a:rPr>
              <a:t>Achieving</a:t>
            </a:r>
            <a:r>
              <a:rPr sz="4700" spc="120" dirty="0">
                <a:solidFill>
                  <a:srgbClr val="232323"/>
                </a:solidFill>
              </a:rPr>
              <a:t> </a:t>
            </a:r>
            <a:r>
              <a:rPr sz="4700" dirty="0">
                <a:solidFill>
                  <a:srgbClr val="262626"/>
                </a:solidFill>
              </a:rPr>
              <a:t>‘Real-Time’</a:t>
            </a:r>
            <a:r>
              <a:rPr sz="4700" spc="265" dirty="0">
                <a:solidFill>
                  <a:srgbClr val="262626"/>
                </a:solidFill>
              </a:rPr>
              <a:t> </a:t>
            </a:r>
            <a:r>
              <a:rPr sz="4700" spc="330" dirty="0">
                <a:solidFill>
                  <a:srgbClr val="262626"/>
                </a:solidFill>
              </a:rPr>
              <a:t>with</a:t>
            </a:r>
            <a:r>
              <a:rPr sz="4700" spc="-300" dirty="0">
                <a:solidFill>
                  <a:srgbClr val="262626"/>
                </a:solidFill>
              </a:rPr>
              <a:t> </a:t>
            </a:r>
            <a:r>
              <a:rPr sz="4700" spc="105" dirty="0">
                <a:solidFill>
                  <a:srgbClr val="262626"/>
                </a:solidFill>
              </a:rPr>
              <a:t>Data-Driven</a:t>
            </a:r>
            <a:r>
              <a:rPr sz="4700" spc="65" dirty="0">
                <a:solidFill>
                  <a:srgbClr val="262626"/>
                </a:solidFill>
              </a:rPr>
              <a:t> </a:t>
            </a:r>
            <a:r>
              <a:rPr sz="4700" spc="90" dirty="0">
                <a:solidFill>
                  <a:srgbClr val="262626"/>
                </a:solidFill>
              </a:rPr>
              <a:t>Updates</a:t>
            </a:r>
            <a:endParaRPr sz="4700"/>
          </a:p>
        </p:txBody>
      </p:sp>
      <p:sp>
        <p:nvSpPr>
          <p:cNvPr id="13" name="object 13"/>
          <p:cNvSpPr txBox="1">
            <a:spLocks noGrp="1"/>
          </p:cNvSpPr>
          <p:nvPr>
            <p:ph type="ftr" sz="quarter" idx="5"/>
          </p:nvPr>
        </p:nvSpPr>
        <p:spPr>
          <a:prstGeom prst="rect">
            <a:avLst/>
          </a:prstGeom>
        </p:spPr>
        <p:txBody>
          <a:bodyPr vert="horz" wrap="square" lIns="0" tIns="0" rIns="0" bIns="0" rtlCol="0">
            <a:spAutoFit/>
          </a:bodyPr>
          <a:lstStyle/>
          <a:p>
            <a:pPr marL="12700">
              <a:lnSpc>
                <a:spcPts val="1555"/>
              </a:lnSpc>
            </a:pPr>
            <a:r>
              <a:rPr dirty="0"/>
              <a:t>G</a:t>
            </a:r>
            <a:r>
              <a:rPr spc="490" dirty="0"/>
              <a:t> </a:t>
            </a:r>
            <a:r>
              <a:rPr spc="-10" dirty="0"/>
              <a:t>NotebookLM</a:t>
            </a:r>
            <a:endParaRPr spc="-10" dirty="0"/>
          </a:p>
        </p:txBody>
      </p:sp>
      <p:sp>
        <p:nvSpPr>
          <p:cNvPr id="4" name="object 4"/>
          <p:cNvSpPr txBox="1"/>
          <p:nvPr/>
        </p:nvSpPr>
        <p:spPr>
          <a:xfrm>
            <a:off x="1478648" y="3643488"/>
            <a:ext cx="2171700" cy="385445"/>
          </a:xfrm>
          <a:prstGeom prst="rect">
            <a:avLst/>
          </a:prstGeom>
        </p:spPr>
        <p:txBody>
          <a:bodyPr vert="horz" wrap="square" lIns="0" tIns="13970" rIns="0" bIns="0" rtlCol="0">
            <a:spAutoFit/>
          </a:bodyPr>
          <a:lstStyle/>
          <a:p>
            <a:pPr marL="12700">
              <a:lnSpc>
                <a:spcPct val="100000"/>
              </a:lnSpc>
              <a:spcBef>
                <a:spcPts val="110"/>
              </a:spcBef>
            </a:pPr>
            <a:r>
              <a:rPr sz="2350" spc="-165" dirty="0">
                <a:latin typeface="Arial MT"/>
                <a:cs typeface="Arial MT"/>
              </a:rPr>
              <a:t>1. </a:t>
            </a:r>
            <a:r>
              <a:rPr sz="2350" spc="55" dirty="0">
                <a:latin typeface="Arial MT"/>
                <a:cs typeface="Arial MT"/>
              </a:rPr>
              <a:t>Client</a:t>
            </a:r>
            <a:r>
              <a:rPr sz="2350" spc="40" dirty="0">
                <a:latin typeface="Arial MT"/>
                <a:cs typeface="Arial MT"/>
              </a:rPr>
              <a:t> </a:t>
            </a:r>
            <a:r>
              <a:rPr sz="2350" spc="-10" dirty="0">
                <a:latin typeface="Arial MT"/>
                <a:cs typeface="Arial MT"/>
              </a:rPr>
              <a:t>(Timer)</a:t>
            </a:r>
            <a:endParaRPr sz="2350">
              <a:latin typeface="Arial MT"/>
              <a:cs typeface="Arial MT"/>
            </a:endParaRPr>
          </a:p>
        </p:txBody>
      </p:sp>
      <p:sp>
        <p:nvSpPr>
          <p:cNvPr id="5" name="object 5"/>
          <p:cNvSpPr txBox="1"/>
          <p:nvPr/>
        </p:nvSpPr>
        <p:spPr>
          <a:xfrm>
            <a:off x="1723410" y="4295422"/>
            <a:ext cx="2553335" cy="258445"/>
          </a:xfrm>
          <a:prstGeom prst="rect">
            <a:avLst/>
          </a:prstGeom>
        </p:spPr>
        <p:txBody>
          <a:bodyPr vert="horz" wrap="square" lIns="0" tIns="15875" rIns="0" bIns="0" rtlCol="0">
            <a:spAutoFit/>
          </a:bodyPr>
          <a:lstStyle/>
          <a:p>
            <a:pPr marL="12700">
              <a:lnSpc>
                <a:spcPct val="100000"/>
              </a:lnSpc>
              <a:spcBef>
                <a:spcPts val="125"/>
              </a:spcBef>
            </a:pPr>
            <a:r>
              <a:rPr sz="1500" spc="-430" dirty="0">
                <a:solidFill>
                  <a:srgbClr val="6E7C83"/>
                </a:solidFill>
                <a:latin typeface="Arial MT"/>
                <a:cs typeface="Arial MT"/>
              </a:rPr>
              <a:t>z</a:t>
            </a:r>
            <a:r>
              <a:rPr sz="1500" spc="-45" dirty="0">
                <a:solidFill>
                  <a:srgbClr val="6E7C83"/>
                </a:solidFill>
                <a:latin typeface="Arial MT"/>
                <a:cs typeface="Arial MT"/>
              </a:rPr>
              <a:t> </a:t>
            </a:r>
            <a:r>
              <a:rPr sz="1500" spc="100" dirty="0">
                <a:solidFill>
                  <a:srgbClr val="838383"/>
                </a:solidFill>
                <a:latin typeface="Arial MT"/>
                <a:cs typeface="Arial MT"/>
              </a:rPr>
              <a:t>I</a:t>
            </a:r>
            <a:r>
              <a:rPr sz="1500" spc="100" dirty="0">
                <a:solidFill>
                  <a:srgbClr val="212121"/>
                </a:solidFill>
                <a:latin typeface="Arial MT"/>
                <a:cs typeface="Arial MT"/>
              </a:rPr>
              <a:t>(Ie</a:t>
            </a:r>
            <a:r>
              <a:rPr sz="1500" spc="-65" dirty="0">
                <a:solidFill>
                  <a:srgbClr val="212121"/>
                </a:solidFill>
                <a:latin typeface="Arial MT"/>
                <a:cs typeface="Arial MT"/>
              </a:rPr>
              <a:t> </a:t>
            </a:r>
            <a:r>
              <a:rPr sz="1500" spc="-80" dirty="0">
                <a:solidFill>
                  <a:srgbClr val="2B2B2B"/>
                </a:solidFill>
                <a:latin typeface="Arial MT"/>
                <a:cs typeface="Arial MT"/>
              </a:rPr>
              <a:t>tchDrone</a:t>
            </a:r>
            <a:r>
              <a:rPr sz="1500" spc="-229" dirty="0">
                <a:solidFill>
                  <a:srgbClr val="2B2B2B"/>
                </a:solidFill>
                <a:latin typeface="Arial MT"/>
                <a:cs typeface="Arial MT"/>
              </a:rPr>
              <a:t> </a:t>
            </a:r>
            <a:r>
              <a:rPr sz="1500" spc="-50" dirty="0">
                <a:solidFill>
                  <a:srgbClr val="3D3D3D"/>
                </a:solidFill>
                <a:latin typeface="Arial MT"/>
                <a:cs typeface="Arial MT"/>
              </a:rPr>
              <a:t>S</a:t>
            </a:r>
            <a:r>
              <a:rPr sz="1500" spc="-50" dirty="0">
                <a:solidFill>
                  <a:srgbClr val="262626"/>
                </a:solidFill>
                <a:latin typeface="Arial MT"/>
                <a:cs typeface="Arial MT"/>
              </a:rPr>
              <a:t>tatuses</a:t>
            </a:r>
            <a:r>
              <a:rPr sz="1500" spc="-80" dirty="0">
                <a:solidFill>
                  <a:srgbClr val="262626"/>
                </a:solidFill>
                <a:latin typeface="Arial MT"/>
                <a:cs typeface="Arial MT"/>
              </a:rPr>
              <a:t> </a:t>
            </a:r>
            <a:r>
              <a:rPr sz="1500" dirty="0">
                <a:solidFill>
                  <a:srgbClr val="2F2F2F"/>
                </a:solidFill>
                <a:latin typeface="Arial MT"/>
                <a:cs typeface="Arial MT"/>
              </a:rPr>
              <a:t>,</a:t>
            </a:r>
            <a:r>
              <a:rPr sz="1500" spc="470" dirty="0">
                <a:solidFill>
                  <a:srgbClr val="2F2F2F"/>
                </a:solidFill>
                <a:latin typeface="Arial MT"/>
                <a:cs typeface="Arial MT"/>
              </a:rPr>
              <a:t> </a:t>
            </a:r>
            <a:r>
              <a:rPr sz="1500" spc="-50" dirty="0">
                <a:solidFill>
                  <a:srgbClr val="3D3D3D"/>
                </a:solidFill>
                <a:latin typeface="Arial MT"/>
                <a:cs typeface="Arial MT"/>
              </a:rPr>
              <a:t>1000)</a:t>
            </a:r>
            <a:endParaRPr sz="1500">
              <a:latin typeface="Arial MT"/>
              <a:cs typeface="Arial MT"/>
            </a:endParaRPr>
          </a:p>
        </p:txBody>
      </p:sp>
      <p:sp>
        <p:nvSpPr>
          <p:cNvPr id="6" name="object 6"/>
          <p:cNvSpPr txBox="1"/>
          <p:nvPr/>
        </p:nvSpPr>
        <p:spPr>
          <a:xfrm>
            <a:off x="4605914" y="3432175"/>
            <a:ext cx="2056764" cy="568325"/>
          </a:xfrm>
          <a:prstGeom prst="rect">
            <a:avLst/>
          </a:prstGeom>
        </p:spPr>
        <p:txBody>
          <a:bodyPr vert="horz" wrap="square" lIns="0" tIns="42545" rIns="0" bIns="0" rtlCol="0">
            <a:spAutoFit/>
          </a:bodyPr>
          <a:lstStyle/>
          <a:p>
            <a:pPr marL="12700" marR="5080" indent="29845">
              <a:lnSpc>
                <a:spcPts val="2050"/>
              </a:lnSpc>
              <a:spcBef>
                <a:spcPts val="335"/>
              </a:spcBef>
            </a:pPr>
            <a:r>
              <a:rPr kumimoji="0" lang="en-US" altLang="zh-CN" sz="1800" b="0" i="0" u="none" strike="noStrike" kern="0" cap="none" spc="0" normalizeH="0" baseline="0" noProof="1">
                <a:solidFill>
                  <a:schemeClr val="tx1"/>
                </a:solidFill>
                <a:latin typeface="Times New Roman" panose="02020603050405020304" charset="0"/>
                <a:ea typeface="Arial" panose="020B0604020202020204" pitchFamily="34" charset="0"/>
                <a:cs typeface="Times New Roman" panose="02020603050405020304" charset="0"/>
              </a:rPr>
              <a:t>Async 'fetch' request to 'GET /api/statuses</a:t>
            </a:r>
            <a:endParaRPr kumimoji="0" lang="en-US" altLang="zh-CN" sz="1800" b="0" i="0" u="none" strike="noStrike" kern="0" cap="none" spc="0" normalizeH="0" baseline="0" noProof="1">
              <a:solidFill>
                <a:schemeClr val="tx1"/>
              </a:solidFill>
              <a:latin typeface="Times New Roman" panose="02020603050405020304" charset="0"/>
              <a:ea typeface="Arial" panose="020B0604020202020204" pitchFamily="34" charset="0"/>
              <a:cs typeface="Times New Roman" panose="02020603050405020304" charset="0"/>
            </a:endParaRPr>
          </a:p>
        </p:txBody>
      </p:sp>
      <p:sp>
        <p:nvSpPr>
          <p:cNvPr id="7" name="object 7"/>
          <p:cNvSpPr txBox="1"/>
          <p:nvPr/>
        </p:nvSpPr>
        <p:spPr>
          <a:xfrm>
            <a:off x="624119" y="6231029"/>
            <a:ext cx="15332075" cy="3209925"/>
          </a:xfrm>
          <a:prstGeom prst="rect">
            <a:avLst/>
          </a:prstGeom>
        </p:spPr>
        <p:txBody>
          <a:bodyPr vert="horz" wrap="square" lIns="0" tIns="188595" rIns="0" bIns="0" rtlCol="0">
            <a:spAutoFit/>
          </a:bodyPr>
          <a:lstStyle/>
          <a:p>
            <a:pPr marL="12700">
              <a:lnSpc>
                <a:spcPct val="100000"/>
              </a:lnSpc>
              <a:spcBef>
                <a:spcPts val="1485"/>
              </a:spcBef>
            </a:pPr>
            <a:r>
              <a:rPr sz="3600" spc="50" dirty="0">
                <a:latin typeface="Arial MT"/>
                <a:cs typeface="Arial MT"/>
              </a:rPr>
              <a:t>Enhancing</a:t>
            </a:r>
            <a:r>
              <a:rPr sz="3600" spc="-45" dirty="0">
                <a:latin typeface="Arial MT"/>
                <a:cs typeface="Arial MT"/>
              </a:rPr>
              <a:t> </a:t>
            </a:r>
            <a:r>
              <a:rPr sz="3600" spc="70" dirty="0">
                <a:solidFill>
                  <a:srgbClr val="0A0A0A"/>
                </a:solidFill>
                <a:latin typeface="Arial MT"/>
                <a:cs typeface="Arial MT"/>
              </a:rPr>
              <a:t>Smoothness</a:t>
            </a:r>
            <a:endParaRPr sz="3600">
              <a:latin typeface="Arial MT"/>
              <a:cs typeface="Arial MT"/>
            </a:endParaRPr>
          </a:p>
          <a:p>
            <a:pPr marL="491490" marR="5080" indent="-335915">
              <a:lnSpc>
                <a:spcPts val="3350"/>
              </a:lnSpc>
              <a:spcBef>
                <a:spcPts val="1350"/>
              </a:spcBef>
              <a:buClr>
                <a:srgbClr val="3880E9"/>
              </a:buClr>
              <a:buChar char="•"/>
              <a:tabLst>
                <a:tab pos="507365" algn="l"/>
              </a:tabLst>
            </a:pPr>
            <a:r>
              <a:rPr kumimoji="0" lang="en-US" altLang="zh-CN" sz="2900" b="1" i="0" u="none" strike="noStrike" kern="0" cap="none" spc="0" normalizeH="0" baseline="0" noProof="1">
                <a:solidFill>
                  <a:schemeClr val="tx1"/>
                </a:solidFill>
                <a:latin typeface="Times New Roman" panose="02020603050405020304" charset="0"/>
                <a:ea typeface="Arial" panose="020B0604020202020204" pitchFamily="34" charset="0"/>
                <a:cs typeface="Times New Roman" panose="02020603050405020304" charset="0"/>
              </a:rPr>
              <a:t>Backend Simulation:</a:t>
            </a:r>
            <a:r>
              <a:rPr kumimoji="0" lang="en-US" altLang="zh-CN" sz="2900" b="0" i="0" u="none" strike="noStrike" kern="0" cap="none" spc="0" normalizeH="0" baseline="0" noProof="1">
                <a:solidFill>
                  <a:schemeClr val="tx1"/>
                </a:solidFill>
                <a:latin typeface="Times New Roman" panose="02020603050405020304" charset="0"/>
                <a:ea typeface="Arial" panose="020B0604020202020204" pitchFamily="34" charset="0"/>
                <a:cs typeface="Times New Roman" panose="02020603050405020304" charset="0"/>
              </a:rPr>
              <a:t> The drone simulator uses linear interpolation to move drones in 50 small 	steps over 6 seconds.</a:t>
            </a:r>
            <a:endParaRPr sz="2900">
              <a:latin typeface="Arial MT"/>
              <a:cs typeface="Arial MT"/>
            </a:endParaRPr>
          </a:p>
          <a:p>
            <a:pPr marL="488315" marR="137795" indent="-332740">
              <a:lnSpc>
                <a:spcPts val="3300"/>
              </a:lnSpc>
              <a:spcBef>
                <a:spcPts val="1290"/>
              </a:spcBef>
              <a:buClr>
                <a:srgbClr val="3882EB"/>
              </a:buClr>
              <a:buChar char="•"/>
              <a:tabLst>
                <a:tab pos="494030" algn="l"/>
              </a:tabLst>
            </a:pPr>
            <a:r>
              <a:rPr kumimoji="0" lang="en-US" altLang="zh-CN" sz="2900" b="1" i="0" u="none" strike="noStrike" kern="0" cap="none" spc="0" normalizeH="0" baseline="0" noProof="1">
                <a:solidFill>
                  <a:schemeClr val="tx1"/>
                </a:solidFill>
                <a:latin typeface="Times New Roman" panose="02020603050405020304" charset="0"/>
                <a:ea typeface="Arial" panose="020B0604020202020204" pitchFamily="34" charset="0"/>
                <a:cs typeface="Times New Roman" panose="02020603050405020304" charset="0"/>
              </a:rPr>
              <a:t>Frontend Perception:</a:t>
            </a:r>
            <a:r>
              <a:rPr kumimoji="0" lang="en-US" altLang="zh-CN" sz="2900" b="0" i="0" u="none" strike="noStrike" kern="0" cap="none" spc="0" normalizeH="0" baseline="0" noProof="1">
                <a:solidFill>
                  <a:schemeClr val="tx1"/>
                </a:solidFill>
                <a:latin typeface="Times New Roman" panose="02020603050405020304" charset="0"/>
                <a:ea typeface="Arial" panose="020B0604020202020204" pitchFamily="34" charset="0"/>
                <a:cs typeface="Times New Roman" panose="02020603050405020304" charset="0"/>
              </a:rPr>
              <a:t> Even though the GUI refreshes only once per second, it receives a new 	position from this smooth path, and Leaflet's built-in animations make the marker transition 	appear fluid.</a:t>
            </a:r>
            <a:endParaRPr kumimoji="0" lang="en-US" altLang="zh-CN" sz="2900" b="0" i="0" u="none" strike="noStrike" kern="0" cap="none" spc="0" normalizeH="0" baseline="0" noProof="1">
              <a:solidFill>
                <a:schemeClr val="tx1"/>
              </a:solidFill>
              <a:latin typeface="Times New Roman" panose="02020603050405020304" charset="0"/>
              <a:ea typeface="Arial" panose="020B0604020202020204" pitchFamily="34" charset="0"/>
              <a:cs typeface="Times New Roman" panose="02020603050405020304" charset="0"/>
            </a:endParaRPr>
          </a:p>
        </p:txBody>
      </p:sp>
      <p:sp>
        <p:nvSpPr>
          <p:cNvPr id="8" name="object 8"/>
          <p:cNvSpPr txBox="1"/>
          <p:nvPr/>
        </p:nvSpPr>
        <p:spPr>
          <a:xfrm>
            <a:off x="7197563" y="3456869"/>
            <a:ext cx="3100070" cy="2009775"/>
          </a:xfrm>
          <a:prstGeom prst="rect">
            <a:avLst/>
          </a:prstGeom>
        </p:spPr>
        <p:txBody>
          <a:bodyPr vert="horz" wrap="square" lIns="0" tIns="16510" rIns="0" bIns="0" rtlCol="0">
            <a:spAutoFit/>
          </a:bodyPr>
          <a:lstStyle/>
          <a:p>
            <a:pPr marL="167640">
              <a:lnSpc>
                <a:spcPts val="2715"/>
              </a:lnSpc>
              <a:spcBef>
                <a:spcPts val="130"/>
              </a:spcBef>
            </a:pPr>
            <a:r>
              <a:rPr sz="2400" spc="-30" dirty="0">
                <a:latin typeface="Arial MT"/>
                <a:cs typeface="Arial MT"/>
              </a:rPr>
              <a:t>3.</a:t>
            </a:r>
            <a:r>
              <a:rPr sz="2400" spc="-240" dirty="0">
                <a:latin typeface="Arial MT"/>
                <a:cs typeface="Arial MT"/>
              </a:rPr>
              <a:t> </a:t>
            </a:r>
            <a:r>
              <a:rPr sz="2400" dirty="0">
                <a:latin typeface="Arial MT"/>
                <a:cs typeface="Arial MT"/>
              </a:rPr>
              <a:t>Server</a:t>
            </a:r>
            <a:r>
              <a:rPr sz="2400" spc="-80" dirty="0">
                <a:latin typeface="Arial MT"/>
                <a:cs typeface="Arial MT"/>
              </a:rPr>
              <a:t> </a:t>
            </a:r>
            <a:r>
              <a:rPr sz="2400" spc="-10" dirty="0">
                <a:latin typeface="Arial MT"/>
                <a:cs typeface="Arial MT"/>
              </a:rPr>
              <a:t>(Command</a:t>
            </a:r>
            <a:endParaRPr sz="2400">
              <a:latin typeface="Arial MT"/>
              <a:cs typeface="Arial MT"/>
            </a:endParaRPr>
          </a:p>
          <a:p>
            <a:pPr marL="293370">
              <a:lnSpc>
                <a:spcPts val="2895"/>
              </a:lnSpc>
            </a:pPr>
            <a:r>
              <a:rPr sz="2550" spc="-105" dirty="0">
                <a:latin typeface="Arial MT"/>
                <a:cs typeface="Arial MT"/>
              </a:rPr>
              <a:t>Server:</a:t>
            </a:r>
            <a:r>
              <a:rPr sz="2550" spc="-55" dirty="0">
                <a:latin typeface="Arial MT"/>
                <a:cs typeface="Arial MT"/>
              </a:rPr>
              <a:t> </a:t>
            </a:r>
            <a:r>
              <a:rPr sz="2550" spc="-60" dirty="0">
                <a:latin typeface="Arial MT"/>
                <a:cs typeface="Arial MT"/>
              </a:rPr>
              <a:t>Port</a:t>
            </a:r>
            <a:r>
              <a:rPr sz="2550" spc="-100" dirty="0">
                <a:latin typeface="Arial MT"/>
                <a:cs typeface="Arial MT"/>
              </a:rPr>
              <a:t> </a:t>
            </a:r>
            <a:r>
              <a:rPr sz="2550" spc="-10" dirty="0">
                <a:latin typeface="Arial MT"/>
                <a:cs typeface="Arial MT"/>
              </a:rPr>
              <a:t>3000)</a:t>
            </a:r>
            <a:endParaRPr sz="2550">
              <a:latin typeface="Arial MT"/>
              <a:cs typeface="Arial MT"/>
            </a:endParaRPr>
          </a:p>
          <a:p>
            <a:pPr marL="12700" marR="5080" indent="4445" algn="ctr">
              <a:lnSpc>
                <a:spcPct val="92000"/>
              </a:lnSpc>
              <a:spcBef>
                <a:spcPts val="1115"/>
              </a:spcBef>
            </a:pPr>
            <a:r>
              <a:rPr kumimoji="0" lang="en-US" altLang="zh-CN" sz="2000" b="0" i="0" u="none" strike="noStrike" kern="0" cap="none" spc="0" normalizeH="0" baseline="0" noProof="1">
                <a:solidFill>
                  <a:schemeClr val="tx1"/>
                </a:solidFill>
                <a:latin typeface="Times New Roman" panose="02020603050405020304" charset="0"/>
                <a:ea typeface="Arial" panose="020B0604020202020204" pitchFamily="34" charset="0"/>
                <a:cs typeface="Times New Roman" panose="02020603050405020304" charset="0"/>
              </a:rPr>
              <a:t>API handler locks the shared "DroneStatuses" map and returns the current state of all drones as a JSON array</a:t>
            </a:r>
            <a:r>
              <a:rPr sz="1950" spc="-10" dirty="0">
                <a:latin typeface="Arial MT"/>
                <a:cs typeface="Arial MT"/>
              </a:rPr>
              <a:t>.</a:t>
            </a:r>
            <a:endParaRPr sz="1950">
              <a:latin typeface="Arial MT"/>
              <a:cs typeface="Arial MT"/>
            </a:endParaRPr>
          </a:p>
        </p:txBody>
      </p:sp>
      <p:sp>
        <p:nvSpPr>
          <p:cNvPr id="9" name="object 9"/>
          <p:cNvSpPr txBox="1"/>
          <p:nvPr/>
        </p:nvSpPr>
        <p:spPr>
          <a:xfrm>
            <a:off x="10851708" y="3429705"/>
            <a:ext cx="1886585" cy="568960"/>
          </a:xfrm>
          <a:prstGeom prst="rect">
            <a:avLst/>
          </a:prstGeom>
        </p:spPr>
        <p:txBody>
          <a:bodyPr vert="horz" wrap="square" lIns="0" tIns="56515" rIns="0" bIns="0" rtlCol="0">
            <a:spAutoFit/>
          </a:bodyPr>
          <a:lstStyle/>
          <a:p>
            <a:pPr marL="234315" marR="5080" indent="-222250">
              <a:lnSpc>
                <a:spcPts val="2000"/>
              </a:lnSpc>
              <a:spcBef>
                <a:spcPts val="445"/>
              </a:spcBef>
            </a:pPr>
            <a:r>
              <a:rPr kumimoji="0" lang="en-US" altLang="zh-CN" sz="1800" b="0" i="0" u="none" strike="noStrike" kern="0" cap="none" spc="0" normalizeH="0" baseline="0" noProof="1">
                <a:solidFill>
                  <a:schemeClr val="tx1"/>
                </a:solidFill>
                <a:latin typeface="Times New Roman" panose="02020603050405020304" charset="0"/>
                <a:ea typeface="Arial" panose="020B0604020202020204" pitchFamily="34" charset="0"/>
                <a:cs typeface="Times New Roman" panose="02020603050405020304" charset="0"/>
              </a:rPr>
              <a:t>JS promise resolves with JSON data</a:t>
            </a:r>
            <a:endParaRPr kumimoji="0" lang="en-US" altLang="zh-CN" sz="1800" b="0" i="0" u="none" strike="noStrike" kern="0" cap="none" spc="0" normalizeH="0" baseline="0" noProof="1">
              <a:solidFill>
                <a:schemeClr val="tx1"/>
              </a:solidFill>
              <a:latin typeface="Times New Roman" panose="02020603050405020304" charset="0"/>
              <a:ea typeface="Arial" panose="020B0604020202020204" pitchFamily="34" charset="0"/>
              <a:cs typeface="Times New Roman" panose="02020603050405020304" charset="0"/>
            </a:endParaRPr>
          </a:p>
        </p:txBody>
      </p:sp>
      <p:sp>
        <p:nvSpPr>
          <p:cNvPr id="10" name="object 10"/>
          <p:cNvSpPr txBox="1"/>
          <p:nvPr/>
        </p:nvSpPr>
        <p:spPr>
          <a:xfrm>
            <a:off x="636744" y="1570919"/>
            <a:ext cx="15428594" cy="1385570"/>
          </a:xfrm>
          <a:prstGeom prst="rect">
            <a:avLst/>
          </a:prstGeom>
        </p:spPr>
        <p:txBody>
          <a:bodyPr vert="horz" wrap="square" lIns="0" tIns="16510" rIns="0" bIns="0" rtlCol="0">
            <a:spAutoFit/>
          </a:bodyPr>
          <a:lstStyle/>
          <a:p>
            <a:pPr marL="12700">
              <a:lnSpc>
                <a:spcPct val="100000"/>
              </a:lnSpc>
              <a:spcBef>
                <a:spcPts val="130"/>
              </a:spcBef>
            </a:pPr>
            <a:r>
              <a:rPr sz="3650" spc="-30" dirty="0">
                <a:solidFill>
                  <a:srgbClr val="232323"/>
                </a:solidFill>
                <a:latin typeface="Arial MT"/>
                <a:cs typeface="Arial MT"/>
              </a:rPr>
              <a:t>The</a:t>
            </a:r>
            <a:r>
              <a:rPr sz="3650" spc="-260" dirty="0">
                <a:solidFill>
                  <a:srgbClr val="232323"/>
                </a:solidFill>
                <a:latin typeface="Arial MT"/>
                <a:cs typeface="Arial MT"/>
              </a:rPr>
              <a:t> </a:t>
            </a:r>
            <a:r>
              <a:rPr sz="3650" dirty="0">
                <a:solidFill>
                  <a:srgbClr val="232323"/>
                </a:solidFill>
                <a:latin typeface="Arial MT"/>
                <a:cs typeface="Arial MT"/>
              </a:rPr>
              <a:t>Data</a:t>
            </a:r>
            <a:r>
              <a:rPr sz="3650" spc="-180" dirty="0">
                <a:solidFill>
                  <a:srgbClr val="232323"/>
                </a:solidFill>
                <a:latin typeface="Arial MT"/>
                <a:cs typeface="Arial MT"/>
              </a:rPr>
              <a:t> </a:t>
            </a:r>
            <a:r>
              <a:rPr sz="3650" spc="-20" dirty="0">
                <a:solidFill>
                  <a:srgbClr val="212121"/>
                </a:solidFill>
                <a:latin typeface="Arial MT"/>
                <a:cs typeface="Arial MT"/>
              </a:rPr>
              <a:t>Flow</a:t>
            </a:r>
            <a:endParaRPr sz="3650">
              <a:latin typeface="Arial MT"/>
              <a:cs typeface="Arial MT"/>
            </a:endParaRPr>
          </a:p>
          <a:p>
            <a:pPr marR="5080" algn="r">
              <a:lnSpc>
                <a:spcPct val="100000"/>
              </a:lnSpc>
              <a:spcBef>
                <a:spcPts val="2820"/>
              </a:spcBef>
            </a:pPr>
            <a:r>
              <a:rPr kumimoji="0" lang="en-US" altLang="zh-CN" sz="2900" b="0" i="0" u="none" strike="noStrike" kern="0" cap="none" spc="0" normalizeH="0" baseline="0" noProof="1">
                <a:solidFill>
                  <a:schemeClr val="tx1"/>
                </a:solidFill>
                <a:latin typeface="Times New Roman" panose="02020603050405020304" charset="0"/>
                <a:ea typeface="Arial" panose="020B0604020202020204" pitchFamily="34" charset="0"/>
                <a:cs typeface="Times New Roman" panose="02020603050405020304" charset="0"/>
              </a:rPr>
              <a:t>4.</a:t>
            </a:r>
            <a:r>
              <a:rPr sz="2900" i="1" spc="-425" dirty="0">
                <a:latin typeface="Arial" panose="020B0604020202020204"/>
                <a:cs typeface="Arial" panose="020B0604020202020204"/>
              </a:rPr>
              <a:t> </a:t>
            </a:r>
            <a:r>
              <a:rPr kumimoji="0" lang="en-US" altLang="zh-CN" sz="2900" b="0" i="0" u="none" strike="noStrike" kern="0" cap="none" spc="0" normalizeH="0" baseline="0" noProof="1">
                <a:solidFill>
                  <a:schemeClr val="tx1"/>
                </a:solidFill>
                <a:latin typeface="Times New Roman" panose="02020603050405020304" charset="0"/>
                <a:ea typeface="Arial" panose="020B0604020202020204" pitchFamily="34" charset="0"/>
                <a:cs typeface="Times New Roman" panose="02020603050405020304" charset="0"/>
              </a:rPr>
              <a:t>Client (Up</a:t>
            </a:r>
            <a:r>
              <a:rPr kumimoji="0" lang="en-US" altLang="zh-CN" sz="2900" b="0" i="0" u="none" strike="noStrike" kern="0" cap="none" spc="0" normalizeH="0" baseline="0" noProof="1">
                <a:solidFill>
                  <a:schemeClr val="tx1"/>
                </a:solidFill>
                <a:latin typeface="Times New Roman" panose="02020603050405020304" charset="0"/>
                <a:ea typeface="Arial" panose="020B0604020202020204" pitchFamily="34" charset="0"/>
                <a:cs typeface="Times New Roman" panose="02020603050405020304" charset="0"/>
              </a:rPr>
              <a:t>date)</a:t>
            </a:r>
            <a:endParaRPr sz="2900">
              <a:latin typeface="Arial MT"/>
              <a:cs typeface="Arial MT"/>
            </a:endParaRPr>
          </a:p>
        </p:txBody>
      </p:sp>
      <p:sp>
        <p:nvSpPr>
          <p:cNvPr id="11" name="object 11"/>
          <p:cNvSpPr txBox="1"/>
          <p:nvPr/>
        </p:nvSpPr>
        <p:spPr>
          <a:xfrm>
            <a:off x="13159313" y="3232150"/>
            <a:ext cx="3416300" cy="1164590"/>
          </a:xfrm>
          <a:prstGeom prst="rect">
            <a:avLst/>
          </a:prstGeom>
          <a:ln w="21166">
            <a:solidFill>
              <a:srgbClr val="4474AF"/>
            </a:solidFill>
          </a:ln>
        </p:spPr>
        <p:txBody>
          <a:bodyPr vert="horz" wrap="square" lIns="0" tIns="88900" rIns="0" bIns="0" rtlCol="0">
            <a:spAutoFit/>
          </a:bodyPr>
          <a:lstStyle/>
          <a:p>
            <a:pPr marL="628650">
              <a:lnSpc>
                <a:spcPct val="100000"/>
              </a:lnSpc>
              <a:spcBef>
                <a:spcPts val="700"/>
              </a:spcBef>
            </a:pPr>
            <a:r>
              <a:rPr sz="2000" spc="50" dirty="0">
                <a:latin typeface="Arial MT"/>
                <a:cs typeface="Arial MT"/>
              </a:rPr>
              <a:t>updateDroneList()</a:t>
            </a:r>
            <a:endParaRPr sz="2000">
              <a:latin typeface="Arial MT"/>
              <a:cs typeface="Arial MT"/>
            </a:endParaRPr>
          </a:p>
          <a:p>
            <a:pPr marL="36830" algn="ctr">
              <a:lnSpc>
                <a:spcPts val="2325"/>
              </a:lnSpc>
              <a:spcBef>
                <a:spcPts val="400"/>
              </a:spcBef>
            </a:pPr>
            <a:r>
              <a:rPr sz="2000" spc="-114" dirty="0">
                <a:latin typeface="Arial MT"/>
                <a:cs typeface="Arial MT"/>
              </a:rPr>
              <a:t>Re-</a:t>
            </a:r>
            <a:r>
              <a:rPr sz="2000" spc="-100" dirty="0">
                <a:latin typeface="Arial MT"/>
                <a:cs typeface="Arial MT"/>
              </a:rPr>
              <a:t>renders</a:t>
            </a:r>
            <a:r>
              <a:rPr sz="2000" spc="-45" dirty="0">
                <a:latin typeface="Arial MT"/>
                <a:cs typeface="Arial MT"/>
              </a:rPr>
              <a:t> </a:t>
            </a:r>
            <a:r>
              <a:rPr sz="2000" spc="-20" dirty="0">
                <a:latin typeface="Arial MT"/>
                <a:cs typeface="Arial MT"/>
              </a:rPr>
              <a:t>the</a:t>
            </a:r>
            <a:r>
              <a:rPr sz="2000" spc="-215" dirty="0">
                <a:latin typeface="Arial MT"/>
                <a:cs typeface="Arial MT"/>
              </a:rPr>
              <a:t> </a:t>
            </a:r>
            <a:r>
              <a:rPr sz="2000" spc="-80" dirty="0">
                <a:latin typeface="Arial MT"/>
                <a:cs typeface="Arial MT"/>
              </a:rPr>
              <a:t>side-</a:t>
            </a:r>
            <a:r>
              <a:rPr sz="2000" spc="-10" dirty="0">
                <a:latin typeface="Arial MT"/>
                <a:cs typeface="Arial MT"/>
              </a:rPr>
              <a:t>panel</a:t>
            </a:r>
            <a:endParaRPr sz="2000">
              <a:latin typeface="Arial MT"/>
              <a:cs typeface="Arial MT"/>
            </a:endParaRPr>
          </a:p>
          <a:p>
            <a:pPr marL="53340" algn="ctr">
              <a:lnSpc>
                <a:spcPts val="2145"/>
              </a:lnSpc>
            </a:pPr>
            <a:r>
              <a:rPr sz="1850" dirty="0">
                <a:latin typeface="Arial MT"/>
                <a:cs typeface="Arial MT"/>
              </a:rPr>
              <a:t>status</a:t>
            </a:r>
            <a:r>
              <a:rPr sz="1850" spc="165" dirty="0">
                <a:latin typeface="Arial MT"/>
                <a:cs typeface="Arial MT"/>
              </a:rPr>
              <a:t> </a:t>
            </a:r>
            <a:r>
              <a:rPr sz="1850" spc="-10" dirty="0">
                <a:latin typeface="Arial MT"/>
                <a:cs typeface="Arial MT"/>
              </a:rPr>
              <a:t>list.</a:t>
            </a:r>
            <a:endParaRPr sz="1850">
              <a:latin typeface="Arial MT"/>
              <a:cs typeface="Arial MT"/>
            </a:endParaRPr>
          </a:p>
        </p:txBody>
      </p:sp>
      <p:sp>
        <p:nvSpPr>
          <p:cNvPr id="12" name="object 12"/>
          <p:cNvSpPr txBox="1"/>
          <p:nvPr/>
        </p:nvSpPr>
        <p:spPr>
          <a:xfrm>
            <a:off x="13159313" y="4552950"/>
            <a:ext cx="3416300" cy="1028700"/>
          </a:xfrm>
          <a:prstGeom prst="rect">
            <a:avLst/>
          </a:prstGeom>
          <a:ln w="21166">
            <a:solidFill>
              <a:srgbClr val="4474AF"/>
            </a:solidFill>
          </a:ln>
        </p:spPr>
        <p:txBody>
          <a:bodyPr vert="horz" wrap="square" lIns="0" tIns="88900" rIns="0" bIns="0" rtlCol="0">
            <a:spAutoFit/>
          </a:bodyPr>
          <a:lstStyle/>
          <a:p>
            <a:pPr marL="23495" algn="ctr">
              <a:lnSpc>
                <a:spcPct val="100000"/>
              </a:lnSpc>
              <a:spcBef>
                <a:spcPts val="700"/>
              </a:spcBef>
            </a:pPr>
            <a:r>
              <a:rPr kumimoji="0" lang="en-US" altLang="zh-CN" sz="2000" b="0" i="0" u="none" strike="noStrike" kern="0" cap="none" spc="0" normalizeH="0" baseline="0" noProof="1">
                <a:solidFill>
                  <a:schemeClr val="tx1"/>
                </a:solidFill>
                <a:latin typeface="Times New Roman" panose="02020603050405020304" charset="0"/>
                <a:ea typeface="Arial" panose="020B0604020202020204" pitchFamily="34" charset="0"/>
                <a:cs typeface="Times New Roman" panose="02020603050405020304" charset="0"/>
              </a:rPr>
              <a:t>updateDroneMarkers()</a:t>
            </a:r>
            <a:endParaRPr kumimoji="0" lang="en-US" altLang="zh-CN" sz="2000" b="0" i="0" u="none" strike="noStrike" kern="0" cap="none" spc="0" normalizeH="0" baseline="0" noProof="1">
              <a:solidFill>
                <a:schemeClr val="tx1"/>
              </a:solidFill>
              <a:latin typeface="Times New Roman" panose="02020603050405020304" charset="0"/>
              <a:ea typeface="Arial" panose="020B0604020202020204" pitchFamily="34" charset="0"/>
              <a:cs typeface="Times New Roman" panose="02020603050405020304" charset="0"/>
            </a:endParaRPr>
          </a:p>
          <a:p>
            <a:pPr marL="168275" marR="136525" algn="ctr">
              <a:lnSpc>
                <a:spcPts val="2150"/>
              </a:lnSpc>
              <a:spcBef>
                <a:spcPts val="630"/>
              </a:spcBef>
            </a:pPr>
            <a:r>
              <a:rPr kumimoji="0" lang="en-US" altLang="zh-CN" sz="2000" b="0" i="0" u="none" strike="noStrike" kern="0" cap="none" spc="0" normalizeH="0" baseline="0" noProof="1">
                <a:solidFill>
                  <a:schemeClr val="tx1"/>
                </a:solidFill>
                <a:latin typeface="Times New Roman" panose="02020603050405020304" charset="0"/>
                <a:ea typeface="Arial" panose="020B0604020202020204" pitchFamily="34" charset="0"/>
                <a:cs typeface="Times New Roman" panose="02020603050405020304" charset="0"/>
              </a:rPr>
              <a:t>Updates map marker positions and trajectory lines.</a:t>
            </a:r>
            <a:endParaRPr kumimoji="0" lang="en-US" altLang="zh-CN" sz="2000" b="0" i="0" u="none" strike="noStrike" kern="0" cap="none" spc="0" normalizeH="0" baseline="0" noProof="1">
              <a:solidFill>
                <a:schemeClr val="tx1"/>
              </a:solidFill>
              <a:latin typeface="Times New Roman" panose="02020603050405020304" charset="0"/>
              <a:ea typeface="Arial" panose="020B0604020202020204" pitchFamily="34" charset="0"/>
              <a:cs typeface="Times New Roman" panose="02020603050405020304"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1" cstate="print"/>
          <a:stretch>
            <a:fillRect/>
          </a:stretch>
        </p:blipFill>
        <p:spPr>
          <a:xfrm>
            <a:off x="1651000" y="6743700"/>
            <a:ext cx="10617200" cy="2413000"/>
          </a:xfrm>
          <a:prstGeom prst="rect">
            <a:avLst/>
          </a:prstGeom>
        </p:spPr>
      </p:pic>
      <p:sp>
        <p:nvSpPr>
          <p:cNvPr id="12" name="object 12"/>
          <p:cNvSpPr txBox="1">
            <a:spLocks noGrp="1"/>
          </p:cNvSpPr>
          <p:nvPr>
            <p:ph type="title"/>
          </p:nvPr>
        </p:nvSpPr>
        <p:spPr>
          <a:prstGeom prst="rect">
            <a:avLst/>
          </a:prstGeom>
        </p:spPr>
        <p:txBody>
          <a:bodyPr vert="horz" wrap="square" lIns="0" tIns="11430" rIns="0" bIns="0" rtlCol="0">
            <a:spAutoFit/>
          </a:bodyPr>
          <a:lstStyle/>
          <a:p>
            <a:pPr marL="5090160">
              <a:lnSpc>
                <a:spcPct val="100000"/>
              </a:lnSpc>
              <a:spcBef>
                <a:spcPts val="90"/>
              </a:spcBef>
            </a:pPr>
            <a:r>
              <a:rPr sz="4800" dirty="0">
                <a:solidFill>
                  <a:srgbClr val="1F1F1F"/>
                </a:solidFill>
              </a:rPr>
              <a:t>The</a:t>
            </a:r>
            <a:r>
              <a:rPr sz="4800" spc="-280" dirty="0">
                <a:solidFill>
                  <a:srgbClr val="1F1F1F"/>
                </a:solidFill>
              </a:rPr>
              <a:t> </a:t>
            </a:r>
            <a:r>
              <a:rPr sz="4800" spc="80" dirty="0">
                <a:solidFill>
                  <a:srgbClr val="1C1C1C"/>
                </a:solidFill>
              </a:rPr>
              <a:t>System</a:t>
            </a:r>
            <a:r>
              <a:rPr sz="4800" spc="-155" dirty="0">
                <a:solidFill>
                  <a:srgbClr val="1C1C1C"/>
                </a:solidFill>
              </a:rPr>
              <a:t> </a:t>
            </a:r>
            <a:r>
              <a:rPr sz="4800" spc="50" dirty="0">
                <a:solidFill>
                  <a:srgbClr val="1A1A1A"/>
                </a:solidFill>
              </a:rPr>
              <a:t>in</a:t>
            </a:r>
            <a:r>
              <a:rPr sz="4800" spc="10" dirty="0">
                <a:solidFill>
                  <a:srgbClr val="1A1A1A"/>
                </a:solidFill>
              </a:rPr>
              <a:t> </a:t>
            </a:r>
            <a:r>
              <a:rPr sz="4800" spc="185" dirty="0">
                <a:solidFill>
                  <a:srgbClr val="1A1A1A"/>
                </a:solidFill>
              </a:rPr>
              <a:t>Action</a:t>
            </a:r>
            <a:endParaRPr sz="4800"/>
          </a:p>
        </p:txBody>
      </p:sp>
      <p:sp>
        <p:nvSpPr>
          <p:cNvPr id="21" name="object 21"/>
          <p:cNvSpPr txBox="1">
            <a:spLocks noGrp="1"/>
          </p:cNvSpPr>
          <p:nvPr>
            <p:ph type="ftr" sz="quarter" idx="5"/>
          </p:nvPr>
        </p:nvSpPr>
        <p:spPr>
          <a:prstGeom prst="rect">
            <a:avLst/>
          </a:prstGeom>
        </p:spPr>
        <p:txBody>
          <a:bodyPr vert="horz" wrap="square" lIns="0" tIns="0" rIns="0" bIns="0" rtlCol="0">
            <a:spAutoFit/>
          </a:bodyPr>
          <a:lstStyle/>
          <a:p>
            <a:pPr marL="12700">
              <a:lnSpc>
                <a:spcPts val="1555"/>
              </a:lnSpc>
            </a:pPr>
            <a:r>
              <a:rPr dirty="0"/>
              <a:t>G</a:t>
            </a:r>
            <a:r>
              <a:rPr spc="490" dirty="0"/>
              <a:t> </a:t>
            </a:r>
            <a:r>
              <a:rPr spc="-10" dirty="0"/>
              <a:t>NotebookLM</a:t>
            </a:r>
            <a:endParaRPr spc="-10" dirty="0"/>
          </a:p>
        </p:txBody>
      </p:sp>
      <p:sp>
        <p:nvSpPr>
          <p:cNvPr id="20" name="object 20"/>
          <p:cNvSpPr txBox="1"/>
          <p:nvPr/>
        </p:nvSpPr>
        <p:spPr>
          <a:xfrm>
            <a:off x="12375515" y="7755255"/>
            <a:ext cx="4348480" cy="889635"/>
          </a:xfrm>
          <a:prstGeom prst="rect">
            <a:avLst/>
          </a:prstGeom>
        </p:spPr>
        <p:txBody>
          <a:bodyPr vert="horz" wrap="square" lIns="0" tIns="11430" rIns="0" bIns="0" rtlCol="0">
            <a:spAutoFit/>
          </a:bodyPr>
          <a:lstStyle/>
          <a:p>
            <a:pPr marL="21590" marR="5080" indent="-9525">
              <a:lnSpc>
                <a:spcPct val="102000"/>
              </a:lnSpc>
              <a:spcBef>
                <a:spcPts val="90"/>
              </a:spcBef>
            </a:pPr>
            <a:r>
              <a:rPr sz="2800" spc="-50" dirty="0">
                <a:latin typeface="Arial MT"/>
                <a:cs typeface="Arial MT"/>
              </a:rPr>
              <a:t>Backend</a:t>
            </a:r>
            <a:r>
              <a:rPr sz="2800" spc="-35" dirty="0">
                <a:latin typeface="Arial MT"/>
                <a:cs typeface="Arial MT"/>
              </a:rPr>
              <a:t> </a:t>
            </a:r>
            <a:r>
              <a:rPr sz="2800" spc="-55" dirty="0">
                <a:latin typeface="Arial MT"/>
                <a:cs typeface="Arial MT"/>
              </a:rPr>
              <a:t>server</a:t>
            </a:r>
            <a:r>
              <a:rPr sz="2800" spc="-90" dirty="0">
                <a:latin typeface="Arial MT"/>
                <a:cs typeface="Arial MT"/>
              </a:rPr>
              <a:t> </a:t>
            </a:r>
            <a:r>
              <a:rPr sz="2800" spc="-10" dirty="0">
                <a:latin typeface="Arial MT"/>
                <a:cs typeface="Arial MT"/>
              </a:rPr>
              <a:t>processing </a:t>
            </a:r>
            <a:r>
              <a:rPr sz="2800" dirty="0">
                <a:latin typeface="Arial MT"/>
                <a:cs typeface="Arial MT"/>
              </a:rPr>
              <a:t>concurrent</a:t>
            </a:r>
            <a:r>
              <a:rPr sz="2800" spc="120" dirty="0">
                <a:latin typeface="Arial MT"/>
                <a:cs typeface="Arial MT"/>
              </a:rPr>
              <a:t> </a:t>
            </a:r>
            <a:r>
              <a:rPr sz="2800" dirty="0">
                <a:latin typeface="Arial MT"/>
                <a:cs typeface="Arial MT"/>
              </a:rPr>
              <a:t>status</a:t>
            </a:r>
            <a:r>
              <a:rPr sz="2800" spc="-100" dirty="0">
                <a:latin typeface="Arial MT"/>
                <a:cs typeface="Arial MT"/>
              </a:rPr>
              <a:t> </a:t>
            </a:r>
            <a:r>
              <a:rPr sz="2800" spc="-10" dirty="0">
                <a:latin typeface="Arial MT"/>
                <a:cs typeface="Arial MT"/>
              </a:rPr>
              <a:t>updates.</a:t>
            </a:r>
            <a:endParaRPr sz="2800">
              <a:latin typeface="Arial MT"/>
              <a:cs typeface="Arial MT"/>
            </a:endParaRPr>
          </a:p>
        </p:txBody>
      </p:sp>
      <p:pic>
        <p:nvPicPr>
          <p:cNvPr id="24" name="图片 23" descr="屏幕截图 2025-11-29 183302"/>
          <p:cNvPicPr>
            <a:picLocks noChangeAspect="1"/>
          </p:cNvPicPr>
          <p:nvPr/>
        </p:nvPicPr>
        <p:blipFill>
          <a:blip r:embed="rId2"/>
          <a:stretch>
            <a:fillRect/>
          </a:stretch>
        </p:blipFill>
        <p:spPr>
          <a:xfrm>
            <a:off x="1574800" y="1676400"/>
            <a:ext cx="10694035" cy="4906010"/>
          </a:xfrm>
          <a:prstGeom prst="rect">
            <a:avLst/>
          </a:prstGeom>
        </p:spPr>
      </p:pic>
      <p:sp>
        <p:nvSpPr>
          <p:cNvPr id="25" name="文本框 24"/>
          <p:cNvSpPr txBox="1"/>
          <p:nvPr/>
        </p:nvSpPr>
        <p:spPr>
          <a:xfrm>
            <a:off x="12547600" y="3581400"/>
            <a:ext cx="3199130" cy="583565"/>
          </a:xfrm>
          <a:prstGeom prst="rect">
            <a:avLst/>
          </a:prstGeom>
          <a:noFill/>
        </p:spPr>
        <p:txBody>
          <a:bodyPr wrap="square" rtlCol="0">
            <a:spAutoFit/>
          </a:bodyPr>
          <a:p>
            <a:r>
              <a:rPr kumimoji="0" sz="3200" b="0" i="0" u="none" strike="noStrike" kern="0" cap="none" spc="-50" normalizeH="0" baseline="0" noProof="1" dirty="0">
                <a:latin typeface="Arial MT"/>
                <a:ea typeface="Arial" panose="020B0604020202020204" pitchFamily="34" charset="0"/>
                <a:cs typeface="Arial MT"/>
              </a:rPr>
              <a:t>Operation</a:t>
            </a:r>
            <a:r>
              <a:rPr lang="en-US" altLang="zh-CN" sz="3200"/>
              <a:t> </a:t>
            </a:r>
            <a:r>
              <a:rPr kumimoji="0" sz="3200" b="0" i="0" u="none" strike="noStrike" kern="0" cap="none" spc="-50" normalizeH="0" baseline="0" noProof="1" dirty="0">
                <a:latin typeface="Arial MT"/>
                <a:ea typeface="Arial" panose="020B0604020202020204" pitchFamily="34" charset="0"/>
                <a:cs typeface="Arial MT"/>
              </a:rPr>
              <a:t>page</a:t>
            </a:r>
            <a:endParaRPr lang="en-US" altLang="zh-CN" sz="32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a:spLocks noGrp="1"/>
          </p:cNvSpPr>
          <p:nvPr>
            <p:ph type="ftr" sz="quarter" idx="5"/>
          </p:nvPr>
        </p:nvSpPr>
        <p:spPr>
          <a:prstGeom prst="rect">
            <a:avLst/>
          </a:prstGeom>
        </p:spPr>
        <p:txBody>
          <a:bodyPr vert="horz" wrap="square" lIns="0" tIns="0" rIns="0" bIns="0" rtlCol="0">
            <a:spAutoFit/>
          </a:bodyPr>
          <a:lstStyle/>
          <a:p>
            <a:pPr marL="12700">
              <a:lnSpc>
                <a:spcPts val="1555"/>
              </a:lnSpc>
            </a:pPr>
            <a:r>
              <a:rPr dirty="0"/>
              <a:t>G</a:t>
            </a:r>
            <a:r>
              <a:rPr spc="490" dirty="0"/>
              <a:t> </a:t>
            </a:r>
            <a:r>
              <a:rPr spc="-10" dirty="0"/>
              <a:t>NotebookLM</a:t>
            </a:r>
            <a:endParaRPr spc="-10" dirty="0"/>
          </a:p>
        </p:txBody>
      </p:sp>
      <p:sp>
        <p:nvSpPr>
          <p:cNvPr id="2" name="object 2"/>
          <p:cNvSpPr txBox="1">
            <a:spLocks noGrp="1"/>
          </p:cNvSpPr>
          <p:nvPr>
            <p:ph type="title"/>
          </p:nvPr>
        </p:nvSpPr>
        <p:spPr>
          <a:prstGeom prst="rect">
            <a:avLst/>
          </a:prstGeom>
        </p:spPr>
        <p:txBody>
          <a:bodyPr vert="horz" wrap="square" lIns="0" tIns="418182" rIns="0" bIns="0" rtlCol="0">
            <a:spAutoFit/>
          </a:bodyPr>
          <a:lstStyle/>
          <a:p>
            <a:pPr marL="315595">
              <a:lnSpc>
                <a:spcPct val="100000"/>
              </a:lnSpc>
              <a:spcBef>
                <a:spcPts val="115"/>
              </a:spcBef>
            </a:pPr>
            <a:r>
              <a:rPr sz="5400" spc="135" dirty="0">
                <a:solidFill>
                  <a:srgbClr val="0F0F0F"/>
                </a:solidFill>
              </a:rPr>
              <a:t>Implemented</a:t>
            </a:r>
            <a:r>
              <a:rPr sz="5400" spc="110" dirty="0">
                <a:solidFill>
                  <a:srgbClr val="0F0F0F"/>
                </a:solidFill>
              </a:rPr>
              <a:t> </a:t>
            </a:r>
            <a:r>
              <a:rPr sz="5400" dirty="0">
                <a:solidFill>
                  <a:srgbClr val="0F0F0F"/>
                </a:solidFill>
              </a:rPr>
              <a:t>Features</a:t>
            </a:r>
            <a:r>
              <a:rPr sz="5400" spc="-5" dirty="0">
                <a:solidFill>
                  <a:srgbClr val="0F0F0F"/>
                </a:solidFill>
              </a:rPr>
              <a:t> </a:t>
            </a:r>
            <a:r>
              <a:rPr sz="5400" spc="130" dirty="0">
                <a:solidFill>
                  <a:srgbClr val="0E0E0E"/>
                </a:solidFill>
              </a:rPr>
              <a:t>Checklist</a:t>
            </a:r>
            <a:endParaRPr sz="5400"/>
          </a:p>
        </p:txBody>
      </p:sp>
      <p:graphicFrame>
        <p:nvGraphicFramePr>
          <p:cNvPr id="3" name="object 3"/>
          <p:cNvGraphicFramePr>
            <a:graphicFrameLocks noGrp="1"/>
          </p:cNvGraphicFramePr>
          <p:nvPr>
            <p:custDataLst>
              <p:tags r:id="rId1"/>
            </p:custDataLst>
          </p:nvPr>
        </p:nvGraphicFramePr>
        <p:xfrm>
          <a:off x="922325" y="2570965"/>
          <a:ext cx="15838169" cy="6121400"/>
        </p:xfrm>
        <a:graphic>
          <a:graphicData uri="http://schemas.openxmlformats.org/drawingml/2006/table">
            <a:tbl>
              <a:tblPr firstRow="1" bandRow="1">
                <a:tableStyleId>{2D5ABB26-0587-4C30-8999-92F81FD0307C}</a:tableStyleId>
              </a:tblPr>
              <a:tblGrid>
                <a:gridCol w="5064125"/>
                <a:gridCol w="5364480"/>
                <a:gridCol w="5333364"/>
              </a:tblGrid>
              <a:tr h="688340">
                <a:tc>
                  <a:txBody>
                    <a:bodyPr/>
                    <a:lstStyle/>
                    <a:p>
                      <a:pPr marL="45720">
                        <a:lnSpc>
                          <a:spcPts val="3915"/>
                        </a:lnSpc>
                      </a:pPr>
                      <a:r>
                        <a:rPr sz="3550" spc="-70" dirty="0">
                          <a:latin typeface="Arial MT"/>
                          <a:cs typeface="Arial MT"/>
                        </a:rPr>
                        <a:t>Drone</a:t>
                      </a:r>
                      <a:r>
                        <a:rPr sz="3550" spc="-290" dirty="0">
                          <a:latin typeface="Arial MT"/>
                          <a:cs typeface="Arial MT"/>
                        </a:rPr>
                        <a:t> </a:t>
                      </a:r>
                      <a:r>
                        <a:rPr sz="3550" spc="-10" dirty="0">
                          <a:latin typeface="Arial MT"/>
                          <a:cs typeface="Arial MT"/>
                        </a:rPr>
                        <a:t>Simulation</a:t>
                      </a:r>
                      <a:endParaRPr sz="3550">
                        <a:latin typeface="Arial MT"/>
                        <a:cs typeface="Arial MT"/>
                      </a:endParaRPr>
                    </a:p>
                  </a:txBody>
                  <a:tcPr marL="0" marR="0" marT="0" marB="0"/>
                </a:tc>
                <a:tc>
                  <a:txBody>
                    <a:bodyPr/>
                    <a:lstStyle/>
                    <a:p>
                      <a:pPr marL="391795">
                        <a:lnSpc>
                          <a:spcPts val="3915"/>
                        </a:lnSpc>
                      </a:pPr>
                      <a:r>
                        <a:rPr sz="3550" spc="-95" dirty="0">
                          <a:latin typeface="Arial MT"/>
                          <a:cs typeface="Arial MT"/>
                        </a:rPr>
                        <a:t>Command</a:t>
                      </a:r>
                      <a:r>
                        <a:rPr sz="3550" spc="-140" dirty="0">
                          <a:latin typeface="Arial MT"/>
                          <a:cs typeface="Arial MT"/>
                        </a:rPr>
                        <a:t> </a:t>
                      </a:r>
                      <a:r>
                        <a:rPr sz="3550" spc="-10" dirty="0">
                          <a:latin typeface="Arial MT"/>
                          <a:cs typeface="Arial MT"/>
                        </a:rPr>
                        <a:t>Server</a:t>
                      </a:r>
                      <a:endParaRPr sz="3550">
                        <a:latin typeface="Arial MT"/>
                        <a:cs typeface="Arial MT"/>
                      </a:endParaRPr>
                    </a:p>
                  </a:txBody>
                  <a:tcPr marL="0" marR="0" marT="0" marB="0"/>
                </a:tc>
                <a:tc>
                  <a:txBody>
                    <a:bodyPr/>
                    <a:lstStyle/>
                    <a:p>
                      <a:pPr marL="321310">
                        <a:lnSpc>
                          <a:spcPts val="3915"/>
                        </a:lnSpc>
                      </a:pPr>
                      <a:r>
                        <a:rPr sz="3550" spc="-50" dirty="0">
                          <a:latin typeface="Arial MT"/>
                          <a:cs typeface="Arial MT"/>
                        </a:rPr>
                        <a:t>Graphical</a:t>
                      </a:r>
                      <a:r>
                        <a:rPr sz="3550" spc="-150" dirty="0">
                          <a:latin typeface="Arial MT"/>
                          <a:cs typeface="Arial MT"/>
                        </a:rPr>
                        <a:t> </a:t>
                      </a:r>
                      <a:r>
                        <a:rPr sz="3550" spc="-120" dirty="0">
                          <a:latin typeface="Arial MT"/>
                          <a:cs typeface="Arial MT"/>
                        </a:rPr>
                        <a:t>User</a:t>
                      </a:r>
                      <a:r>
                        <a:rPr sz="3550" spc="-245" dirty="0">
                          <a:latin typeface="Arial MT"/>
                          <a:cs typeface="Arial MT"/>
                        </a:rPr>
                        <a:t> </a:t>
                      </a:r>
                      <a:r>
                        <a:rPr sz="3550" spc="-10" dirty="0">
                          <a:latin typeface="Arial MT"/>
                          <a:cs typeface="Arial MT"/>
                        </a:rPr>
                        <a:t>Interface</a:t>
                      </a:r>
                      <a:endParaRPr sz="3550">
                        <a:latin typeface="Arial MT"/>
                        <a:cs typeface="Arial MT"/>
                      </a:endParaRPr>
                    </a:p>
                  </a:txBody>
                  <a:tcPr marL="0" marR="0" marT="0" marB="0"/>
                </a:tc>
              </a:tr>
              <a:tr h="617220">
                <a:tc>
                  <a:txBody>
                    <a:bodyPr/>
                    <a:lstStyle/>
                    <a:p>
                      <a:pPr marL="13335" marR="276860" indent="0" algn="l">
                        <a:lnSpc>
                          <a:spcPts val="3000"/>
                        </a:lnSpc>
                        <a:spcBef>
                          <a:spcPts val="600"/>
                        </a:spcBef>
                        <a:spcAft>
                          <a:spcPts val="600"/>
                        </a:spcAft>
                        <a:buClr>
                          <a:srgbClr val="3B82E4"/>
                        </a:buClr>
                        <a:buSzTx/>
                        <a:buFontTx/>
                        <a:buNone/>
                        <a:tabLst>
                          <a:tab pos="260985" algn="l"/>
                        </a:tabLst>
                      </a:pPr>
                      <a:r>
                        <a:rPr lang="en-US" altLang="zh-CN" sz="2900">
                          <a:latin typeface="Times New Roman" panose="02020603050405020304" charset="0"/>
                          <a:ea typeface="Arial" panose="020B0604020202020204" pitchFamily="34" charset="0"/>
                          <a:cs typeface="Times New Roman" panose="02020603050405020304" charset="0"/>
                        </a:rPr>
                        <a:t>GPS positioning, battery</a:t>
                      </a:r>
                      <a:endParaRPr lang="en-US" altLang="zh-CN" sz="2900">
                        <a:latin typeface="Times New Roman" panose="02020603050405020304" charset="0"/>
                        <a:ea typeface="Arial" panose="020B0604020202020204" pitchFamily="34" charset="0"/>
                        <a:cs typeface="Times New Roman" panose="02020603050405020304" charset="0"/>
                      </a:endParaRPr>
                    </a:p>
                  </a:txBody>
                  <a:tcPr marL="0" marR="0" marT="149860" marB="0"/>
                </a:tc>
                <a:tc>
                  <a:txBody>
                    <a:bodyPr/>
                    <a:lstStyle/>
                    <a:p>
                      <a:pPr marL="386715" algn="ctr">
                        <a:lnSpc>
                          <a:spcPts val="3580"/>
                        </a:lnSpc>
                        <a:spcBef>
                          <a:spcPts val="1180"/>
                        </a:spcBef>
                      </a:pPr>
                      <a:r>
                        <a:rPr lang="en-US" altLang="zh-CN" sz="2900">
                          <a:latin typeface="Times New Roman" panose="02020603050405020304" charset="0"/>
                          <a:ea typeface="Arial" panose="020B0604020202020204" pitchFamily="34" charset="0"/>
                          <a:cs typeface="Times New Roman" panose="02020603050405020304" charset="0"/>
                        </a:rPr>
                        <a:t>Concurrent management</a:t>
                      </a:r>
                      <a:endParaRPr lang="en-US" altLang="zh-CN" sz="2900">
                        <a:latin typeface="Times New Roman" panose="02020603050405020304" charset="0"/>
                        <a:ea typeface="Arial" panose="020B0604020202020204" pitchFamily="34" charset="0"/>
                        <a:cs typeface="Times New Roman" panose="02020603050405020304" charset="0"/>
                      </a:endParaRPr>
                    </a:p>
                  </a:txBody>
                  <a:tcPr marL="0" marR="0" marT="149860" marB="0"/>
                </a:tc>
                <a:tc>
                  <a:txBody>
                    <a:bodyPr/>
                    <a:lstStyle/>
                    <a:p>
                      <a:pPr marL="252095" algn="ctr">
                        <a:lnSpc>
                          <a:spcPts val="3580"/>
                        </a:lnSpc>
                        <a:spcBef>
                          <a:spcPts val="1180"/>
                        </a:spcBef>
                      </a:pPr>
                      <a:r>
                        <a:rPr lang="en-US" altLang="zh-CN" sz="2900">
                          <a:latin typeface="Times New Roman" panose="02020603050405020304" charset="0"/>
                          <a:ea typeface="Arial" panose="020B0604020202020204" pitchFamily="34" charset="0"/>
                          <a:cs typeface="Times New Roman" panose="02020603050405020304" charset="0"/>
                        </a:rPr>
                        <a:t>Real-time drone position</a:t>
                      </a:r>
                      <a:endParaRPr lang="en-US" altLang="zh-CN" sz="2900">
                        <a:latin typeface="Times New Roman" panose="02020603050405020304" charset="0"/>
                        <a:ea typeface="Arial" panose="020B0604020202020204" pitchFamily="34" charset="0"/>
                        <a:cs typeface="Times New Roman" panose="02020603050405020304" charset="0"/>
                      </a:endParaRPr>
                    </a:p>
                  </a:txBody>
                  <a:tcPr marL="0" marR="0" marT="149860" marB="0"/>
                </a:tc>
              </a:tr>
              <a:tr h="414020">
                <a:tc>
                  <a:txBody>
                    <a:bodyPr/>
                    <a:lstStyle/>
                    <a:p>
                      <a:pPr marL="13335" marR="276860" indent="0" algn="l">
                        <a:lnSpc>
                          <a:spcPts val="3000"/>
                        </a:lnSpc>
                        <a:spcBef>
                          <a:spcPts val="600"/>
                        </a:spcBef>
                        <a:spcAft>
                          <a:spcPts val="600"/>
                        </a:spcAft>
                        <a:buClr>
                          <a:srgbClr val="3B82E4"/>
                        </a:buClr>
                        <a:buSzTx/>
                        <a:buFontTx/>
                        <a:buNone/>
                        <a:tabLst>
                          <a:tab pos="260985" algn="l"/>
                        </a:tabLst>
                      </a:pPr>
                      <a:r>
                        <a:rPr lang="en-US" altLang="zh-CN" sz="2900">
                          <a:latin typeface="Times New Roman" panose="02020603050405020304" charset="0"/>
                          <a:ea typeface="Arial" panose="020B0604020202020204" pitchFamily="34" charset="0"/>
                          <a:cs typeface="Times New Roman" panose="02020603050405020304" charset="0"/>
                        </a:rPr>
                        <a:t>consumption, and flight</a:t>
                      </a:r>
                      <a:endParaRPr lang="en-US" altLang="zh-CN" sz="2900">
                        <a:latin typeface="Times New Roman" panose="02020603050405020304" charset="0"/>
                        <a:ea typeface="Arial" panose="020B0604020202020204" pitchFamily="34" charset="0"/>
                        <a:cs typeface="Times New Roman" panose="02020603050405020304" charset="0"/>
                      </a:endParaRPr>
                    </a:p>
                  </a:txBody>
                  <a:tcPr marL="0" marR="0" marT="0" marB="0"/>
                </a:tc>
                <a:tc>
                  <a:txBody>
                    <a:bodyPr/>
                    <a:lstStyle/>
                    <a:p>
                      <a:pPr marL="689610" algn="ctr">
                        <a:lnSpc>
                          <a:spcPts val="3160"/>
                        </a:lnSpc>
                      </a:pPr>
                      <a:r>
                        <a:rPr lang="en-US" altLang="zh-CN" sz="2900">
                          <a:latin typeface="Times New Roman" panose="02020603050405020304" charset="0"/>
                          <a:ea typeface="Arial" panose="020B0604020202020204" pitchFamily="34" charset="0"/>
                          <a:cs typeface="Times New Roman" panose="02020603050405020304" charset="0"/>
                        </a:rPr>
                        <a:t>of multiple drones via long-</a:t>
                      </a:r>
                      <a:endParaRPr lang="en-US" altLang="zh-CN" sz="2900">
                        <a:latin typeface="Times New Roman" panose="02020603050405020304" charset="0"/>
                        <a:ea typeface="Arial" panose="020B0604020202020204" pitchFamily="34" charset="0"/>
                        <a:cs typeface="Times New Roman" panose="02020603050405020304" charset="0"/>
                      </a:endParaRPr>
                    </a:p>
                  </a:txBody>
                  <a:tcPr marL="0" marR="0" marT="0" marB="0"/>
                </a:tc>
                <a:tc>
                  <a:txBody>
                    <a:bodyPr/>
                    <a:lstStyle/>
                    <a:p>
                      <a:pPr marL="483235" algn="ctr">
                        <a:lnSpc>
                          <a:spcPts val="3160"/>
                        </a:lnSpc>
                      </a:pPr>
                      <a:r>
                        <a:rPr lang="en-US" altLang="zh-CN" sz="2900">
                          <a:latin typeface="Times New Roman" panose="02020603050405020304" charset="0"/>
                          <a:ea typeface="Arial" panose="020B0604020202020204" pitchFamily="34" charset="0"/>
                          <a:cs typeface="Times New Roman" panose="02020603050405020304" charset="0"/>
                        </a:rPr>
                        <a:t>display on a Leaflet.js map</a:t>
                      </a:r>
                      <a:endParaRPr lang="en-US" altLang="zh-CN" sz="2900">
                        <a:latin typeface="Times New Roman" panose="02020603050405020304" charset="0"/>
                        <a:ea typeface="Arial" panose="020B0604020202020204" pitchFamily="34" charset="0"/>
                        <a:cs typeface="Times New Roman" panose="02020603050405020304" charset="0"/>
                      </a:endParaRPr>
                    </a:p>
                  </a:txBody>
                  <a:tcPr marL="0" marR="0" marT="0" marB="0"/>
                </a:tc>
              </a:tr>
              <a:tr h="514984">
                <a:tc>
                  <a:txBody>
                    <a:bodyPr/>
                    <a:lstStyle/>
                    <a:p>
                      <a:pPr marL="13335" marR="276860" indent="0" algn="l">
                        <a:lnSpc>
                          <a:spcPts val="3000"/>
                        </a:lnSpc>
                        <a:spcBef>
                          <a:spcPts val="600"/>
                        </a:spcBef>
                        <a:spcAft>
                          <a:spcPts val="600"/>
                        </a:spcAft>
                        <a:buClr>
                          <a:srgbClr val="3B82E4"/>
                        </a:buClr>
                        <a:buSzTx/>
                        <a:buFontTx/>
                        <a:buNone/>
                        <a:tabLst>
                          <a:tab pos="260985" algn="l"/>
                        </a:tabLst>
                      </a:pPr>
                      <a:r>
                        <a:rPr lang="en-US" altLang="zh-CN" sz="2900">
                          <a:latin typeface="Times New Roman" panose="02020603050405020304" charset="0"/>
                          <a:ea typeface="Arial" panose="020B0604020202020204" pitchFamily="34" charset="0"/>
                          <a:cs typeface="Times New Roman" panose="02020603050405020304" charset="0"/>
                        </a:rPr>
                        <a:t>state simulation.</a:t>
                      </a:r>
                      <a:endParaRPr lang="en-US" altLang="zh-CN" sz="2900">
                        <a:latin typeface="Times New Roman" panose="02020603050405020304" charset="0"/>
                        <a:ea typeface="Arial" panose="020B0604020202020204" pitchFamily="34" charset="0"/>
                        <a:cs typeface="Times New Roman" panose="02020603050405020304" charset="0"/>
                      </a:endParaRPr>
                    </a:p>
                  </a:txBody>
                  <a:tcPr marL="0" marR="0" marT="0" marB="0"/>
                </a:tc>
                <a:tc>
                  <a:txBody>
                    <a:bodyPr/>
                    <a:lstStyle/>
                    <a:p>
                      <a:pPr marL="57150" algn="ctr">
                        <a:lnSpc>
                          <a:spcPts val="3240"/>
                        </a:lnSpc>
                      </a:pPr>
                      <a:r>
                        <a:rPr lang="en-US" altLang="zh-CN" sz="2900">
                          <a:latin typeface="Times New Roman" panose="02020603050405020304" charset="0"/>
                          <a:ea typeface="Arial" panose="020B0604020202020204" pitchFamily="34" charset="0"/>
                          <a:cs typeface="Times New Roman" panose="02020603050405020304" charset="0"/>
                        </a:rPr>
                        <a:t>lived TCP connections.</a:t>
                      </a:r>
                      <a:endParaRPr lang="en-US" altLang="zh-CN" sz="2900">
                        <a:latin typeface="Times New Roman" panose="02020603050405020304" charset="0"/>
                        <a:ea typeface="Arial" panose="020B0604020202020204" pitchFamily="34" charset="0"/>
                        <a:cs typeface="Times New Roman" panose="02020603050405020304" charset="0"/>
                      </a:endParaRPr>
                    </a:p>
                  </a:txBody>
                  <a:tcPr marL="0" marR="0" marT="0" marB="0"/>
                </a:tc>
                <a:tc>
                  <a:txBody>
                    <a:bodyPr/>
                    <a:lstStyle/>
                    <a:p>
                      <a:pPr marL="970915">
                        <a:lnSpc>
                          <a:spcPts val="3240"/>
                        </a:lnSpc>
                      </a:pPr>
                      <a:r>
                        <a:rPr lang="en-US" altLang="zh-CN" sz="2900">
                          <a:latin typeface="Times New Roman" panose="02020603050405020304" charset="0"/>
                          <a:ea typeface="Arial" panose="020B0604020202020204" pitchFamily="34" charset="0"/>
                          <a:cs typeface="Times New Roman" panose="02020603050405020304" charset="0"/>
                        </a:rPr>
                        <a:t>(1s refresh).</a:t>
                      </a:r>
                      <a:endParaRPr lang="en-US" altLang="zh-CN" sz="2900">
                        <a:latin typeface="Times New Roman" panose="02020603050405020304" charset="0"/>
                        <a:ea typeface="Arial" panose="020B0604020202020204" pitchFamily="34" charset="0"/>
                        <a:cs typeface="Times New Roman" panose="02020603050405020304" charset="0"/>
                      </a:endParaRPr>
                    </a:p>
                  </a:txBody>
                  <a:tcPr marL="0" marR="0" marT="0" marB="0"/>
                </a:tc>
              </a:tr>
              <a:tr h="526415">
                <a:tc>
                  <a:txBody>
                    <a:bodyPr/>
                    <a:lstStyle/>
                    <a:p>
                      <a:pPr marL="13335" marR="276860" indent="0" algn="l">
                        <a:lnSpc>
                          <a:spcPts val="3000"/>
                        </a:lnSpc>
                        <a:spcBef>
                          <a:spcPts val="600"/>
                        </a:spcBef>
                        <a:spcAft>
                          <a:spcPts val="600"/>
                        </a:spcAft>
                        <a:buClr>
                          <a:srgbClr val="3B82E4"/>
                        </a:buClr>
                        <a:buSzTx/>
                        <a:buFontTx/>
                        <a:buNone/>
                        <a:tabLst>
                          <a:tab pos="260985" algn="l"/>
                        </a:tabLst>
                      </a:pPr>
                      <a:r>
                        <a:rPr lang="en-US" altLang="zh-CN" sz="2900">
                          <a:latin typeface="Times New Roman" panose="02020603050405020304" charset="0"/>
                          <a:ea typeface="Arial" panose="020B0604020202020204" pitchFamily="34" charset="0"/>
                          <a:cs typeface="Times New Roman" panose="02020603050405020304" charset="0"/>
                        </a:rPr>
                        <a:t>Smooth flight animation</a:t>
                      </a:r>
                      <a:endParaRPr lang="en-US" altLang="zh-CN" sz="2900">
                        <a:latin typeface="Times New Roman" panose="02020603050405020304" charset="0"/>
                        <a:ea typeface="Arial" panose="020B0604020202020204" pitchFamily="34" charset="0"/>
                        <a:cs typeface="Times New Roman" panose="02020603050405020304" charset="0"/>
                      </a:endParaRPr>
                    </a:p>
                  </a:txBody>
                  <a:tcPr marL="0" marR="0" marT="64135" marB="0"/>
                </a:tc>
                <a:tc>
                  <a:txBody>
                    <a:bodyPr/>
                    <a:lstStyle/>
                    <a:p>
                      <a:pPr marL="371475" algn="ctr">
                        <a:lnSpc>
                          <a:spcPts val="3540"/>
                        </a:lnSpc>
                        <a:spcBef>
                          <a:spcPts val="505"/>
                        </a:spcBef>
                      </a:pPr>
                      <a:r>
                        <a:rPr lang="en-US" altLang="zh-CN" sz="2900">
                          <a:latin typeface="Times New Roman" panose="02020603050405020304" charset="0"/>
                          <a:ea typeface="Arial" panose="020B0604020202020204" pitchFamily="34" charset="0"/>
                          <a:cs typeface="Times New Roman" panose="02020603050405020304" charset="0"/>
                        </a:rPr>
                        <a:t>Asynchronous command</a:t>
                      </a:r>
                      <a:endParaRPr lang="en-US" altLang="zh-CN" sz="2900">
                        <a:latin typeface="Times New Roman" panose="02020603050405020304" charset="0"/>
                        <a:ea typeface="Arial" panose="020B0604020202020204" pitchFamily="34" charset="0"/>
                        <a:cs typeface="Times New Roman" panose="02020603050405020304" charset="0"/>
                      </a:endParaRPr>
                    </a:p>
                  </a:txBody>
                  <a:tcPr marL="0" marR="0" marT="64135" marB="0"/>
                </a:tc>
                <a:tc>
                  <a:txBody>
                    <a:bodyPr/>
                    <a:lstStyle/>
                    <a:p>
                      <a:pPr marL="201295" algn="ctr">
                        <a:lnSpc>
                          <a:spcPts val="3540"/>
                        </a:lnSpc>
                        <a:spcBef>
                          <a:spcPts val="505"/>
                        </a:spcBef>
                      </a:pPr>
                      <a:r>
                        <a:rPr lang="en-US" altLang="zh-CN" sz="2900">
                          <a:latin typeface="Times New Roman" panose="02020603050405020304" charset="0"/>
                          <a:ea typeface="Arial" panose="020B0604020202020204" pitchFamily="34" charset="0"/>
                          <a:cs typeface="Times New Roman" panose="02020603050405020304" charset="0"/>
                        </a:rPr>
                        <a:t>Flight trajectory drawing</a:t>
                      </a:r>
                      <a:endParaRPr lang="en-US" altLang="zh-CN" sz="2900">
                        <a:latin typeface="Times New Roman" panose="02020603050405020304" charset="0"/>
                        <a:ea typeface="Arial" panose="020B0604020202020204" pitchFamily="34" charset="0"/>
                        <a:cs typeface="Times New Roman" panose="02020603050405020304" charset="0"/>
                      </a:endParaRPr>
                    </a:p>
                  </a:txBody>
                  <a:tcPr marL="0" marR="0" marT="64135" marB="0"/>
                </a:tc>
              </a:tr>
              <a:tr h="427990">
                <a:tc>
                  <a:txBody>
                    <a:bodyPr/>
                    <a:lstStyle/>
                    <a:p>
                      <a:pPr marL="13335" marR="276860" indent="0" algn="l">
                        <a:lnSpc>
                          <a:spcPts val="3000"/>
                        </a:lnSpc>
                        <a:spcBef>
                          <a:spcPts val="600"/>
                        </a:spcBef>
                        <a:spcAft>
                          <a:spcPts val="600"/>
                        </a:spcAft>
                        <a:buClr>
                          <a:srgbClr val="3B82E4"/>
                        </a:buClr>
                        <a:buSzTx/>
                        <a:buFontTx/>
                        <a:buNone/>
                        <a:tabLst>
                          <a:tab pos="260985" algn="l"/>
                        </a:tabLst>
                      </a:pPr>
                      <a:r>
                        <a:rPr lang="en-US" altLang="zh-CN" sz="2900">
                          <a:latin typeface="Times New Roman" panose="02020603050405020304" charset="0"/>
                          <a:ea typeface="Arial" panose="020B0604020202020204" pitchFamily="34" charset="0"/>
                          <a:cs typeface="Times New Roman" panose="02020603050405020304" charset="0"/>
                        </a:rPr>
                        <a:t>using linear interpolation</a:t>
                      </a:r>
                      <a:endParaRPr lang="en-US" altLang="zh-CN" sz="2900">
                        <a:latin typeface="Times New Roman" panose="02020603050405020304" charset="0"/>
                        <a:ea typeface="Arial" panose="020B0604020202020204" pitchFamily="34" charset="0"/>
                        <a:cs typeface="Times New Roman" panose="02020603050405020304" charset="0"/>
                      </a:endParaRPr>
                    </a:p>
                  </a:txBody>
                  <a:tcPr marL="0" marR="0" marT="0" marB="0"/>
                </a:tc>
                <a:tc>
                  <a:txBody>
                    <a:bodyPr/>
                    <a:lstStyle/>
                    <a:p>
                      <a:pPr marL="581660" algn="ctr">
                        <a:lnSpc>
                          <a:spcPts val="3270"/>
                        </a:lnSpc>
                      </a:pPr>
                      <a:r>
                        <a:rPr lang="en-US" altLang="zh-CN" sz="2900">
                          <a:latin typeface="Times New Roman" panose="02020603050405020304" charset="0"/>
                          <a:ea typeface="Arial" panose="020B0604020202020204" pitchFamily="34" charset="0"/>
                          <a:cs typeface="Times New Roman" panose="02020603050405020304" charset="0"/>
                        </a:rPr>
                        <a:t>queueing and dispatching.</a:t>
                      </a:r>
                      <a:endParaRPr lang="en-US" altLang="zh-CN" sz="2900">
                        <a:latin typeface="Times New Roman" panose="02020603050405020304" charset="0"/>
                        <a:ea typeface="Arial" panose="020B0604020202020204" pitchFamily="34" charset="0"/>
                        <a:cs typeface="Times New Roman" panose="02020603050405020304" charset="0"/>
                      </a:endParaRPr>
                    </a:p>
                  </a:txBody>
                  <a:tcPr marL="0" marR="0" marT="0" marB="0"/>
                </a:tc>
                <a:tc>
                  <a:txBody>
                    <a:bodyPr/>
                    <a:lstStyle/>
                    <a:p>
                      <a:pPr marL="969010">
                        <a:lnSpc>
                          <a:spcPts val="3270"/>
                        </a:lnSpc>
                      </a:pPr>
                      <a:r>
                        <a:rPr lang="en-US" altLang="zh-CN" sz="2900">
                          <a:latin typeface="Times New Roman" panose="02020603050405020304" charset="0"/>
                          <a:ea typeface="Arial" panose="020B0604020202020204" pitchFamily="34" charset="0"/>
                          <a:cs typeface="Times New Roman" panose="02020603050405020304" charset="0"/>
                        </a:rPr>
                        <a:t>(last 50 points).</a:t>
                      </a:r>
                      <a:endParaRPr lang="en-US" altLang="zh-CN" sz="2900">
                        <a:latin typeface="Times New Roman" panose="02020603050405020304" charset="0"/>
                        <a:ea typeface="Arial" panose="020B0604020202020204" pitchFamily="34" charset="0"/>
                        <a:cs typeface="Times New Roman" panose="02020603050405020304" charset="0"/>
                      </a:endParaRPr>
                    </a:p>
                  </a:txBody>
                  <a:tcPr marL="0" marR="0" marT="0" marB="0"/>
                </a:tc>
              </a:tr>
              <a:tr h="619125">
                <a:tc>
                  <a:txBody>
                    <a:bodyPr/>
                    <a:lstStyle/>
                    <a:p>
                      <a:pPr marL="13335" marR="276860" indent="0" algn="l">
                        <a:lnSpc>
                          <a:spcPts val="3000"/>
                        </a:lnSpc>
                        <a:spcBef>
                          <a:spcPts val="600"/>
                        </a:spcBef>
                        <a:spcAft>
                          <a:spcPts val="600"/>
                        </a:spcAft>
                        <a:buClr>
                          <a:srgbClr val="3B82E4"/>
                        </a:buClr>
                        <a:buSzTx/>
                        <a:buFontTx/>
                        <a:buNone/>
                        <a:tabLst>
                          <a:tab pos="260985" algn="l"/>
                        </a:tabLst>
                      </a:pPr>
                      <a:r>
                        <a:rPr lang="en-US" altLang="zh-CN" sz="2900">
                          <a:latin typeface="Times New Roman" panose="02020603050405020304" charset="0"/>
                          <a:ea typeface="Arial" panose="020B0604020202020204" pitchFamily="34" charset="0"/>
                          <a:cs typeface="Times New Roman" panose="02020603050405020304" charset="0"/>
                        </a:rPr>
                        <a:t>(30 steps).</a:t>
                      </a:r>
                      <a:endParaRPr lang="en-US" altLang="zh-CN" sz="2900">
                        <a:latin typeface="Times New Roman" panose="02020603050405020304" charset="0"/>
                        <a:ea typeface="Arial" panose="020B0604020202020204" pitchFamily="34" charset="0"/>
                        <a:cs typeface="Times New Roman" panose="02020603050405020304" charset="0"/>
                      </a:endParaRPr>
                    </a:p>
                  </a:txBody>
                  <a:tcPr marL="0" marR="0" marT="0" marB="0"/>
                </a:tc>
                <a:tc>
                  <a:txBody>
                    <a:bodyPr/>
                    <a:lstStyle/>
                    <a:p>
                      <a:pPr marL="385445">
                        <a:lnSpc>
                          <a:spcPts val="3240"/>
                        </a:lnSpc>
                        <a:spcBef>
                          <a:spcPts val="1535"/>
                        </a:spcBef>
                        <a:tabLst>
                          <a:tab pos="1007110" algn="l"/>
                        </a:tabLst>
                      </a:pPr>
                      <a:r>
                        <a:rPr lang="en-US" altLang="zh-CN" sz="2900">
                          <a:latin typeface="Times New Roman" panose="02020603050405020304" charset="0"/>
                          <a:ea typeface="Arial" panose="020B0604020202020204" pitchFamily="34" charset="0"/>
                          <a:cs typeface="Times New Roman" panose="02020603050405020304" charset="0"/>
                        </a:rPr>
                        <a:t>	HTTP REST API for</a:t>
                      </a:r>
                      <a:endParaRPr lang="en-US" altLang="zh-CN" sz="2900">
                        <a:latin typeface="Times New Roman" panose="02020603050405020304" charset="0"/>
                        <a:ea typeface="Arial" panose="020B0604020202020204" pitchFamily="34" charset="0"/>
                        <a:cs typeface="Times New Roman" panose="02020603050405020304" charset="0"/>
                      </a:endParaRPr>
                    </a:p>
                  </a:txBody>
                  <a:tcPr marL="0" marR="0" marT="194945" marB="0"/>
                </a:tc>
                <a:tc>
                  <a:txBody>
                    <a:bodyPr/>
                    <a:lstStyle/>
                    <a:p>
                      <a:pPr marL="441960" algn="ctr">
                        <a:lnSpc>
                          <a:spcPts val="3240"/>
                        </a:lnSpc>
                        <a:spcBef>
                          <a:spcPts val="1535"/>
                        </a:spcBef>
                      </a:pPr>
                      <a:r>
                        <a:rPr lang="en-US" altLang="zh-CN" sz="2900">
                          <a:latin typeface="Times New Roman" panose="02020603050405020304" charset="0"/>
                          <a:ea typeface="Arial" panose="020B0604020202020204" pitchFamily="34" charset="0"/>
                          <a:cs typeface="Times New Roman" panose="02020603050405020304" charset="0"/>
                        </a:rPr>
                        <a:t>Interactive controls: click-</a:t>
                      </a:r>
                      <a:endParaRPr lang="en-US" altLang="zh-CN" sz="2900">
                        <a:latin typeface="Times New Roman" panose="02020603050405020304" charset="0"/>
                        <a:ea typeface="Arial" panose="020B0604020202020204" pitchFamily="34" charset="0"/>
                        <a:cs typeface="Times New Roman" panose="02020603050405020304" charset="0"/>
                      </a:endParaRPr>
                    </a:p>
                  </a:txBody>
                  <a:tcPr marL="0" marR="0" marT="194945" marB="0"/>
                </a:tc>
              </a:tr>
              <a:tr h="427990">
                <a:tc>
                  <a:txBody>
                    <a:bodyPr/>
                    <a:lstStyle/>
                    <a:p>
                      <a:pPr marL="13335" marR="276860" indent="0" algn="l">
                        <a:lnSpc>
                          <a:spcPts val="3000"/>
                        </a:lnSpc>
                        <a:spcBef>
                          <a:spcPts val="600"/>
                        </a:spcBef>
                        <a:spcAft>
                          <a:spcPts val="600"/>
                        </a:spcAft>
                        <a:buClr>
                          <a:srgbClr val="3B82E4"/>
                        </a:buClr>
                        <a:buSzTx/>
                        <a:buFontTx/>
                        <a:buNone/>
                        <a:tabLst>
                          <a:tab pos="260985" algn="l"/>
                        </a:tabLst>
                      </a:pPr>
                      <a:r>
                        <a:rPr lang="en-US" altLang="zh-CN" sz="2900">
                          <a:latin typeface="Times New Roman" panose="02020603050405020304" charset="0"/>
                          <a:ea typeface="Arial" panose="020B0604020202020204" pitchFamily="34" charset="0"/>
                          <a:cs typeface="Times New Roman" panose="02020603050405020304" charset="0"/>
                        </a:rPr>
                        <a:t>Execution of Takeoff, Land,</a:t>
                      </a:r>
                      <a:endParaRPr lang="en-US" altLang="zh-CN" sz="2900">
                        <a:latin typeface="Times New Roman" panose="02020603050405020304" charset="0"/>
                        <a:ea typeface="Arial" panose="020B0604020202020204" pitchFamily="34" charset="0"/>
                        <a:cs typeface="Times New Roman" panose="02020603050405020304" charset="0"/>
                      </a:endParaRPr>
                    </a:p>
                  </a:txBody>
                  <a:tcPr marL="0" marR="0" marT="0" marB="0"/>
                </a:tc>
                <a:tc>
                  <a:txBody>
                    <a:bodyPr/>
                    <a:lstStyle/>
                    <a:p>
                      <a:pPr marL="194945" algn="ctr">
                        <a:lnSpc>
                          <a:spcPts val="3275"/>
                        </a:lnSpc>
                      </a:pPr>
                      <a:r>
                        <a:rPr lang="en-US" altLang="zh-CN" sz="2900">
                          <a:latin typeface="Times New Roman" panose="02020603050405020304" charset="0"/>
                          <a:ea typeface="Arial" panose="020B0604020202020204" pitchFamily="34" charset="0"/>
                          <a:cs typeface="Times New Roman" panose="02020603050405020304" charset="0"/>
                        </a:rPr>
                        <a:t>frontend status queries</a:t>
                      </a:r>
                      <a:endParaRPr lang="en-US" altLang="zh-CN" sz="2900">
                        <a:latin typeface="Times New Roman" panose="02020603050405020304" charset="0"/>
                        <a:ea typeface="Arial" panose="020B0604020202020204" pitchFamily="34" charset="0"/>
                        <a:cs typeface="Times New Roman" panose="02020603050405020304" charset="0"/>
                      </a:endParaRPr>
                    </a:p>
                  </a:txBody>
                  <a:tcPr marL="0" marR="0" marT="0" marB="0"/>
                </a:tc>
                <a:tc>
                  <a:txBody>
                    <a:bodyPr/>
                    <a:lstStyle/>
                    <a:p>
                      <a:pPr marL="641350" algn="ctr">
                        <a:lnSpc>
                          <a:spcPts val="3275"/>
                        </a:lnSpc>
                      </a:pPr>
                      <a:r>
                        <a:rPr lang="en-US" altLang="zh-CN" sz="2900">
                          <a:latin typeface="Times New Roman" panose="02020603050405020304" charset="0"/>
                          <a:ea typeface="Arial" panose="020B0604020202020204" pitchFamily="34" charset="0"/>
                          <a:cs typeface="Times New Roman" panose="02020603050405020304" charset="0"/>
                        </a:rPr>
                        <a:t>to-set-waypoint, status list</a:t>
                      </a:r>
                      <a:endParaRPr lang="en-US" altLang="zh-CN" sz="2900">
                        <a:latin typeface="Times New Roman" panose="02020603050405020304" charset="0"/>
                        <a:ea typeface="Arial" panose="020B0604020202020204" pitchFamily="34" charset="0"/>
                        <a:cs typeface="Times New Roman" panose="02020603050405020304" charset="0"/>
                      </a:endParaRPr>
                    </a:p>
                  </a:txBody>
                  <a:tcPr marL="0" marR="0" marT="0" marB="0"/>
                </a:tc>
              </a:tr>
              <a:tr h="522605">
                <a:tc>
                  <a:txBody>
                    <a:bodyPr/>
                    <a:lstStyle/>
                    <a:p>
                      <a:pPr marL="13335" marR="276860" indent="0" algn="l">
                        <a:lnSpc>
                          <a:spcPts val="3000"/>
                        </a:lnSpc>
                        <a:spcBef>
                          <a:spcPts val="600"/>
                        </a:spcBef>
                        <a:spcAft>
                          <a:spcPts val="600"/>
                        </a:spcAft>
                        <a:buClr>
                          <a:srgbClr val="3B82E4"/>
                        </a:buClr>
                        <a:buSzTx/>
                        <a:buFontTx/>
                        <a:buNone/>
                        <a:tabLst>
                          <a:tab pos="260985" algn="l"/>
                        </a:tabLst>
                      </a:pPr>
                      <a:r>
                        <a:rPr lang="en-US" altLang="zh-CN" sz="2900">
                          <a:latin typeface="Times New Roman" panose="02020603050405020304" charset="0"/>
                          <a:ea typeface="Arial" panose="020B0604020202020204" pitchFamily="34" charset="0"/>
                          <a:cs typeface="Times New Roman" panose="02020603050405020304" charset="0"/>
                        </a:rPr>
                        <a:t>and FIyTo commands.</a:t>
                      </a:r>
                      <a:endParaRPr lang="en-US" altLang="zh-CN" sz="2900">
                        <a:latin typeface="Times New Roman" panose="02020603050405020304" charset="0"/>
                        <a:ea typeface="Arial" panose="020B0604020202020204" pitchFamily="34" charset="0"/>
                        <a:cs typeface="Times New Roman" panose="02020603050405020304" charset="0"/>
                      </a:endParaRPr>
                    </a:p>
                  </a:txBody>
                  <a:tcPr marL="0" marR="0" marT="0" marB="0"/>
                </a:tc>
                <a:tc>
                  <a:txBody>
                    <a:bodyPr/>
                    <a:lstStyle/>
                    <a:p>
                      <a:pPr marL="224155" algn="ctr">
                        <a:lnSpc>
                          <a:spcPts val="3205"/>
                        </a:lnSpc>
                      </a:pPr>
                      <a:r>
                        <a:rPr lang="en-US" altLang="zh-CN" sz="2900">
                          <a:latin typeface="Times New Roman" panose="02020603050405020304" charset="0"/>
                          <a:ea typeface="Arial" panose="020B0604020202020204" pitchFamily="34" charset="0"/>
                          <a:cs typeface="Times New Roman" panose="02020603050405020304" charset="0"/>
                        </a:rPr>
                        <a:t>and command injection.</a:t>
                      </a:r>
                      <a:endParaRPr lang="en-US" altLang="zh-CN" sz="2900">
                        <a:latin typeface="Times New Roman" panose="02020603050405020304" charset="0"/>
                        <a:ea typeface="Arial" panose="020B0604020202020204" pitchFamily="34" charset="0"/>
                        <a:cs typeface="Times New Roman" panose="02020603050405020304" charset="0"/>
                      </a:endParaRPr>
                    </a:p>
                  </a:txBody>
                  <a:tcPr marL="0" marR="0" marT="0" marB="0"/>
                </a:tc>
                <a:tc>
                  <a:txBody>
                    <a:bodyPr/>
                    <a:lstStyle/>
                    <a:p>
                      <a:pPr marL="956310">
                        <a:lnSpc>
                          <a:spcPts val="3205"/>
                        </a:lnSpc>
                      </a:pPr>
                      <a:r>
                        <a:rPr lang="en-US" altLang="zh-CN" sz="2900">
                          <a:latin typeface="Times New Roman" panose="02020603050405020304" charset="0"/>
                          <a:ea typeface="Arial" panose="020B0604020202020204" pitchFamily="34" charset="0"/>
                          <a:cs typeface="Times New Roman" panose="02020603050405020304" charset="0"/>
                        </a:rPr>
                        <a:t>selection, command buttons.</a:t>
                      </a:r>
                      <a:endParaRPr lang="en-US" altLang="zh-CN" sz="2900">
                        <a:latin typeface="Times New Roman" panose="02020603050405020304" charset="0"/>
                        <a:ea typeface="Arial" panose="020B0604020202020204" pitchFamily="34" charset="0"/>
                        <a:cs typeface="Times New Roman" panose="02020603050405020304" charset="0"/>
                      </a:endParaRPr>
                    </a:p>
                  </a:txBody>
                  <a:tcPr marL="0" marR="0" marT="0" marB="0"/>
                </a:tc>
              </a:tr>
              <a:tr h="527685">
                <a:tc>
                  <a:txBody>
                    <a:bodyPr/>
                    <a:lstStyle/>
                    <a:p>
                      <a:pPr>
                        <a:lnSpc>
                          <a:spcPct val="100000"/>
                        </a:lnSpc>
                      </a:pPr>
                      <a:endParaRPr sz="3000">
                        <a:latin typeface="Times New Roman" panose="02020603050405020304"/>
                        <a:cs typeface="Times New Roman" panose="02020603050405020304"/>
                      </a:endParaRPr>
                    </a:p>
                  </a:txBody>
                  <a:tcPr marL="0" marR="0" marT="0" marB="0"/>
                </a:tc>
                <a:tc>
                  <a:txBody>
                    <a:bodyPr/>
                    <a:lstStyle/>
                    <a:p>
                      <a:pPr>
                        <a:lnSpc>
                          <a:spcPct val="100000"/>
                        </a:lnSpc>
                      </a:pPr>
                      <a:endParaRPr sz="3000">
                        <a:latin typeface="Times New Roman" panose="02020603050405020304"/>
                        <a:cs typeface="Times New Roman" panose="02020603050405020304"/>
                      </a:endParaRPr>
                    </a:p>
                  </a:txBody>
                  <a:tcPr marL="0" marR="0" marT="0" marB="0"/>
                </a:tc>
                <a:tc>
                  <a:txBody>
                    <a:bodyPr/>
                    <a:lstStyle/>
                    <a:p>
                      <a:pPr marL="415290" algn="ctr">
                        <a:lnSpc>
                          <a:spcPts val="3440"/>
                        </a:lnSpc>
                        <a:spcBef>
                          <a:spcPts val="615"/>
                        </a:spcBef>
                      </a:pPr>
                      <a:r>
                        <a:rPr lang="en-US" altLang="zh-CN" sz="2900">
                          <a:latin typeface="Times New Roman" panose="02020603050405020304" charset="0"/>
                          <a:ea typeface="Arial" panose="020B0604020202020204" pitchFamily="34" charset="0"/>
                          <a:cs typeface="Times New Roman" panose="02020603050405020304" charset="0"/>
                        </a:rPr>
                        <a:t>Thoughtful UX with a light</a:t>
                      </a:r>
                      <a:endParaRPr lang="en-US" altLang="zh-CN" sz="2900">
                        <a:latin typeface="Times New Roman" panose="02020603050405020304" charset="0"/>
                        <a:ea typeface="Arial" panose="020B0604020202020204" pitchFamily="34" charset="0"/>
                        <a:cs typeface="Times New Roman" panose="02020603050405020304" charset="0"/>
                      </a:endParaRPr>
                    </a:p>
                  </a:txBody>
                  <a:tcPr marL="0" marR="0" marT="78105" marB="0"/>
                </a:tc>
              </a:tr>
              <a:tr h="419100">
                <a:tc>
                  <a:txBody>
                    <a:bodyPr/>
                    <a:lstStyle/>
                    <a:p>
                      <a:pPr>
                        <a:lnSpc>
                          <a:spcPct val="100000"/>
                        </a:lnSpc>
                      </a:pPr>
                      <a:endParaRPr sz="2600">
                        <a:latin typeface="Times New Roman" panose="02020603050405020304"/>
                        <a:cs typeface="Times New Roman" panose="02020603050405020304"/>
                      </a:endParaRPr>
                    </a:p>
                  </a:txBody>
                  <a:tcPr marL="0" marR="0" marT="0" marB="0"/>
                </a:tc>
                <a:tc>
                  <a:txBody>
                    <a:bodyPr/>
                    <a:lstStyle/>
                    <a:p>
                      <a:pPr>
                        <a:lnSpc>
                          <a:spcPct val="100000"/>
                        </a:lnSpc>
                      </a:pPr>
                      <a:endParaRPr sz="2600">
                        <a:latin typeface="Times New Roman" panose="02020603050405020304"/>
                        <a:cs typeface="Times New Roman" panose="02020603050405020304"/>
                      </a:endParaRPr>
                    </a:p>
                  </a:txBody>
                  <a:tcPr marL="0" marR="0" marT="0" marB="0"/>
                </a:tc>
                <a:tc>
                  <a:txBody>
                    <a:bodyPr/>
                    <a:lstStyle/>
                    <a:p>
                      <a:pPr marL="5715" algn="ctr">
                        <a:lnSpc>
                          <a:spcPts val="3200"/>
                        </a:lnSpc>
                      </a:pPr>
                      <a:r>
                        <a:rPr lang="en-US" altLang="zh-CN" sz="2900">
                          <a:latin typeface="Times New Roman" panose="02020603050405020304" charset="0"/>
                          <a:ea typeface="Arial" panose="020B0604020202020204" pitchFamily="34" charset="0"/>
                          <a:cs typeface="Times New Roman" panose="02020603050405020304" charset="0"/>
                        </a:rPr>
                        <a:t>color scheme and clear</a:t>
                      </a:r>
                      <a:endParaRPr lang="en-US" altLang="zh-CN" sz="2900">
                        <a:latin typeface="Times New Roman" panose="02020603050405020304" charset="0"/>
                        <a:ea typeface="Arial" panose="020B0604020202020204" pitchFamily="34" charset="0"/>
                        <a:cs typeface="Times New Roman" panose="02020603050405020304" charset="0"/>
                      </a:endParaRPr>
                    </a:p>
                  </a:txBody>
                  <a:tcPr marL="0" marR="0" marT="0" marB="0"/>
                </a:tc>
              </a:tr>
              <a:tr h="415925">
                <a:tc>
                  <a:txBody>
                    <a:bodyPr/>
                    <a:lstStyle/>
                    <a:p>
                      <a:pPr>
                        <a:lnSpc>
                          <a:spcPct val="100000"/>
                        </a:lnSpc>
                      </a:pPr>
                      <a:endParaRPr sz="2600">
                        <a:latin typeface="Times New Roman" panose="02020603050405020304"/>
                        <a:cs typeface="Times New Roman" panose="02020603050405020304"/>
                      </a:endParaRPr>
                    </a:p>
                  </a:txBody>
                  <a:tcPr marL="0" marR="0" marT="0" marB="0"/>
                </a:tc>
                <a:tc>
                  <a:txBody>
                    <a:bodyPr/>
                    <a:lstStyle/>
                    <a:p>
                      <a:pPr>
                        <a:lnSpc>
                          <a:spcPct val="100000"/>
                        </a:lnSpc>
                      </a:pPr>
                      <a:endParaRPr sz="2600">
                        <a:latin typeface="Times New Roman" panose="02020603050405020304"/>
                        <a:cs typeface="Times New Roman" panose="02020603050405020304"/>
                      </a:endParaRPr>
                    </a:p>
                  </a:txBody>
                  <a:tcPr marL="0" marR="0" marT="0" marB="0"/>
                </a:tc>
                <a:tc>
                  <a:txBody>
                    <a:bodyPr/>
                    <a:lstStyle/>
                    <a:p>
                      <a:pPr marR="65405" algn="ctr">
                        <a:lnSpc>
                          <a:spcPts val="3180"/>
                        </a:lnSpc>
                      </a:pPr>
                      <a:r>
                        <a:rPr lang="en-US" altLang="zh-CN" sz="2900">
                          <a:latin typeface="Times New Roman" panose="02020603050405020304" charset="0"/>
                          <a:ea typeface="Arial" panose="020B0604020202020204" pitchFamily="34" charset="0"/>
                          <a:cs typeface="Times New Roman" panose="02020603050405020304" charset="0"/>
                        </a:rPr>
                        <a:t>visual state indicators.</a:t>
                      </a:r>
                      <a:endParaRPr lang="en-US" altLang="zh-CN" sz="2900">
                        <a:latin typeface="Times New Roman" panose="02020603050405020304" charset="0"/>
                        <a:ea typeface="Arial" panose="020B0604020202020204" pitchFamily="34" charset="0"/>
                        <a:cs typeface="Times New Roman" panose="02020603050405020304" charset="0"/>
                      </a:endParaRPr>
                    </a:p>
                  </a:txBody>
                  <a:tcPr marL="0" marR="0" marT="0" marB="0"/>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1" cstate="print"/>
          <a:stretch>
            <a:fillRect/>
          </a:stretch>
        </p:blipFill>
        <p:spPr>
          <a:xfrm>
            <a:off x="990600" y="2425700"/>
            <a:ext cx="825500" cy="850900"/>
          </a:xfrm>
          <a:prstGeom prst="rect">
            <a:avLst/>
          </a:prstGeom>
        </p:spPr>
      </p:pic>
      <p:pic>
        <p:nvPicPr>
          <p:cNvPr id="3" name="object 3"/>
          <p:cNvPicPr/>
          <p:nvPr/>
        </p:nvPicPr>
        <p:blipFill>
          <a:blip r:embed="rId2" cstate="print"/>
          <a:stretch>
            <a:fillRect/>
          </a:stretch>
        </p:blipFill>
        <p:spPr>
          <a:xfrm>
            <a:off x="6350000" y="2425700"/>
            <a:ext cx="825500" cy="850900"/>
          </a:xfrm>
          <a:prstGeom prst="rect">
            <a:avLst/>
          </a:prstGeom>
        </p:spPr>
      </p:pic>
      <p:pic>
        <p:nvPicPr>
          <p:cNvPr id="4" name="object 4"/>
          <p:cNvPicPr/>
          <p:nvPr/>
        </p:nvPicPr>
        <p:blipFill>
          <a:blip r:embed="rId3" cstate="print"/>
          <a:stretch>
            <a:fillRect/>
          </a:stretch>
        </p:blipFill>
        <p:spPr>
          <a:xfrm>
            <a:off x="11709400" y="2425700"/>
            <a:ext cx="825500" cy="850900"/>
          </a:xfrm>
          <a:prstGeom prst="rect">
            <a:avLst/>
          </a:prstGeom>
        </p:spPr>
      </p:pic>
      <p:sp>
        <p:nvSpPr>
          <p:cNvPr id="5" name="object 5"/>
          <p:cNvSpPr txBox="1">
            <a:spLocks noGrp="1"/>
          </p:cNvSpPr>
          <p:nvPr>
            <p:ph type="title"/>
          </p:nvPr>
        </p:nvSpPr>
        <p:spPr>
          <a:prstGeom prst="rect">
            <a:avLst/>
          </a:prstGeom>
        </p:spPr>
        <p:txBody>
          <a:bodyPr vert="horz" wrap="square" lIns="0" tIns="405623" rIns="0" bIns="0" rtlCol="0">
            <a:spAutoFit/>
          </a:bodyPr>
          <a:lstStyle/>
          <a:p>
            <a:pPr marL="325120">
              <a:lnSpc>
                <a:spcPct val="100000"/>
              </a:lnSpc>
              <a:spcBef>
                <a:spcPts val="105"/>
              </a:spcBef>
            </a:pPr>
            <a:r>
              <a:rPr sz="5550" dirty="0">
                <a:solidFill>
                  <a:srgbClr val="0C0C0C"/>
                </a:solidFill>
              </a:rPr>
              <a:t>Technical</a:t>
            </a:r>
            <a:r>
              <a:rPr sz="5550" spc="65" dirty="0">
                <a:solidFill>
                  <a:srgbClr val="0C0C0C"/>
                </a:solidFill>
              </a:rPr>
              <a:t> </a:t>
            </a:r>
            <a:r>
              <a:rPr sz="5550" dirty="0">
                <a:solidFill>
                  <a:srgbClr val="0E0E0E"/>
                </a:solidFill>
              </a:rPr>
              <a:t>Learnings</a:t>
            </a:r>
            <a:r>
              <a:rPr sz="5550" spc="5" dirty="0">
                <a:solidFill>
                  <a:srgbClr val="0E0E0E"/>
                </a:solidFill>
              </a:rPr>
              <a:t> </a:t>
            </a:r>
            <a:r>
              <a:rPr sz="5550" dirty="0">
                <a:solidFill>
                  <a:srgbClr val="111111"/>
                </a:solidFill>
              </a:rPr>
              <a:t>and</a:t>
            </a:r>
            <a:r>
              <a:rPr sz="5550" spc="-405" dirty="0">
                <a:solidFill>
                  <a:srgbClr val="111111"/>
                </a:solidFill>
              </a:rPr>
              <a:t> </a:t>
            </a:r>
            <a:r>
              <a:rPr sz="5550" spc="110" dirty="0">
                <a:solidFill>
                  <a:srgbClr val="0F0F0F"/>
                </a:solidFill>
              </a:rPr>
              <a:t>Reflections</a:t>
            </a:r>
            <a:endParaRPr sz="5550"/>
          </a:p>
        </p:txBody>
      </p:sp>
      <p:sp>
        <p:nvSpPr>
          <p:cNvPr id="9" name="object 9"/>
          <p:cNvSpPr txBox="1">
            <a:spLocks noGrp="1"/>
          </p:cNvSpPr>
          <p:nvPr>
            <p:ph type="ftr" sz="quarter" idx="5"/>
          </p:nvPr>
        </p:nvSpPr>
        <p:spPr>
          <a:prstGeom prst="rect">
            <a:avLst/>
          </a:prstGeom>
        </p:spPr>
        <p:txBody>
          <a:bodyPr vert="horz" wrap="square" lIns="0" tIns="0" rIns="0" bIns="0" rtlCol="0">
            <a:spAutoFit/>
          </a:bodyPr>
          <a:lstStyle/>
          <a:p>
            <a:pPr marL="12700">
              <a:lnSpc>
                <a:spcPts val="1555"/>
              </a:lnSpc>
            </a:pPr>
            <a:r>
              <a:rPr dirty="0"/>
              <a:t>G</a:t>
            </a:r>
            <a:r>
              <a:rPr spc="490" dirty="0"/>
              <a:t> </a:t>
            </a:r>
            <a:r>
              <a:rPr spc="-10" dirty="0"/>
              <a:t>NotebookLM</a:t>
            </a:r>
            <a:endParaRPr spc="-10" dirty="0"/>
          </a:p>
        </p:txBody>
      </p:sp>
      <p:sp>
        <p:nvSpPr>
          <p:cNvPr id="6" name="object 6"/>
          <p:cNvSpPr txBox="1"/>
          <p:nvPr/>
        </p:nvSpPr>
        <p:spPr>
          <a:xfrm>
            <a:off x="1250756" y="2321277"/>
            <a:ext cx="4499610" cy="6797040"/>
          </a:xfrm>
          <a:prstGeom prst="rect">
            <a:avLst/>
          </a:prstGeom>
        </p:spPr>
        <p:txBody>
          <a:bodyPr vert="horz" wrap="square" lIns="0" tIns="77470" rIns="0" bIns="0" rtlCol="0">
            <a:spAutoFit/>
          </a:bodyPr>
          <a:lstStyle/>
          <a:p>
            <a:pPr marL="796925" marR="1744980">
              <a:lnSpc>
                <a:spcPts val="3700"/>
              </a:lnSpc>
              <a:spcBef>
                <a:spcPts val="610"/>
              </a:spcBef>
            </a:pPr>
            <a:r>
              <a:rPr sz="3450" dirty="0">
                <a:latin typeface="Arial MT"/>
                <a:cs typeface="Arial MT"/>
              </a:rPr>
              <a:t>Rust</a:t>
            </a:r>
            <a:r>
              <a:rPr sz="3450" spc="-215" dirty="0">
                <a:latin typeface="Arial MT"/>
                <a:cs typeface="Arial MT"/>
              </a:rPr>
              <a:t> </a:t>
            </a:r>
            <a:r>
              <a:rPr sz="3450" spc="-20" dirty="0">
                <a:latin typeface="Arial MT"/>
                <a:cs typeface="Arial MT"/>
              </a:rPr>
              <a:t>Core </a:t>
            </a:r>
            <a:r>
              <a:rPr sz="3450" spc="-10" dirty="0">
                <a:latin typeface="Arial MT"/>
                <a:cs typeface="Arial MT"/>
              </a:rPr>
              <a:t>Concepts</a:t>
            </a:r>
            <a:endParaRPr sz="3450">
              <a:latin typeface="Arial MT"/>
              <a:cs typeface="Arial MT"/>
            </a:endParaRPr>
          </a:p>
          <a:p>
            <a:pPr marL="257175" marR="276860" indent="-243840" algn="l" rtl="0" eaLnBrk="1" fontAlgn="auto" latinLnBrk="0" hangingPunct="1">
              <a:lnSpc>
                <a:spcPts val="3000"/>
              </a:lnSpc>
              <a:spcBef>
                <a:spcPts val="600"/>
              </a:spcBef>
              <a:spcAft>
                <a:spcPts val="600"/>
              </a:spcAft>
              <a:buClr>
                <a:srgbClr val="3B82E4"/>
              </a:buClr>
              <a:buSzTx/>
              <a:buFontTx/>
              <a:buChar char="•"/>
              <a:tabLst>
                <a:tab pos="260985" algn="l"/>
              </a:tabLst>
            </a:pPr>
            <a:r>
              <a:rPr kumimoji="0" lang="en-US" altLang="zh-CN" sz="2750" b="0" i="0" u="none" strike="noStrike" kern="0" cap="none" spc="0" normalizeH="0" baseline="0" noProof="1">
                <a:latin typeface="Times New Roman" panose="02020603050405020304" charset="0"/>
                <a:ea typeface="Arial" panose="020B0604020202020204" pitchFamily="34" charset="0"/>
                <a:cs typeface="Times New Roman" panose="02020603050405020304" charset="0"/>
              </a:rPr>
              <a:t>Mastered the ownership 	model to write safe 	concurrent code.</a:t>
            </a:r>
            <a:endParaRPr kumimoji="0" lang="en-US" altLang="zh-CN" sz="2750" b="0" i="0" u="none" strike="noStrike" kern="0" cap="none" spc="0" normalizeH="0" baseline="0" noProof="1">
              <a:latin typeface="Times New Roman" panose="02020603050405020304" charset="0"/>
              <a:ea typeface="Arial" panose="020B0604020202020204" pitchFamily="34" charset="0"/>
              <a:cs typeface="Times New Roman" panose="02020603050405020304" charset="0"/>
            </a:endParaRPr>
          </a:p>
          <a:p>
            <a:pPr marL="257175" marR="276860" indent="-243840" algn="l" rtl="0" eaLnBrk="1" fontAlgn="auto" latinLnBrk="0" hangingPunct="1">
              <a:lnSpc>
                <a:spcPts val="3000"/>
              </a:lnSpc>
              <a:spcBef>
                <a:spcPts val="600"/>
              </a:spcBef>
              <a:spcAft>
                <a:spcPts val="600"/>
              </a:spcAft>
              <a:buClr>
                <a:srgbClr val="3B82E4"/>
              </a:buClr>
              <a:buSzTx/>
              <a:buFontTx/>
              <a:buChar char="•"/>
              <a:tabLst>
                <a:tab pos="260985" algn="l"/>
              </a:tabLst>
            </a:pPr>
            <a:r>
              <a:rPr kumimoji="0" lang="en-US" altLang="zh-CN" sz="2750" b="0" i="0" u="none" strike="noStrike" kern="0" cap="none" spc="0" normalizeH="0" baseline="0" noProof="1">
                <a:latin typeface="Times New Roman" panose="02020603050405020304" charset="0"/>
                <a:ea typeface="Arial" panose="020B0604020202020204" pitchFamily="34" charset="0"/>
                <a:cs typeface="Times New Roman" panose="02020603050405020304" charset="0"/>
              </a:rPr>
              <a:t>	Applied ’Arc” and	Mutex’ for thread-safe shared state, and mpsc	channels for safe message passing between asynchronous tasks.</a:t>
            </a:r>
            <a:endParaRPr kumimoji="0" lang="en-US" altLang="zh-CN" sz="2750" b="0" i="0" u="none" strike="noStrike" kern="0" cap="none" spc="0" normalizeH="0" baseline="0" noProof="1">
              <a:latin typeface="Times New Roman" panose="02020603050405020304" charset="0"/>
              <a:ea typeface="Arial" panose="020B0604020202020204" pitchFamily="34" charset="0"/>
              <a:cs typeface="Times New Roman" panose="02020603050405020304" charset="0"/>
            </a:endParaRPr>
          </a:p>
          <a:p>
            <a:pPr marL="257175" marR="276860" indent="-243840" algn="l" rtl="0" eaLnBrk="1" fontAlgn="auto" latinLnBrk="0" hangingPunct="1">
              <a:lnSpc>
                <a:spcPts val="3000"/>
              </a:lnSpc>
              <a:spcBef>
                <a:spcPts val="600"/>
              </a:spcBef>
              <a:spcAft>
                <a:spcPts val="600"/>
              </a:spcAft>
              <a:buClr>
                <a:srgbClr val="3B82E4"/>
              </a:buClr>
              <a:buSzTx/>
              <a:buFontTx/>
              <a:buChar char="•"/>
              <a:tabLst>
                <a:tab pos="260985" algn="l"/>
              </a:tabLst>
            </a:pPr>
            <a:r>
              <a:rPr kumimoji="0" lang="en-US" altLang="zh-CN" sz="2750" b="0" i="0" u="none" strike="noStrike" kern="0" cap="none" spc="0" normalizeH="0" baseline="0" noProof="1">
                <a:latin typeface="Times New Roman" panose="02020603050405020304" charset="0"/>
                <a:ea typeface="Arial" panose="020B0604020202020204" pitchFamily="34" charset="0"/>
                <a:cs typeface="Times New Roman" panose="02020603050405020304" charset="0"/>
              </a:rPr>
              <a:t>	Gained practical experience with	async/await‘ and the Tokio runtime for building high-performance I/O-bound applications.</a:t>
            </a:r>
            <a:endParaRPr kumimoji="0" lang="en-US" altLang="zh-CN" sz="2750" b="0" i="0" u="none" strike="noStrike" kern="0" cap="none" spc="0" normalizeH="0" baseline="0" noProof="1">
              <a:latin typeface="Times New Roman" panose="02020603050405020304" charset="0"/>
              <a:ea typeface="Arial" panose="020B0604020202020204" pitchFamily="34" charset="0"/>
              <a:cs typeface="Times New Roman" panose="02020603050405020304" charset="0"/>
            </a:endParaRPr>
          </a:p>
        </p:txBody>
      </p:sp>
      <p:sp>
        <p:nvSpPr>
          <p:cNvPr id="7" name="object 7"/>
          <p:cNvSpPr txBox="1"/>
          <p:nvPr/>
        </p:nvSpPr>
        <p:spPr>
          <a:xfrm>
            <a:off x="6648255" y="2321277"/>
            <a:ext cx="4545330" cy="4335145"/>
          </a:xfrm>
          <a:prstGeom prst="rect">
            <a:avLst/>
          </a:prstGeom>
        </p:spPr>
        <p:txBody>
          <a:bodyPr vert="horz" wrap="square" lIns="0" tIns="77470" rIns="0" bIns="0" rtlCol="0">
            <a:spAutoFit/>
          </a:bodyPr>
          <a:lstStyle/>
          <a:p>
            <a:pPr marL="772160" marR="1118870">
              <a:lnSpc>
                <a:spcPts val="3700"/>
              </a:lnSpc>
              <a:spcBef>
                <a:spcPts val="610"/>
              </a:spcBef>
            </a:pPr>
            <a:r>
              <a:rPr sz="3450" spc="-10" dirty="0">
                <a:latin typeface="Arial MT"/>
                <a:cs typeface="Arial MT"/>
              </a:rPr>
              <a:t>Network Programming</a:t>
            </a:r>
            <a:endParaRPr sz="3450">
              <a:latin typeface="Arial MT"/>
              <a:cs typeface="Arial MT"/>
            </a:endParaRPr>
          </a:p>
          <a:p>
            <a:pPr marL="257175" marR="276860" indent="-243840" algn="l" rtl="0" eaLnBrk="1" fontAlgn="auto" latinLnBrk="0" hangingPunct="1">
              <a:lnSpc>
                <a:spcPts val="3000"/>
              </a:lnSpc>
              <a:spcBef>
                <a:spcPts val="600"/>
              </a:spcBef>
              <a:spcAft>
                <a:spcPts val="600"/>
              </a:spcAft>
              <a:buClr>
                <a:srgbClr val="3B82E4"/>
              </a:buClr>
              <a:buSzTx/>
              <a:buFontTx/>
              <a:buChar char="•"/>
              <a:tabLst>
                <a:tab pos="260985" algn="l"/>
              </a:tabLst>
            </a:pPr>
            <a:r>
              <a:rPr kumimoji="0" lang="en-US" altLang="zh-CN" sz="2750" b="0" i="0" u="none" strike="noStrike" kern="0" cap="none" spc="0" normalizeH="0" baseline="0" noProof="1">
                <a:latin typeface="Times New Roman" panose="02020603050405020304" charset="0"/>
                <a:ea typeface="Arial" panose="020B0604020202020204" pitchFamily="34" charset="0"/>
                <a:cs typeface="Times New Roman" panose="02020603050405020304" charset="0"/>
              </a:rPr>
              <a:t>	Implemented both TCP stream processing for stateful connections and a stateless H	PRESTAPIt</a:t>
            </a:r>
            <a:endParaRPr kumimoji="0" lang="en-US" altLang="zh-CN" sz="2750" b="0" i="0" u="none" strike="noStrike" kern="0" cap="none" spc="0" normalizeH="0" baseline="0" noProof="1">
              <a:latin typeface="Times New Roman" panose="02020603050405020304" charset="0"/>
              <a:ea typeface="Arial" panose="020B0604020202020204" pitchFamily="34" charset="0"/>
              <a:cs typeface="Times New Roman" panose="02020603050405020304" charset="0"/>
            </a:endParaRPr>
          </a:p>
          <a:p>
            <a:pPr marL="257175" marR="276860" indent="-243840" algn="l" rtl="0" eaLnBrk="1" fontAlgn="auto" latinLnBrk="0" hangingPunct="1">
              <a:lnSpc>
                <a:spcPts val="3000"/>
              </a:lnSpc>
              <a:spcBef>
                <a:spcPts val="600"/>
              </a:spcBef>
              <a:spcAft>
                <a:spcPts val="600"/>
              </a:spcAft>
              <a:buClr>
                <a:srgbClr val="3B82E4"/>
              </a:buClr>
              <a:buSzTx/>
              <a:buFontTx/>
              <a:buChar char="•"/>
              <a:tabLst>
                <a:tab pos="260985" algn="l"/>
              </a:tabLst>
            </a:pPr>
            <a:r>
              <a:rPr kumimoji="0" lang="en-US" altLang="zh-CN" sz="2750" b="0" i="0" u="none" strike="noStrike" kern="0" cap="none" spc="0" normalizeH="0" baseline="0" noProof="1">
                <a:latin typeface="Times New Roman" panose="02020603050405020304" charset="0"/>
                <a:ea typeface="Arial" panose="020B0604020202020204" pitchFamily="34" charset="0"/>
                <a:cs typeface="Times New Roman" panose="02020603050405020304" charset="0"/>
              </a:rPr>
              <a:t>	Understood the trade-offs in protocol design (e.g., JSON's verbosity vs. ease of use).</a:t>
            </a:r>
            <a:endParaRPr kumimoji="0" lang="en-US" altLang="zh-CN" sz="2750" b="0" i="0" u="none" strike="noStrike" kern="0" cap="none" spc="0" normalizeH="0" baseline="0" noProof="1">
              <a:latin typeface="Times New Roman" panose="02020603050405020304" charset="0"/>
              <a:ea typeface="Arial" panose="020B0604020202020204" pitchFamily="34" charset="0"/>
              <a:cs typeface="Times New Roman" panose="02020603050405020304" charset="0"/>
            </a:endParaRPr>
          </a:p>
        </p:txBody>
      </p:sp>
      <p:sp>
        <p:nvSpPr>
          <p:cNvPr id="8" name="object 8"/>
          <p:cNvSpPr txBox="1"/>
          <p:nvPr/>
        </p:nvSpPr>
        <p:spPr>
          <a:xfrm>
            <a:off x="11994955" y="2321277"/>
            <a:ext cx="4022090" cy="4719320"/>
          </a:xfrm>
          <a:prstGeom prst="rect">
            <a:avLst/>
          </a:prstGeom>
        </p:spPr>
        <p:txBody>
          <a:bodyPr vert="horz" wrap="square" lIns="0" tIns="77470" rIns="0" bIns="0" rtlCol="0">
            <a:spAutoFit/>
          </a:bodyPr>
          <a:lstStyle/>
          <a:p>
            <a:pPr marL="784225" marR="876300" indent="1905">
              <a:lnSpc>
                <a:spcPts val="3700"/>
              </a:lnSpc>
              <a:spcBef>
                <a:spcPts val="610"/>
              </a:spcBef>
            </a:pPr>
            <a:r>
              <a:rPr sz="3450" spc="-10" dirty="0">
                <a:latin typeface="Arial MT"/>
                <a:cs typeface="Arial MT"/>
              </a:rPr>
              <a:t>SoRware Engineering</a:t>
            </a:r>
            <a:endParaRPr sz="3450">
              <a:latin typeface="Arial MT"/>
              <a:cs typeface="Arial MT"/>
            </a:endParaRPr>
          </a:p>
          <a:p>
            <a:pPr marL="257175" marR="276860" indent="-243840" algn="l" rtl="0" eaLnBrk="1" fontAlgn="auto" latinLnBrk="0" hangingPunct="1">
              <a:lnSpc>
                <a:spcPts val="3000"/>
              </a:lnSpc>
              <a:spcBef>
                <a:spcPts val="600"/>
              </a:spcBef>
              <a:spcAft>
                <a:spcPts val="600"/>
              </a:spcAft>
              <a:buClr>
                <a:srgbClr val="3B82E4"/>
              </a:buClr>
              <a:buSzTx/>
              <a:buFontTx/>
              <a:buChar char="•"/>
              <a:tabLst>
                <a:tab pos="260985" algn="l"/>
              </a:tabLst>
            </a:pPr>
            <a:r>
              <a:rPr sz="2850" dirty="0">
                <a:solidFill>
                  <a:srgbClr val="3F82D4"/>
                </a:solidFill>
                <a:latin typeface="Arial MT"/>
                <a:cs typeface="Arial MT"/>
              </a:rPr>
              <a:t>	</a:t>
            </a:r>
            <a:r>
              <a:rPr kumimoji="0" lang="en-US" altLang="zh-CN" sz="2750" b="0" i="0" u="none" strike="noStrike" kern="0" cap="none" spc="0" normalizeH="0" baseline="0" noProof="1">
                <a:latin typeface="Times New Roman" panose="02020603050405020304" charset="0"/>
                <a:ea typeface="Arial" panose="020B0604020202020204" pitchFamily="34" charset="0"/>
                <a:cs typeface="Times New Roman" panose="02020603050405020304" charset="0"/>
              </a:rPr>
              <a:t>Designed a modular, multi- component system using Cargo workspaces.</a:t>
            </a:r>
            <a:endParaRPr kumimoji="0" lang="en-US" altLang="zh-CN" sz="2750" b="0" i="0" u="none" strike="noStrike" kern="0" cap="none" spc="0" normalizeH="0" baseline="0" noProof="1">
              <a:latin typeface="Times New Roman" panose="02020603050405020304" charset="0"/>
              <a:ea typeface="Arial" panose="020B0604020202020204" pitchFamily="34" charset="0"/>
              <a:cs typeface="Times New Roman" panose="02020603050405020304" charset="0"/>
            </a:endParaRPr>
          </a:p>
          <a:p>
            <a:pPr marL="257175" marR="276860" indent="-243840" algn="l" rtl="0" eaLnBrk="1" fontAlgn="auto" latinLnBrk="0" hangingPunct="1">
              <a:lnSpc>
                <a:spcPts val="3000"/>
              </a:lnSpc>
              <a:spcBef>
                <a:spcPts val="600"/>
              </a:spcBef>
              <a:spcAft>
                <a:spcPts val="600"/>
              </a:spcAft>
              <a:buClr>
                <a:srgbClr val="3B82E4"/>
              </a:buClr>
              <a:buSzTx/>
              <a:buFontTx/>
              <a:buChar char="•"/>
              <a:tabLst>
                <a:tab pos="260985" algn="l"/>
              </a:tabLst>
            </a:pPr>
            <a:r>
              <a:rPr kumimoji="0" lang="en-US" altLang="zh-CN" sz="2750" b="0" i="0" u="none" strike="noStrike" kern="0" cap="none" spc="0" normalizeH="0" baseline="0" noProof="1">
                <a:latin typeface="Times New Roman" panose="02020603050405020304" charset="0"/>
                <a:ea typeface="Arial" panose="020B0604020202020204" pitchFamily="34" charset="0"/>
                <a:cs typeface="Times New Roman" panose="02020603050405020304" charset="0"/>
              </a:rPr>
              <a:t>	Applied the principle of front-end/back-end separation for a clean and maintainable architecture.</a:t>
            </a:r>
            <a:endParaRPr kumimoji="0" lang="en-US" altLang="zh-CN" sz="2750" b="0" i="0" u="none" strike="noStrike" kern="0" cap="none" spc="0" normalizeH="0" baseline="0" noProof="1">
              <a:latin typeface="Times New Roman" panose="02020603050405020304" charset="0"/>
              <a:ea typeface="Arial" panose="020B0604020202020204" pitchFamily="34" charset="0"/>
              <a:cs typeface="Times New Roman" panose="02020603050405020304"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1" cstate="print"/>
          <a:stretch>
            <a:fillRect/>
          </a:stretch>
        </p:blipFill>
        <p:spPr>
          <a:xfrm>
            <a:off x="3873500" y="3924300"/>
            <a:ext cx="3416300" cy="2197100"/>
          </a:xfrm>
          <a:prstGeom prst="rect">
            <a:avLst/>
          </a:prstGeom>
        </p:spPr>
      </p:pic>
      <p:pic>
        <p:nvPicPr>
          <p:cNvPr id="4" name="object 4"/>
          <p:cNvPicPr/>
          <p:nvPr/>
        </p:nvPicPr>
        <p:blipFill>
          <a:blip r:embed="rId2" cstate="print"/>
          <a:stretch>
            <a:fillRect/>
          </a:stretch>
        </p:blipFill>
        <p:spPr>
          <a:xfrm>
            <a:off x="10160000" y="5638800"/>
            <a:ext cx="3454400" cy="1993900"/>
          </a:xfrm>
          <a:prstGeom prst="rect">
            <a:avLst/>
          </a:prstGeom>
        </p:spPr>
      </p:pic>
      <p:sp>
        <p:nvSpPr>
          <p:cNvPr id="5" name="object 5"/>
          <p:cNvSpPr txBox="1">
            <a:spLocks noGrp="1"/>
          </p:cNvSpPr>
          <p:nvPr>
            <p:ph type="title"/>
          </p:nvPr>
        </p:nvSpPr>
        <p:spPr>
          <a:prstGeom prst="rect">
            <a:avLst/>
          </a:prstGeom>
        </p:spPr>
        <p:txBody>
          <a:bodyPr vert="horz" wrap="square" lIns="0" tIns="481894" rIns="0" bIns="0" rtlCol="0">
            <a:spAutoFit/>
          </a:bodyPr>
          <a:lstStyle/>
          <a:p>
            <a:pPr marL="342265">
              <a:lnSpc>
                <a:spcPct val="100000"/>
              </a:lnSpc>
              <a:spcBef>
                <a:spcPts val="125"/>
              </a:spcBef>
            </a:pPr>
            <a:r>
              <a:rPr sz="4350" spc="-180" dirty="0">
                <a:solidFill>
                  <a:srgbClr val="262626"/>
                </a:solidFill>
              </a:rPr>
              <a:t>A</a:t>
            </a:r>
            <a:r>
              <a:rPr sz="4350" spc="-240" dirty="0">
                <a:solidFill>
                  <a:srgbClr val="262626"/>
                </a:solidFill>
              </a:rPr>
              <a:t> </a:t>
            </a:r>
            <a:r>
              <a:rPr sz="4350" spc="95" dirty="0">
                <a:solidFill>
                  <a:srgbClr val="212121"/>
                </a:solidFill>
              </a:rPr>
              <a:t>System</a:t>
            </a:r>
            <a:r>
              <a:rPr sz="4350" spc="-114" dirty="0">
                <a:solidFill>
                  <a:srgbClr val="212121"/>
                </a:solidFill>
              </a:rPr>
              <a:t> </a:t>
            </a:r>
            <a:r>
              <a:rPr sz="4350" spc="120" dirty="0">
                <a:solidFill>
                  <a:srgbClr val="212121"/>
                </a:solidFill>
              </a:rPr>
              <a:t>of</a:t>
            </a:r>
            <a:r>
              <a:rPr sz="4350" spc="-40" dirty="0">
                <a:solidFill>
                  <a:srgbClr val="212121"/>
                </a:solidFill>
              </a:rPr>
              <a:t> </a:t>
            </a:r>
            <a:r>
              <a:rPr sz="4350" spc="105" dirty="0">
                <a:solidFill>
                  <a:srgbClr val="1D1D1D"/>
                </a:solidFill>
              </a:rPr>
              <a:t>Systems:</a:t>
            </a:r>
            <a:r>
              <a:rPr sz="4350" spc="-15" dirty="0">
                <a:solidFill>
                  <a:srgbClr val="1D1D1D"/>
                </a:solidFill>
              </a:rPr>
              <a:t> </a:t>
            </a:r>
            <a:r>
              <a:rPr sz="4350" spc="70" dirty="0">
                <a:solidFill>
                  <a:srgbClr val="212121"/>
                </a:solidFill>
              </a:rPr>
              <a:t>Where</a:t>
            </a:r>
            <a:r>
              <a:rPr sz="4350" dirty="0">
                <a:solidFill>
                  <a:srgbClr val="212121"/>
                </a:solidFill>
              </a:rPr>
              <a:t> </a:t>
            </a:r>
            <a:r>
              <a:rPr sz="4350" spc="185" dirty="0">
                <a:solidFill>
                  <a:srgbClr val="1F1F1F"/>
                </a:solidFill>
              </a:rPr>
              <a:t>Architecture</a:t>
            </a:r>
            <a:r>
              <a:rPr sz="4350" spc="-5" dirty="0">
                <a:solidFill>
                  <a:srgbClr val="1F1F1F"/>
                </a:solidFill>
              </a:rPr>
              <a:t> </a:t>
            </a:r>
            <a:r>
              <a:rPr sz="4350" spc="125" dirty="0">
                <a:solidFill>
                  <a:srgbClr val="232323"/>
                </a:solidFill>
              </a:rPr>
              <a:t>Defines</a:t>
            </a:r>
            <a:r>
              <a:rPr sz="4350" spc="-340" dirty="0">
                <a:solidFill>
                  <a:srgbClr val="232323"/>
                </a:solidFill>
              </a:rPr>
              <a:t> </a:t>
            </a:r>
            <a:r>
              <a:rPr sz="4350" spc="150" dirty="0">
                <a:solidFill>
                  <a:srgbClr val="212121"/>
                </a:solidFill>
              </a:rPr>
              <a:t>Function</a:t>
            </a:r>
            <a:endParaRPr sz="4350"/>
          </a:p>
        </p:txBody>
      </p:sp>
      <p:sp>
        <p:nvSpPr>
          <p:cNvPr id="14" name="object 14"/>
          <p:cNvSpPr txBox="1">
            <a:spLocks noGrp="1"/>
          </p:cNvSpPr>
          <p:nvPr>
            <p:ph type="ftr" sz="quarter" idx="5"/>
          </p:nvPr>
        </p:nvSpPr>
        <p:spPr>
          <a:prstGeom prst="rect">
            <a:avLst/>
          </a:prstGeom>
        </p:spPr>
        <p:txBody>
          <a:bodyPr vert="horz" wrap="square" lIns="0" tIns="0" rIns="0" bIns="0" rtlCol="0">
            <a:spAutoFit/>
          </a:bodyPr>
          <a:lstStyle/>
          <a:p>
            <a:pPr marL="12700">
              <a:lnSpc>
                <a:spcPts val="1555"/>
              </a:lnSpc>
            </a:pPr>
            <a:r>
              <a:rPr dirty="0"/>
              <a:t>G</a:t>
            </a:r>
            <a:r>
              <a:rPr spc="490" dirty="0"/>
              <a:t> </a:t>
            </a:r>
            <a:r>
              <a:rPr spc="-10" dirty="0"/>
              <a:t>NotebookLM</a:t>
            </a:r>
            <a:endParaRPr spc="-10" dirty="0"/>
          </a:p>
        </p:txBody>
      </p:sp>
      <p:sp>
        <p:nvSpPr>
          <p:cNvPr id="6" name="object 6"/>
          <p:cNvSpPr txBox="1"/>
          <p:nvPr/>
        </p:nvSpPr>
        <p:spPr>
          <a:xfrm>
            <a:off x="968184" y="1941336"/>
            <a:ext cx="15403830" cy="1445895"/>
          </a:xfrm>
          <a:prstGeom prst="rect">
            <a:avLst/>
          </a:prstGeom>
        </p:spPr>
        <p:txBody>
          <a:bodyPr vert="horz" wrap="square" lIns="0" tIns="60960" rIns="0" bIns="0" rtlCol="0">
            <a:spAutoFit/>
          </a:bodyPr>
          <a:lstStyle/>
          <a:p>
            <a:pPr marL="18415" marR="5080" indent="-6350">
              <a:lnSpc>
                <a:spcPts val="3600"/>
              </a:lnSpc>
              <a:spcBef>
                <a:spcPts val="480"/>
              </a:spcBef>
            </a:pPr>
            <a:r>
              <a:rPr kumimoji="0" lang="en-US" altLang="zh-CN" sz="3600" b="0" i="0" u="none" strike="noStrike" kern="0" cap="none" spc="0" normalizeH="0" baseline="0" noProof="1">
                <a:latin typeface="Times New Roman" panose="02020603050405020304" charset="0"/>
                <a:ea typeface="Arial" panose="020B0604020202020204" pitchFamily="34" charset="0"/>
                <a:cs typeface="Times New Roman" panose="02020603050405020304" charset="0"/>
              </a:rPr>
              <a:t>This project is more than a drone simulator; it is a demonstration of how distinct architectural decisions—a simple protocol, a non-blocking server core, and a decoupled UI—integrate to form a robust, functional, and scalable system.</a:t>
            </a:r>
            <a:endParaRPr sz="3250">
              <a:latin typeface="Arial MT"/>
              <a:cs typeface="Arial MT"/>
            </a:endParaRPr>
          </a:p>
        </p:txBody>
      </p:sp>
      <p:sp>
        <p:nvSpPr>
          <p:cNvPr id="7" name="object 7"/>
          <p:cNvSpPr txBox="1"/>
          <p:nvPr/>
        </p:nvSpPr>
        <p:spPr>
          <a:xfrm>
            <a:off x="1775460" y="5459095"/>
            <a:ext cx="1524000" cy="985520"/>
          </a:xfrm>
          <a:prstGeom prst="rect">
            <a:avLst/>
          </a:prstGeom>
        </p:spPr>
        <p:txBody>
          <a:bodyPr vert="horz" wrap="square" lIns="0" tIns="13970" rIns="0" bIns="0" rtlCol="0">
            <a:spAutoFit/>
          </a:bodyPr>
          <a:lstStyle/>
          <a:p>
            <a:pPr marL="37465" algn="ctr">
              <a:lnSpc>
                <a:spcPts val="3700"/>
              </a:lnSpc>
              <a:spcBef>
                <a:spcPts val="110"/>
              </a:spcBef>
            </a:pPr>
            <a:r>
              <a:rPr kumimoji="0" lang="en-US" altLang="zh-CN" sz="3600" b="0" i="0" u="none" strike="noStrike" kern="0" cap="none" spc="0" normalizeH="0" baseline="0" noProof="1">
                <a:latin typeface="Times New Roman" panose="02020603050405020304" charset="0"/>
                <a:ea typeface="Arial" panose="020B0604020202020204" pitchFamily="34" charset="0"/>
                <a:cs typeface="Times New Roman" panose="02020603050405020304" charset="0"/>
              </a:rPr>
              <a:t>GUI</a:t>
            </a:r>
            <a:endParaRPr kumimoji="0" lang="en-US" altLang="zh-CN" sz="3600" b="0" i="0" u="none" strike="noStrike" kern="0" cap="none" spc="0" normalizeH="0" baseline="0" noProof="1">
              <a:latin typeface="Times New Roman" panose="02020603050405020304" charset="0"/>
              <a:ea typeface="Arial" panose="020B0604020202020204" pitchFamily="34" charset="0"/>
              <a:cs typeface="Times New Roman" panose="02020603050405020304" charset="0"/>
            </a:endParaRPr>
          </a:p>
          <a:p>
            <a:pPr algn="ctr">
              <a:lnSpc>
                <a:spcPts val="3880"/>
              </a:lnSpc>
            </a:pPr>
            <a:r>
              <a:rPr kumimoji="0" lang="en-US" altLang="zh-CN" sz="3600" b="0" i="0" u="none" strike="noStrike" kern="0" cap="none" spc="0" normalizeH="0" baseline="0" noProof="1">
                <a:latin typeface="Times New Roman" panose="02020603050405020304" charset="0"/>
                <a:ea typeface="Arial" panose="020B0604020202020204" pitchFamily="34" charset="0"/>
                <a:cs typeface="Times New Roman" panose="02020603050405020304" charset="0"/>
              </a:rPr>
              <a:t>(Client)</a:t>
            </a:r>
            <a:endParaRPr sz="3400">
              <a:latin typeface="Trebuchet MS" panose="020B0603020202020204"/>
              <a:cs typeface="Trebuchet MS" panose="020B0603020202020204"/>
            </a:endParaRPr>
          </a:p>
        </p:txBody>
      </p:sp>
      <p:sp>
        <p:nvSpPr>
          <p:cNvPr id="8" name="object 8"/>
          <p:cNvSpPr txBox="1"/>
          <p:nvPr/>
        </p:nvSpPr>
        <p:spPr>
          <a:xfrm>
            <a:off x="4213373" y="4005791"/>
            <a:ext cx="2740025" cy="829945"/>
          </a:xfrm>
          <a:prstGeom prst="rect">
            <a:avLst/>
          </a:prstGeom>
        </p:spPr>
        <p:txBody>
          <a:bodyPr vert="horz" wrap="square" lIns="0" tIns="13335" rIns="0" bIns="0" rtlCol="0">
            <a:spAutoFit/>
          </a:bodyPr>
          <a:lstStyle/>
          <a:p>
            <a:pPr algn="ctr">
              <a:lnSpc>
                <a:spcPts val="3095"/>
              </a:lnSpc>
              <a:spcBef>
                <a:spcPts val="105"/>
              </a:spcBef>
            </a:pPr>
            <a:r>
              <a:rPr sz="2400" spc="-85" dirty="0">
                <a:latin typeface="Trebuchet MS" panose="020B0603020202020204"/>
                <a:cs typeface="Trebuchet MS" panose="020B0603020202020204"/>
              </a:rPr>
              <a:t>The</a:t>
            </a:r>
            <a:r>
              <a:rPr sz="2400" spc="-300" dirty="0">
                <a:latin typeface="Trebuchet MS" panose="020B0603020202020204"/>
                <a:cs typeface="Trebuchet MS" panose="020B0603020202020204"/>
              </a:rPr>
              <a:t> </a:t>
            </a:r>
            <a:r>
              <a:rPr sz="2400" spc="-80" dirty="0">
                <a:latin typeface="Trebuchet MS" panose="020B0603020202020204"/>
                <a:cs typeface="Trebuchet MS" panose="020B0603020202020204"/>
              </a:rPr>
              <a:t>Real-</a:t>
            </a:r>
            <a:r>
              <a:rPr sz="2400" spc="-95" dirty="0">
                <a:latin typeface="Trebuchet MS" panose="020B0603020202020204"/>
                <a:cs typeface="Trebuchet MS" panose="020B0603020202020204"/>
              </a:rPr>
              <a:t>Time</a:t>
            </a:r>
            <a:r>
              <a:rPr sz="2400" spc="-85" dirty="0">
                <a:latin typeface="Trebuchet MS" panose="020B0603020202020204"/>
                <a:cs typeface="Trebuchet MS" panose="020B0603020202020204"/>
              </a:rPr>
              <a:t> </a:t>
            </a:r>
            <a:r>
              <a:rPr sz="2400" spc="-25" dirty="0">
                <a:latin typeface="Trebuchet MS" panose="020B0603020202020204"/>
                <a:cs typeface="Trebuchet MS" panose="020B0603020202020204"/>
              </a:rPr>
              <a:t>GUI</a:t>
            </a:r>
            <a:endParaRPr sz="2400">
              <a:latin typeface="Trebuchet MS" panose="020B0603020202020204"/>
              <a:cs typeface="Trebuchet MS" panose="020B0603020202020204"/>
            </a:endParaRPr>
          </a:p>
          <a:p>
            <a:pPr marR="41275" algn="ctr">
              <a:lnSpc>
                <a:spcPts val="3275"/>
              </a:lnSpc>
            </a:pPr>
            <a:r>
              <a:rPr sz="2400" spc="-55" dirty="0">
                <a:latin typeface="Trebuchet MS" panose="020B0603020202020204"/>
                <a:cs typeface="Trebuchet MS" panose="020B0603020202020204"/>
              </a:rPr>
              <a:t>Architecture</a:t>
            </a:r>
            <a:endParaRPr sz="2400">
              <a:latin typeface="Trebuchet MS" panose="020B0603020202020204"/>
              <a:cs typeface="Trebuchet MS" panose="020B0603020202020204"/>
            </a:endParaRPr>
          </a:p>
        </p:txBody>
      </p:sp>
      <p:sp>
        <p:nvSpPr>
          <p:cNvPr id="9" name="object 9"/>
          <p:cNvSpPr txBox="1"/>
          <p:nvPr/>
        </p:nvSpPr>
        <p:spPr>
          <a:xfrm>
            <a:off x="5309182" y="5445125"/>
            <a:ext cx="549275" cy="501650"/>
          </a:xfrm>
          <a:prstGeom prst="rect">
            <a:avLst/>
          </a:prstGeom>
        </p:spPr>
        <p:txBody>
          <a:bodyPr vert="horz" wrap="square" lIns="0" tIns="15875" rIns="0" bIns="0" rtlCol="0">
            <a:spAutoFit/>
          </a:bodyPr>
          <a:lstStyle/>
          <a:p>
            <a:pPr marL="12700">
              <a:lnSpc>
                <a:spcPct val="100000"/>
              </a:lnSpc>
              <a:spcBef>
                <a:spcPts val="125"/>
              </a:spcBef>
            </a:pPr>
            <a:r>
              <a:rPr sz="3100" spc="-330" dirty="0">
                <a:latin typeface="Arial MT"/>
                <a:cs typeface="Arial MT"/>
              </a:rPr>
              <a:t>API</a:t>
            </a:r>
            <a:endParaRPr sz="3100">
              <a:latin typeface="Arial MT"/>
              <a:cs typeface="Arial MT"/>
            </a:endParaRPr>
          </a:p>
        </p:txBody>
      </p:sp>
      <p:sp>
        <p:nvSpPr>
          <p:cNvPr id="10" name="object 10"/>
          <p:cNvSpPr txBox="1"/>
          <p:nvPr/>
        </p:nvSpPr>
        <p:spPr>
          <a:xfrm>
            <a:off x="7565390" y="5450205"/>
            <a:ext cx="2112010" cy="985520"/>
          </a:xfrm>
          <a:prstGeom prst="rect">
            <a:avLst/>
          </a:prstGeom>
        </p:spPr>
        <p:txBody>
          <a:bodyPr vert="horz" wrap="square" lIns="0" tIns="16510" rIns="0" bIns="0" rtlCol="0">
            <a:spAutoFit/>
          </a:bodyPr>
          <a:lstStyle/>
          <a:p>
            <a:pPr algn="ctr">
              <a:lnSpc>
                <a:spcPts val="3930"/>
              </a:lnSpc>
              <a:spcBef>
                <a:spcPts val="130"/>
              </a:spcBef>
            </a:pPr>
            <a:r>
              <a:rPr kumimoji="0" lang="en-US" altLang="zh-CN" sz="3600" b="0" i="0" u="none" strike="noStrike" kern="0" cap="none" spc="0" normalizeH="0" baseline="0" noProof="1">
                <a:latin typeface="Times New Roman" panose="02020603050405020304" charset="0"/>
                <a:ea typeface="Arial" panose="020B0604020202020204" pitchFamily="34" charset="0"/>
                <a:cs typeface="Times New Roman" panose="02020603050405020304" charset="0"/>
              </a:rPr>
              <a:t>Command</a:t>
            </a:r>
            <a:endParaRPr kumimoji="0" lang="en-US" altLang="zh-CN" sz="3600" b="0" i="0" u="none" strike="noStrike" kern="0" cap="none" spc="0" normalizeH="0" baseline="0" noProof="1">
              <a:latin typeface="Times New Roman" panose="02020603050405020304" charset="0"/>
              <a:ea typeface="Arial" panose="020B0604020202020204" pitchFamily="34" charset="0"/>
              <a:cs typeface="Times New Roman" panose="02020603050405020304" charset="0"/>
            </a:endParaRPr>
          </a:p>
          <a:p>
            <a:pPr algn="ctr">
              <a:lnSpc>
                <a:spcPts val="3630"/>
              </a:lnSpc>
            </a:pPr>
            <a:r>
              <a:rPr kumimoji="0" lang="en-US" altLang="zh-CN" sz="3600" b="0" i="0" u="none" strike="noStrike" kern="0" cap="none" spc="0" normalizeH="0" baseline="0" noProof="1">
                <a:latin typeface="Times New Roman" panose="02020603050405020304" charset="0"/>
                <a:ea typeface="Arial" panose="020B0604020202020204" pitchFamily="34" charset="0"/>
                <a:cs typeface="Times New Roman" panose="02020603050405020304" charset="0"/>
              </a:rPr>
              <a:t>Server</a:t>
            </a:r>
            <a:endParaRPr kumimoji="0" lang="en-US" altLang="zh-CN" sz="3600" b="0" i="0" u="none" strike="noStrike" kern="0" cap="none" spc="0" normalizeH="0" baseline="0" noProof="1">
              <a:latin typeface="Times New Roman" panose="02020603050405020304" charset="0"/>
              <a:ea typeface="Arial" panose="020B0604020202020204" pitchFamily="34" charset="0"/>
              <a:cs typeface="Times New Roman" panose="02020603050405020304" charset="0"/>
            </a:endParaRPr>
          </a:p>
        </p:txBody>
      </p:sp>
      <p:sp>
        <p:nvSpPr>
          <p:cNvPr id="11" name="object 11"/>
          <p:cNvSpPr txBox="1"/>
          <p:nvPr/>
        </p:nvSpPr>
        <p:spPr>
          <a:xfrm>
            <a:off x="9910445" y="3988435"/>
            <a:ext cx="3600450" cy="854075"/>
          </a:xfrm>
          <a:prstGeom prst="rect">
            <a:avLst/>
          </a:prstGeom>
        </p:spPr>
        <p:txBody>
          <a:bodyPr vert="horz" wrap="square" lIns="0" tIns="59055" rIns="0" bIns="0" rtlCol="0">
            <a:spAutoFit/>
          </a:bodyPr>
          <a:lstStyle/>
          <a:p>
            <a:pPr marL="17145" marR="5080" indent="-5080">
              <a:lnSpc>
                <a:spcPts val="3100"/>
              </a:lnSpc>
              <a:spcBef>
                <a:spcPts val="465"/>
              </a:spcBef>
            </a:pPr>
            <a:r>
              <a:rPr kumimoji="0" lang="en-US" altLang="zh-CN" sz="3600" b="0" i="0" u="none" strike="noStrike" kern="0" cap="none" spc="0" normalizeH="0" baseline="0" noProof="1">
                <a:latin typeface="Times New Roman" panose="02020603050405020304" charset="0"/>
                <a:ea typeface="Arial" panose="020B0604020202020204" pitchFamily="34" charset="0"/>
                <a:cs typeface="Times New Roman" panose="02020603050405020304" charset="0"/>
              </a:rPr>
              <a:t>The Asynchronous Server Core</a:t>
            </a:r>
            <a:endParaRPr kumimoji="0" lang="en-US" altLang="zh-CN" sz="3600" b="0" i="0" u="none" strike="noStrike" kern="0" cap="none" spc="0" normalizeH="0" baseline="0" noProof="1">
              <a:latin typeface="Times New Roman" panose="02020603050405020304" charset="0"/>
              <a:ea typeface="Arial" panose="020B0604020202020204" pitchFamily="34" charset="0"/>
              <a:cs typeface="Times New Roman" panose="02020603050405020304" charset="0"/>
            </a:endParaRPr>
          </a:p>
        </p:txBody>
      </p:sp>
      <p:sp>
        <p:nvSpPr>
          <p:cNvPr id="12" name="object 12"/>
          <p:cNvSpPr txBox="1"/>
          <p:nvPr/>
        </p:nvSpPr>
        <p:spPr>
          <a:xfrm>
            <a:off x="967771" y="6681610"/>
            <a:ext cx="15104744" cy="2306320"/>
          </a:xfrm>
          <a:prstGeom prst="rect">
            <a:avLst/>
          </a:prstGeom>
        </p:spPr>
        <p:txBody>
          <a:bodyPr vert="horz" wrap="square" lIns="0" tIns="62865" rIns="0" bIns="0" rtlCol="0">
            <a:spAutoFit/>
          </a:bodyPr>
          <a:lstStyle/>
          <a:p>
            <a:pPr marL="10360025" marR="2803525" indent="-795020">
              <a:lnSpc>
                <a:spcPts val="2800"/>
              </a:lnSpc>
              <a:spcBef>
                <a:spcPts val="495"/>
              </a:spcBef>
            </a:pPr>
            <a:r>
              <a:rPr sz="2600" spc="-190" dirty="0">
                <a:latin typeface="Arial MT"/>
                <a:cs typeface="Arial MT"/>
              </a:rPr>
              <a:t>The</a:t>
            </a:r>
            <a:r>
              <a:rPr sz="2600" spc="-229" dirty="0">
                <a:latin typeface="Arial MT"/>
                <a:cs typeface="Arial MT"/>
              </a:rPr>
              <a:t> </a:t>
            </a:r>
            <a:r>
              <a:rPr sz="2600" spc="-90" dirty="0">
                <a:latin typeface="Arial MT"/>
                <a:cs typeface="Arial MT"/>
              </a:rPr>
              <a:t>Communication </a:t>
            </a:r>
            <a:r>
              <a:rPr sz="2600" spc="-10" dirty="0">
                <a:latin typeface="Arial MT"/>
                <a:cs typeface="Arial MT"/>
              </a:rPr>
              <a:t>Protocol</a:t>
            </a:r>
            <a:endParaRPr sz="2600">
              <a:latin typeface="Arial MT"/>
              <a:cs typeface="Arial MT"/>
            </a:endParaRPr>
          </a:p>
          <a:p>
            <a:pPr>
              <a:lnSpc>
                <a:spcPct val="100000"/>
              </a:lnSpc>
              <a:spcBef>
                <a:spcPts val="1570"/>
              </a:spcBef>
            </a:pPr>
            <a:endParaRPr sz="2600">
              <a:latin typeface="Arial MT"/>
              <a:cs typeface="Arial MT"/>
            </a:endParaRPr>
          </a:p>
          <a:p>
            <a:pPr marL="18415" marR="5080" indent="-6350">
              <a:lnSpc>
                <a:spcPts val="3600"/>
              </a:lnSpc>
              <a:spcBef>
                <a:spcPts val="5"/>
              </a:spcBef>
            </a:pPr>
            <a:r>
              <a:rPr kumimoji="0" lang="en-US" altLang="zh-CN" sz="3600" b="0" i="0" u="none" strike="noStrike" kern="0" cap="none" spc="0" normalizeH="0" baseline="0" noProof="1">
                <a:latin typeface="Times New Roman" panose="02020603050405020304" charset="0"/>
                <a:ea typeface="Arial" panose="020B0604020202020204" pitchFamily="34" charset="0"/>
                <a:cs typeface="Times New Roman" panose="02020603050405020304" charset="0"/>
              </a:rPr>
              <a:t>The final implementation is a direct reflection of these foundational choices, showcasing a complete cycle from system design theory to practical application.</a:t>
            </a:r>
            <a:endParaRPr kumimoji="0" lang="en-US" altLang="zh-CN" sz="3600" b="0" i="0" u="none" strike="noStrike" kern="0" cap="none" spc="0" normalizeH="0" baseline="0" noProof="1">
              <a:latin typeface="Times New Roman" panose="02020603050405020304" charset="0"/>
              <a:ea typeface="Arial" panose="020B0604020202020204" pitchFamily="34" charset="0"/>
              <a:cs typeface="Times New Roman" panose="02020603050405020304" charset="0"/>
            </a:endParaRPr>
          </a:p>
        </p:txBody>
      </p:sp>
      <p:sp>
        <p:nvSpPr>
          <p:cNvPr id="13" name="object 13"/>
          <p:cNvSpPr txBox="1"/>
          <p:nvPr/>
        </p:nvSpPr>
        <p:spPr>
          <a:xfrm>
            <a:off x="14232890" y="5459095"/>
            <a:ext cx="1961515" cy="999490"/>
          </a:xfrm>
          <a:prstGeom prst="rect">
            <a:avLst/>
          </a:prstGeom>
        </p:spPr>
        <p:txBody>
          <a:bodyPr vert="horz" wrap="square" lIns="0" tIns="50800" rIns="0" bIns="0" rtlCol="0">
            <a:spAutoFit/>
          </a:bodyPr>
          <a:lstStyle/>
          <a:p>
            <a:pPr marL="12700" marR="5080" indent="290195">
              <a:lnSpc>
                <a:spcPts val="3700"/>
              </a:lnSpc>
              <a:spcBef>
                <a:spcPts val="400"/>
              </a:spcBef>
            </a:pPr>
            <a:r>
              <a:rPr kumimoji="0" lang="en-US" altLang="zh-CN" sz="3600" b="0" i="0" u="none" strike="noStrike" kern="0" cap="none" spc="0" normalizeH="0" baseline="0" noProof="1">
                <a:latin typeface="Times New Roman" panose="02020603050405020304" charset="0"/>
                <a:ea typeface="Arial" panose="020B0604020202020204" pitchFamily="34" charset="0"/>
                <a:cs typeface="Times New Roman" panose="02020603050405020304" charset="0"/>
              </a:rPr>
              <a:t>Drone Simulator</a:t>
            </a:r>
            <a:endParaRPr kumimoji="0" lang="en-US" altLang="zh-CN" sz="3600" b="0" i="0" u="none" strike="noStrike" kern="0" cap="none" spc="0" normalizeH="0" baseline="0" noProof="1">
              <a:latin typeface="Times New Roman" panose="02020603050405020304" charset="0"/>
              <a:ea typeface="Arial" panose="020B0604020202020204" pitchFamily="34" charset="0"/>
              <a:cs typeface="Times New Roman" panose="02020603050405020304"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1" cstate="print"/>
          <a:stretch>
            <a:fillRect/>
          </a:stretch>
        </p:blipFill>
        <p:spPr>
          <a:xfrm>
            <a:off x="2413000" y="4419600"/>
            <a:ext cx="812800" cy="749300"/>
          </a:xfrm>
          <a:prstGeom prst="rect">
            <a:avLst/>
          </a:prstGeom>
        </p:spPr>
      </p:pic>
      <p:pic>
        <p:nvPicPr>
          <p:cNvPr id="3" name="object 3"/>
          <p:cNvPicPr/>
          <p:nvPr/>
        </p:nvPicPr>
        <p:blipFill>
          <a:blip r:embed="rId2" cstate="print"/>
          <a:stretch>
            <a:fillRect/>
          </a:stretch>
        </p:blipFill>
        <p:spPr>
          <a:xfrm>
            <a:off x="2413000" y="2717800"/>
            <a:ext cx="812800" cy="749300"/>
          </a:xfrm>
          <a:prstGeom prst="rect">
            <a:avLst/>
          </a:prstGeom>
        </p:spPr>
      </p:pic>
      <p:pic>
        <p:nvPicPr>
          <p:cNvPr id="4" name="object 4"/>
          <p:cNvPicPr/>
          <p:nvPr/>
        </p:nvPicPr>
        <p:blipFill>
          <a:blip r:embed="rId3" cstate="print"/>
          <a:stretch>
            <a:fillRect/>
          </a:stretch>
        </p:blipFill>
        <p:spPr>
          <a:xfrm>
            <a:off x="6172200" y="2705100"/>
            <a:ext cx="685800" cy="812800"/>
          </a:xfrm>
          <a:prstGeom prst="rect">
            <a:avLst/>
          </a:prstGeom>
        </p:spPr>
      </p:pic>
      <p:pic>
        <p:nvPicPr>
          <p:cNvPr id="5" name="object 5"/>
          <p:cNvPicPr/>
          <p:nvPr/>
        </p:nvPicPr>
        <p:blipFill>
          <a:blip r:embed="rId4" cstate="print"/>
          <a:stretch>
            <a:fillRect/>
          </a:stretch>
        </p:blipFill>
        <p:spPr>
          <a:xfrm>
            <a:off x="10629900" y="3479800"/>
            <a:ext cx="1041400" cy="1028700"/>
          </a:xfrm>
          <a:prstGeom prst="rect">
            <a:avLst/>
          </a:prstGeom>
        </p:spPr>
      </p:pic>
      <p:pic>
        <p:nvPicPr>
          <p:cNvPr id="6" name="object 6"/>
          <p:cNvPicPr/>
          <p:nvPr/>
        </p:nvPicPr>
        <p:blipFill>
          <a:blip r:embed="rId5" cstate="print"/>
          <a:stretch>
            <a:fillRect/>
          </a:stretch>
        </p:blipFill>
        <p:spPr>
          <a:xfrm>
            <a:off x="11798300" y="4419600"/>
            <a:ext cx="647700" cy="571500"/>
          </a:xfrm>
          <a:prstGeom prst="rect">
            <a:avLst/>
          </a:prstGeom>
        </p:spPr>
      </p:pic>
      <p:pic>
        <p:nvPicPr>
          <p:cNvPr id="7" name="object 7"/>
          <p:cNvPicPr/>
          <p:nvPr/>
        </p:nvPicPr>
        <p:blipFill>
          <a:blip r:embed="rId6" cstate="print"/>
          <a:stretch>
            <a:fillRect/>
          </a:stretch>
        </p:blipFill>
        <p:spPr>
          <a:xfrm>
            <a:off x="12585700" y="4965700"/>
            <a:ext cx="508000" cy="584200"/>
          </a:xfrm>
          <a:prstGeom prst="rect">
            <a:avLst/>
          </a:prstGeom>
        </p:spPr>
      </p:pic>
      <p:pic>
        <p:nvPicPr>
          <p:cNvPr id="8" name="object 8"/>
          <p:cNvPicPr/>
          <p:nvPr/>
        </p:nvPicPr>
        <p:blipFill>
          <a:blip r:embed="rId7" cstate="print"/>
          <a:stretch>
            <a:fillRect/>
          </a:stretch>
        </p:blipFill>
        <p:spPr>
          <a:xfrm>
            <a:off x="11785600" y="2476500"/>
            <a:ext cx="3733800" cy="1625600"/>
          </a:xfrm>
          <a:prstGeom prst="rect">
            <a:avLst/>
          </a:prstGeom>
        </p:spPr>
      </p:pic>
      <p:pic>
        <p:nvPicPr>
          <p:cNvPr id="12" name="object 12"/>
          <p:cNvPicPr/>
          <p:nvPr/>
        </p:nvPicPr>
        <p:blipFill>
          <a:blip r:embed="rId8" cstate="print"/>
          <a:stretch>
            <a:fillRect/>
          </a:stretch>
        </p:blipFill>
        <p:spPr>
          <a:xfrm>
            <a:off x="6172200" y="4406900"/>
            <a:ext cx="685800" cy="812800"/>
          </a:xfrm>
          <a:prstGeom prst="rect">
            <a:avLst/>
          </a:prstGeom>
        </p:spPr>
      </p:pic>
      <p:pic>
        <p:nvPicPr>
          <p:cNvPr id="13" name="object 13"/>
          <p:cNvPicPr/>
          <p:nvPr/>
        </p:nvPicPr>
        <p:blipFill>
          <a:blip r:embed="rId9" cstate="print"/>
          <a:stretch>
            <a:fillRect/>
          </a:stretch>
        </p:blipFill>
        <p:spPr>
          <a:xfrm>
            <a:off x="3365500" y="4635500"/>
            <a:ext cx="2654300" cy="304800"/>
          </a:xfrm>
          <a:prstGeom prst="rect">
            <a:avLst/>
          </a:prstGeom>
        </p:spPr>
      </p:pic>
      <p:sp>
        <p:nvSpPr>
          <p:cNvPr id="14" name="object 14"/>
          <p:cNvSpPr txBox="1">
            <a:spLocks noGrp="1"/>
          </p:cNvSpPr>
          <p:nvPr>
            <p:ph type="title"/>
          </p:nvPr>
        </p:nvSpPr>
        <p:spPr>
          <a:prstGeom prst="rect">
            <a:avLst/>
          </a:prstGeom>
        </p:spPr>
        <p:txBody>
          <a:bodyPr vert="horz" wrap="square" lIns="0" tIns="12065" rIns="0" bIns="0" rtlCol="0">
            <a:spAutoFit/>
          </a:bodyPr>
          <a:lstStyle/>
          <a:p>
            <a:pPr marL="158750">
              <a:lnSpc>
                <a:spcPct val="100000"/>
              </a:lnSpc>
              <a:spcBef>
                <a:spcPts val="95"/>
              </a:spcBef>
            </a:pPr>
            <a:r>
              <a:rPr spc="-130" dirty="0"/>
              <a:t>Potential</a:t>
            </a:r>
            <a:r>
              <a:rPr spc="-340" dirty="0"/>
              <a:t> </a:t>
            </a:r>
            <a:r>
              <a:rPr spc="-254" dirty="0">
                <a:solidFill>
                  <a:srgbClr val="151515"/>
                </a:solidFill>
              </a:rPr>
              <a:t>Extensions</a:t>
            </a:r>
            <a:r>
              <a:rPr spc="60" dirty="0">
                <a:solidFill>
                  <a:srgbClr val="151515"/>
                </a:solidFill>
              </a:rPr>
              <a:t> </a:t>
            </a:r>
            <a:r>
              <a:rPr spc="-325" dirty="0">
                <a:solidFill>
                  <a:srgbClr val="1A1A1A"/>
                </a:solidFill>
              </a:rPr>
              <a:t>and</a:t>
            </a:r>
            <a:r>
              <a:rPr spc="-570" dirty="0">
                <a:solidFill>
                  <a:srgbClr val="1A1A1A"/>
                </a:solidFill>
              </a:rPr>
              <a:t> </a:t>
            </a:r>
            <a:r>
              <a:rPr spc="-229" dirty="0"/>
              <a:t>Future</a:t>
            </a:r>
            <a:r>
              <a:rPr spc="-260" dirty="0"/>
              <a:t> </a:t>
            </a:r>
            <a:r>
              <a:rPr spc="-355" dirty="0">
                <a:solidFill>
                  <a:srgbClr val="1A1A1A"/>
                </a:solidFill>
              </a:rPr>
              <a:t>Work</a:t>
            </a:r>
            <a:endParaRPr spc="-355" dirty="0">
              <a:solidFill>
                <a:srgbClr val="1A1A1A"/>
              </a:solidFill>
            </a:endParaRPr>
          </a:p>
        </p:txBody>
      </p:sp>
      <p:sp>
        <p:nvSpPr>
          <p:cNvPr id="28" name="object 28"/>
          <p:cNvSpPr txBox="1">
            <a:spLocks noGrp="1"/>
          </p:cNvSpPr>
          <p:nvPr>
            <p:ph type="ftr" sz="quarter" idx="5"/>
          </p:nvPr>
        </p:nvSpPr>
        <p:spPr>
          <a:prstGeom prst="rect">
            <a:avLst/>
          </a:prstGeom>
        </p:spPr>
        <p:txBody>
          <a:bodyPr vert="horz" wrap="square" lIns="0" tIns="0" rIns="0" bIns="0" rtlCol="0">
            <a:spAutoFit/>
          </a:bodyPr>
          <a:lstStyle/>
          <a:p>
            <a:pPr marL="12700">
              <a:lnSpc>
                <a:spcPts val="1555"/>
              </a:lnSpc>
            </a:pPr>
            <a:r>
              <a:rPr dirty="0"/>
              <a:t>G</a:t>
            </a:r>
            <a:r>
              <a:rPr spc="490" dirty="0"/>
              <a:t> </a:t>
            </a:r>
            <a:r>
              <a:rPr spc="-10" dirty="0"/>
              <a:t>NotebookLM</a:t>
            </a:r>
            <a:endParaRPr spc="-10" dirty="0"/>
          </a:p>
        </p:txBody>
      </p:sp>
      <p:sp>
        <p:nvSpPr>
          <p:cNvPr id="15" name="object 15"/>
          <p:cNvSpPr txBox="1"/>
          <p:nvPr/>
        </p:nvSpPr>
        <p:spPr>
          <a:xfrm>
            <a:off x="803266" y="1738488"/>
            <a:ext cx="7285355" cy="1063625"/>
          </a:xfrm>
          <a:prstGeom prst="rect">
            <a:avLst/>
          </a:prstGeom>
        </p:spPr>
        <p:txBody>
          <a:bodyPr vert="horz" wrap="square" lIns="0" tIns="13970" rIns="0" bIns="0" rtlCol="0">
            <a:spAutoFit/>
          </a:bodyPr>
          <a:lstStyle/>
          <a:p>
            <a:pPr marL="12700">
              <a:lnSpc>
                <a:spcPct val="100000"/>
              </a:lnSpc>
              <a:spcBef>
                <a:spcPts val="110"/>
              </a:spcBef>
            </a:pPr>
            <a:r>
              <a:rPr sz="3600" spc="-30" dirty="0">
                <a:latin typeface="Arial MT"/>
                <a:cs typeface="Arial MT"/>
              </a:rPr>
              <a:t>Network</a:t>
            </a:r>
            <a:r>
              <a:rPr sz="3600" spc="-140" dirty="0">
                <a:latin typeface="Arial MT"/>
                <a:cs typeface="Arial MT"/>
              </a:rPr>
              <a:t> </a:t>
            </a:r>
            <a:r>
              <a:rPr sz="3600" spc="-40" dirty="0">
                <a:latin typeface="Arial MT"/>
                <a:cs typeface="Arial MT"/>
              </a:rPr>
              <a:t>6</a:t>
            </a:r>
            <a:r>
              <a:rPr sz="3600" spc="-215" dirty="0">
                <a:latin typeface="Arial MT"/>
                <a:cs typeface="Arial MT"/>
              </a:rPr>
              <a:t> </a:t>
            </a:r>
            <a:r>
              <a:rPr sz="3600" spc="-85" dirty="0">
                <a:latin typeface="Arial MT"/>
                <a:cs typeface="Arial MT"/>
              </a:rPr>
              <a:t>Performance</a:t>
            </a:r>
            <a:r>
              <a:rPr sz="3600" spc="-135" dirty="0">
                <a:latin typeface="Arial MT"/>
                <a:cs typeface="Arial MT"/>
              </a:rPr>
              <a:t> </a:t>
            </a:r>
            <a:r>
              <a:rPr sz="3600" spc="-10" dirty="0">
                <a:latin typeface="Arial MT"/>
                <a:cs typeface="Arial MT"/>
              </a:rPr>
              <a:t>Optimization</a:t>
            </a:r>
            <a:endParaRPr sz="3600">
              <a:latin typeface="Arial MT"/>
              <a:cs typeface="Arial MT"/>
            </a:endParaRPr>
          </a:p>
          <a:p>
            <a:pPr marL="409575" algn="ctr">
              <a:lnSpc>
                <a:spcPct val="100000"/>
              </a:lnSpc>
              <a:spcBef>
                <a:spcPts val="1680"/>
              </a:spcBef>
            </a:pPr>
            <a:r>
              <a:rPr sz="1800" spc="-204" dirty="0">
                <a:latin typeface="Arial MT"/>
                <a:cs typeface="Arial MT"/>
              </a:rPr>
              <a:t>HTTP</a:t>
            </a:r>
            <a:r>
              <a:rPr sz="1800" spc="-100" dirty="0">
                <a:latin typeface="Arial MT"/>
                <a:cs typeface="Arial MT"/>
              </a:rPr>
              <a:t> </a:t>
            </a:r>
            <a:r>
              <a:rPr sz="1800" spc="-10" dirty="0">
                <a:latin typeface="Arial MT"/>
                <a:cs typeface="Arial MT"/>
              </a:rPr>
              <a:t>Polling</a:t>
            </a:r>
            <a:endParaRPr sz="1800">
              <a:latin typeface="Arial MT"/>
              <a:cs typeface="Arial MT"/>
            </a:endParaRPr>
          </a:p>
        </p:txBody>
      </p:sp>
      <p:sp>
        <p:nvSpPr>
          <p:cNvPr id="16" name="object 16"/>
          <p:cNvSpPr txBox="1"/>
          <p:nvPr/>
        </p:nvSpPr>
        <p:spPr>
          <a:xfrm>
            <a:off x="9169879" y="1738488"/>
            <a:ext cx="6336665" cy="1296670"/>
          </a:xfrm>
          <a:prstGeom prst="rect">
            <a:avLst/>
          </a:prstGeom>
        </p:spPr>
        <p:txBody>
          <a:bodyPr vert="horz" wrap="square" lIns="0" tIns="13970" rIns="0" bIns="0" rtlCol="0">
            <a:spAutoFit/>
          </a:bodyPr>
          <a:lstStyle/>
          <a:p>
            <a:pPr marL="12700">
              <a:lnSpc>
                <a:spcPct val="100000"/>
              </a:lnSpc>
              <a:spcBef>
                <a:spcPts val="110"/>
              </a:spcBef>
            </a:pPr>
            <a:r>
              <a:rPr sz="3600" spc="-95" dirty="0">
                <a:latin typeface="Arial MT"/>
                <a:cs typeface="Arial MT"/>
              </a:rPr>
              <a:t>Feature</a:t>
            </a:r>
            <a:r>
              <a:rPr sz="3600" spc="-204" dirty="0">
                <a:latin typeface="Arial MT"/>
                <a:cs typeface="Arial MT"/>
              </a:rPr>
              <a:t> </a:t>
            </a:r>
            <a:r>
              <a:rPr sz="3600" spc="-20" dirty="0">
                <a:latin typeface="Arial MT"/>
                <a:cs typeface="Arial MT"/>
              </a:rPr>
              <a:t>Enhancements</a:t>
            </a:r>
            <a:endParaRPr sz="3600">
              <a:latin typeface="Arial MT"/>
              <a:cs typeface="Arial MT"/>
            </a:endParaRPr>
          </a:p>
          <a:p>
            <a:pPr marL="4072255" marR="5080" indent="-1270">
              <a:lnSpc>
                <a:spcPts val="1750"/>
              </a:lnSpc>
              <a:spcBef>
                <a:spcPts val="2180"/>
              </a:spcBef>
            </a:pPr>
            <a:r>
              <a:rPr sz="1700" spc="-65" dirty="0">
                <a:latin typeface="Arial MT"/>
                <a:cs typeface="Arial MT"/>
              </a:rPr>
              <a:t>Data</a:t>
            </a:r>
            <a:r>
              <a:rPr sz="1700" spc="-70" dirty="0">
                <a:latin typeface="Arial MT"/>
                <a:cs typeface="Arial MT"/>
              </a:rPr>
              <a:t> </a:t>
            </a:r>
            <a:r>
              <a:rPr sz="1700" spc="-35" dirty="0">
                <a:latin typeface="Arial MT"/>
                <a:cs typeface="Arial MT"/>
              </a:rPr>
              <a:t>Persistence</a:t>
            </a:r>
            <a:r>
              <a:rPr sz="1700" spc="5" dirty="0">
                <a:latin typeface="Arial MT"/>
                <a:cs typeface="Arial MT"/>
              </a:rPr>
              <a:t> </a:t>
            </a:r>
            <a:r>
              <a:rPr sz="1700" dirty="0">
                <a:latin typeface="Arial MT"/>
                <a:cs typeface="Arial MT"/>
              </a:rPr>
              <a:t>-</a:t>
            </a:r>
            <a:r>
              <a:rPr sz="1700" spc="-155" dirty="0">
                <a:latin typeface="Arial MT"/>
                <a:cs typeface="Arial MT"/>
              </a:rPr>
              <a:t> </a:t>
            </a:r>
            <a:r>
              <a:rPr sz="1700" spc="-20" dirty="0">
                <a:latin typeface="Arial MT"/>
                <a:cs typeface="Arial MT"/>
              </a:rPr>
              <a:t>Flight </a:t>
            </a:r>
            <a:r>
              <a:rPr sz="1700" spc="-85" dirty="0">
                <a:latin typeface="Arial MT"/>
                <a:cs typeface="Arial MT"/>
              </a:rPr>
              <a:t>Logs</a:t>
            </a:r>
            <a:r>
              <a:rPr sz="1700" spc="-100" dirty="0">
                <a:latin typeface="Arial MT"/>
                <a:cs typeface="Arial MT"/>
              </a:rPr>
              <a:t> </a:t>
            </a:r>
            <a:r>
              <a:rPr sz="1700" spc="85" dirty="0">
                <a:latin typeface="Arial MT"/>
                <a:cs typeface="Arial MT"/>
              </a:rPr>
              <a:t>6</a:t>
            </a:r>
            <a:r>
              <a:rPr sz="1700" spc="-190" dirty="0">
                <a:latin typeface="Arial MT"/>
                <a:cs typeface="Arial MT"/>
              </a:rPr>
              <a:t> </a:t>
            </a:r>
            <a:r>
              <a:rPr sz="1700" spc="-10" dirty="0">
                <a:latin typeface="Arial MT"/>
                <a:cs typeface="Arial MT"/>
              </a:rPr>
              <a:t>Trajectories</a:t>
            </a:r>
            <a:endParaRPr sz="1700">
              <a:latin typeface="Arial MT"/>
              <a:cs typeface="Arial MT"/>
            </a:endParaRPr>
          </a:p>
        </p:txBody>
      </p:sp>
      <p:sp>
        <p:nvSpPr>
          <p:cNvPr id="17" name="object 17"/>
          <p:cNvSpPr txBox="1"/>
          <p:nvPr/>
        </p:nvSpPr>
        <p:spPr>
          <a:xfrm>
            <a:off x="1375681" y="2852208"/>
            <a:ext cx="859155" cy="374650"/>
          </a:xfrm>
          <a:prstGeom prst="rect">
            <a:avLst/>
          </a:prstGeom>
        </p:spPr>
        <p:txBody>
          <a:bodyPr vert="horz" wrap="square" lIns="0" tIns="11430" rIns="0" bIns="0" rtlCol="0">
            <a:spAutoFit/>
          </a:bodyPr>
          <a:lstStyle/>
          <a:p>
            <a:pPr marL="12700">
              <a:lnSpc>
                <a:spcPct val="100000"/>
              </a:lnSpc>
              <a:spcBef>
                <a:spcPts val="90"/>
              </a:spcBef>
            </a:pPr>
            <a:r>
              <a:rPr sz="2300" spc="-120" dirty="0">
                <a:latin typeface="Arial MT"/>
                <a:cs typeface="Arial MT"/>
              </a:rPr>
              <a:t>Before:</a:t>
            </a:r>
            <a:endParaRPr sz="2300">
              <a:latin typeface="Arial MT"/>
              <a:cs typeface="Arial MT"/>
            </a:endParaRPr>
          </a:p>
        </p:txBody>
      </p:sp>
      <p:sp>
        <p:nvSpPr>
          <p:cNvPr id="18" name="object 18"/>
          <p:cNvSpPr txBox="1"/>
          <p:nvPr/>
        </p:nvSpPr>
        <p:spPr>
          <a:xfrm>
            <a:off x="1384727" y="4554008"/>
            <a:ext cx="685165" cy="374650"/>
          </a:xfrm>
          <a:prstGeom prst="rect">
            <a:avLst/>
          </a:prstGeom>
        </p:spPr>
        <p:txBody>
          <a:bodyPr vert="horz" wrap="square" lIns="0" tIns="11430" rIns="0" bIns="0" rtlCol="0">
            <a:spAutoFit/>
          </a:bodyPr>
          <a:lstStyle/>
          <a:p>
            <a:pPr marL="12700">
              <a:lnSpc>
                <a:spcPct val="100000"/>
              </a:lnSpc>
              <a:spcBef>
                <a:spcPts val="90"/>
              </a:spcBef>
            </a:pPr>
            <a:r>
              <a:rPr sz="2300" spc="-50" dirty="0">
                <a:latin typeface="Arial MT"/>
                <a:cs typeface="Arial MT"/>
              </a:rPr>
              <a:t>After:</a:t>
            </a:r>
            <a:endParaRPr sz="2300">
              <a:latin typeface="Arial MT"/>
              <a:cs typeface="Arial MT"/>
            </a:endParaRPr>
          </a:p>
        </p:txBody>
      </p:sp>
      <p:sp>
        <p:nvSpPr>
          <p:cNvPr id="19" name="object 19"/>
          <p:cNvSpPr txBox="1"/>
          <p:nvPr/>
        </p:nvSpPr>
        <p:spPr>
          <a:xfrm>
            <a:off x="2380766" y="3508375"/>
            <a:ext cx="854710" cy="311150"/>
          </a:xfrm>
          <a:prstGeom prst="rect">
            <a:avLst/>
          </a:prstGeom>
        </p:spPr>
        <p:txBody>
          <a:bodyPr vert="horz" wrap="square" lIns="0" tIns="15875" rIns="0" bIns="0" rtlCol="0">
            <a:spAutoFit/>
          </a:bodyPr>
          <a:lstStyle/>
          <a:p>
            <a:pPr marL="12700">
              <a:lnSpc>
                <a:spcPct val="100000"/>
              </a:lnSpc>
              <a:spcBef>
                <a:spcPts val="125"/>
              </a:spcBef>
            </a:pPr>
            <a:r>
              <a:rPr sz="1850" spc="-105" dirty="0">
                <a:latin typeface="Arial MT"/>
                <a:cs typeface="Arial MT"/>
              </a:rPr>
              <a:t>Frontend</a:t>
            </a:r>
            <a:endParaRPr sz="1850">
              <a:latin typeface="Arial MT"/>
              <a:cs typeface="Arial MT"/>
            </a:endParaRPr>
          </a:p>
        </p:txBody>
      </p:sp>
      <p:sp>
        <p:nvSpPr>
          <p:cNvPr id="20" name="object 20"/>
          <p:cNvSpPr txBox="1"/>
          <p:nvPr/>
        </p:nvSpPr>
        <p:spPr>
          <a:xfrm>
            <a:off x="3936884" y="2858558"/>
            <a:ext cx="1348740" cy="279400"/>
          </a:xfrm>
          <a:prstGeom prst="rect">
            <a:avLst/>
          </a:prstGeom>
        </p:spPr>
        <p:txBody>
          <a:bodyPr vert="horz" wrap="square" lIns="0" tIns="14604" rIns="0" bIns="0" rtlCol="0">
            <a:spAutoFit/>
          </a:bodyPr>
          <a:lstStyle/>
          <a:p>
            <a:pPr marL="12700">
              <a:lnSpc>
                <a:spcPct val="100000"/>
              </a:lnSpc>
              <a:spcBef>
                <a:spcPts val="115"/>
              </a:spcBef>
            </a:pPr>
            <a:r>
              <a:rPr sz="1650" spc="-10" dirty="0">
                <a:latin typeface="Arial MT"/>
                <a:cs typeface="Arial MT"/>
              </a:rPr>
              <a:t>(High</a:t>
            </a:r>
            <a:r>
              <a:rPr sz="1650" spc="-100" dirty="0">
                <a:latin typeface="Arial MT"/>
                <a:cs typeface="Arial MT"/>
              </a:rPr>
              <a:t> </a:t>
            </a:r>
            <a:r>
              <a:rPr sz="1650" spc="-20" dirty="0">
                <a:latin typeface="Arial MT"/>
                <a:cs typeface="Arial MT"/>
              </a:rPr>
              <a:t>Latency)</a:t>
            </a:r>
            <a:endParaRPr sz="1650">
              <a:latin typeface="Arial MT"/>
              <a:cs typeface="Arial MT"/>
            </a:endParaRPr>
          </a:p>
        </p:txBody>
      </p:sp>
      <p:sp>
        <p:nvSpPr>
          <p:cNvPr id="21" name="object 21"/>
          <p:cNvSpPr txBox="1"/>
          <p:nvPr/>
        </p:nvSpPr>
        <p:spPr>
          <a:xfrm>
            <a:off x="4086708" y="4154663"/>
            <a:ext cx="1151890" cy="518795"/>
          </a:xfrm>
          <a:prstGeom prst="rect">
            <a:avLst/>
          </a:prstGeom>
        </p:spPr>
        <p:txBody>
          <a:bodyPr vert="horz" wrap="square" lIns="0" tIns="50165" rIns="0" bIns="0" rtlCol="0">
            <a:spAutoFit/>
          </a:bodyPr>
          <a:lstStyle/>
          <a:p>
            <a:pPr marL="78105" marR="5080" indent="-66040">
              <a:lnSpc>
                <a:spcPts val="1800"/>
              </a:lnSpc>
              <a:spcBef>
                <a:spcPts val="395"/>
              </a:spcBef>
            </a:pPr>
            <a:r>
              <a:rPr sz="1700" spc="-80" dirty="0">
                <a:latin typeface="Arial MT"/>
                <a:cs typeface="Arial MT"/>
              </a:rPr>
              <a:t>WebSockets </a:t>
            </a:r>
            <a:r>
              <a:rPr sz="1700" spc="-55" dirty="0">
                <a:latin typeface="Arial MT"/>
                <a:cs typeface="Arial MT"/>
              </a:rPr>
              <a:t>(Low-</a:t>
            </a:r>
            <a:r>
              <a:rPr sz="1700" spc="-20" dirty="0">
                <a:latin typeface="Arial MT"/>
                <a:cs typeface="Arial MT"/>
              </a:rPr>
              <a:t>time)</a:t>
            </a:r>
            <a:endParaRPr sz="1700">
              <a:latin typeface="Arial MT"/>
              <a:cs typeface="Arial MT"/>
            </a:endParaRPr>
          </a:p>
        </p:txBody>
      </p:sp>
      <p:sp>
        <p:nvSpPr>
          <p:cNvPr id="22" name="object 22"/>
          <p:cNvSpPr txBox="1"/>
          <p:nvPr/>
        </p:nvSpPr>
        <p:spPr>
          <a:xfrm>
            <a:off x="5704016" y="3526013"/>
            <a:ext cx="1595755" cy="290195"/>
          </a:xfrm>
          <a:prstGeom prst="rect">
            <a:avLst/>
          </a:prstGeom>
        </p:spPr>
        <p:txBody>
          <a:bodyPr vert="horz" wrap="square" lIns="0" tIns="17145" rIns="0" bIns="0" rtlCol="0">
            <a:spAutoFit/>
          </a:bodyPr>
          <a:lstStyle/>
          <a:p>
            <a:pPr marL="12700">
              <a:lnSpc>
                <a:spcPct val="100000"/>
              </a:lnSpc>
              <a:spcBef>
                <a:spcPts val="135"/>
              </a:spcBef>
            </a:pPr>
            <a:r>
              <a:rPr sz="1700" spc="-90" dirty="0">
                <a:latin typeface="Arial MT"/>
                <a:cs typeface="Arial MT"/>
              </a:rPr>
              <a:t>Command</a:t>
            </a:r>
            <a:r>
              <a:rPr sz="1700" spc="-80" dirty="0">
                <a:latin typeface="Arial MT"/>
                <a:cs typeface="Arial MT"/>
              </a:rPr>
              <a:t> </a:t>
            </a:r>
            <a:r>
              <a:rPr sz="1700" spc="-45" dirty="0">
                <a:latin typeface="Arial MT"/>
                <a:cs typeface="Arial MT"/>
              </a:rPr>
              <a:t>Server</a:t>
            </a:r>
            <a:endParaRPr sz="1700">
              <a:latin typeface="Arial MT"/>
              <a:cs typeface="Arial MT"/>
            </a:endParaRPr>
          </a:p>
        </p:txBody>
      </p:sp>
      <p:sp>
        <p:nvSpPr>
          <p:cNvPr id="23" name="object 23"/>
          <p:cNvSpPr txBox="1"/>
          <p:nvPr/>
        </p:nvSpPr>
        <p:spPr>
          <a:xfrm>
            <a:off x="4045911" y="4852105"/>
            <a:ext cx="1209040" cy="544195"/>
          </a:xfrm>
          <a:prstGeom prst="rect">
            <a:avLst/>
          </a:prstGeom>
        </p:spPr>
        <p:txBody>
          <a:bodyPr vert="horz" wrap="square" lIns="0" tIns="86995" rIns="0" bIns="0" rtlCol="0">
            <a:spAutoFit/>
          </a:bodyPr>
          <a:lstStyle/>
          <a:p>
            <a:pPr marL="12700" marR="5080" indent="104140">
              <a:lnSpc>
                <a:spcPct val="75000"/>
              </a:lnSpc>
              <a:spcBef>
                <a:spcPts val="685"/>
              </a:spcBef>
            </a:pPr>
            <a:r>
              <a:rPr sz="1950" spc="-170" dirty="0">
                <a:latin typeface="Arial MT"/>
                <a:cs typeface="Arial MT"/>
              </a:rPr>
              <a:t>(Real-</a:t>
            </a:r>
            <a:r>
              <a:rPr sz="1950" spc="-30" dirty="0">
                <a:latin typeface="Arial MT"/>
                <a:cs typeface="Arial MT"/>
              </a:rPr>
              <a:t>time, </a:t>
            </a:r>
            <a:r>
              <a:rPr sz="1950" spc="-295" dirty="0">
                <a:latin typeface="Arial MT"/>
                <a:cs typeface="Arial MT"/>
              </a:rPr>
              <a:t>Low</a:t>
            </a:r>
            <a:r>
              <a:rPr sz="1950" spc="-80" dirty="0">
                <a:latin typeface="Arial MT"/>
                <a:cs typeface="Arial MT"/>
              </a:rPr>
              <a:t> </a:t>
            </a:r>
            <a:r>
              <a:rPr sz="1950" spc="-180" dirty="0">
                <a:latin typeface="Arial MT"/>
                <a:cs typeface="Arial MT"/>
              </a:rPr>
              <a:t>Latency)</a:t>
            </a:r>
            <a:endParaRPr sz="1950">
              <a:latin typeface="Arial MT"/>
              <a:cs typeface="Arial MT"/>
            </a:endParaRPr>
          </a:p>
        </p:txBody>
      </p:sp>
      <p:sp>
        <p:nvSpPr>
          <p:cNvPr id="24" name="object 24"/>
          <p:cNvSpPr txBox="1"/>
          <p:nvPr/>
        </p:nvSpPr>
        <p:spPr>
          <a:xfrm>
            <a:off x="2529016" y="5221463"/>
            <a:ext cx="4770755" cy="290195"/>
          </a:xfrm>
          <a:prstGeom prst="rect">
            <a:avLst/>
          </a:prstGeom>
        </p:spPr>
        <p:txBody>
          <a:bodyPr vert="horz" wrap="square" lIns="0" tIns="17145" rIns="0" bIns="0" rtlCol="0">
            <a:spAutoFit/>
          </a:bodyPr>
          <a:lstStyle/>
          <a:p>
            <a:pPr marL="12700">
              <a:lnSpc>
                <a:spcPct val="100000"/>
              </a:lnSpc>
              <a:spcBef>
                <a:spcPts val="135"/>
              </a:spcBef>
              <a:tabLst>
                <a:tab pos="3187065" algn="l"/>
              </a:tabLst>
            </a:pPr>
            <a:r>
              <a:rPr sz="1700" spc="-10" dirty="0">
                <a:latin typeface="Arial MT"/>
                <a:cs typeface="Arial MT"/>
              </a:rPr>
              <a:t>Client</a:t>
            </a:r>
            <a:r>
              <a:rPr sz="1700" dirty="0">
                <a:latin typeface="Arial MT"/>
                <a:cs typeface="Arial MT"/>
              </a:rPr>
              <a:t>	</a:t>
            </a:r>
            <a:r>
              <a:rPr sz="1700" spc="-90" dirty="0">
                <a:latin typeface="Arial MT"/>
                <a:cs typeface="Arial MT"/>
              </a:rPr>
              <a:t>Command</a:t>
            </a:r>
            <a:r>
              <a:rPr sz="1700" spc="-80" dirty="0">
                <a:latin typeface="Arial MT"/>
                <a:cs typeface="Arial MT"/>
              </a:rPr>
              <a:t> </a:t>
            </a:r>
            <a:r>
              <a:rPr sz="1700" spc="-40" dirty="0">
                <a:latin typeface="Arial MT"/>
                <a:cs typeface="Arial MT"/>
              </a:rPr>
              <a:t>Server</a:t>
            </a:r>
            <a:endParaRPr sz="1700">
              <a:latin typeface="Arial MT"/>
              <a:cs typeface="Arial MT"/>
            </a:endParaRPr>
          </a:p>
        </p:txBody>
      </p:sp>
      <p:sp>
        <p:nvSpPr>
          <p:cNvPr id="25" name="object 25"/>
          <p:cNvSpPr txBox="1"/>
          <p:nvPr/>
        </p:nvSpPr>
        <p:spPr>
          <a:xfrm>
            <a:off x="812937" y="5639082"/>
            <a:ext cx="7402195" cy="4712335"/>
          </a:xfrm>
          <a:prstGeom prst="rect">
            <a:avLst/>
          </a:prstGeom>
        </p:spPr>
        <p:txBody>
          <a:bodyPr vert="horz" wrap="square" lIns="0" tIns="57150" rIns="0" bIns="0" rtlCol="0">
            <a:spAutoFit/>
          </a:bodyPr>
          <a:lstStyle/>
          <a:p>
            <a:pPr marL="257175" marR="338455" indent="-243205" eaLnBrk="1" fontAlgn="auto" latinLnBrk="0" hangingPunct="1">
              <a:lnSpc>
                <a:spcPct val="90000"/>
              </a:lnSpc>
              <a:spcBef>
                <a:spcPts val="600"/>
              </a:spcBef>
              <a:spcAft>
                <a:spcPts val="600"/>
              </a:spcAft>
              <a:buClr>
                <a:srgbClr val="3380E8"/>
              </a:buClr>
              <a:buChar char="•"/>
              <a:tabLst>
                <a:tab pos="263525" algn="l"/>
              </a:tabLst>
            </a:pPr>
            <a:r>
              <a:rPr lang="en-US" altLang="zh-CN" sz="2750" b="1">
                <a:latin typeface="Times New Roman" panose="02020603050405020304" charset="0"/>
                <a:cs typeface="Times New Roman" panose="02020603050405020304" charset="0"/>
              </a:rPr>
              <a:t>From Polling to Push:</a:t>
            </a:r>
            <a:r>
              <a:rPr lang="en-US" altLang="zh-CN" sz="2750">
                <a:latin typeface="Times New Roman" panose="02020603050405020304" charset="0"/>
                <a:cs typeface="Times New Roman" panose="02020603050405020304" charset="0"/>
              </a:rPr>
              <a:t> Replace the frontend's HTTP polling with WebSockets for true real-time, low- 	latency updates pushed from the server.</a:t>
            </a:r>
            <a:endParaRPr lang="en-US" altLang="zh-CN" sz="2750">
              <a:latin typeface="Times New Roman" panose="02020603050405020304" charset="0"/>
              <a:cs typeface="Times New Roman" panose="02020603050405020304" charset="0"/>
            </a:endParaRPr>
          </a:p>
          <a:p>
            <a:pPr marL="256540" marR="5080" indent="-244475" eaLnBrk="1" fontAlgn="auto" latinLnBrk="0" hangingPunct="1">
              <a:lnSpc>
                <a:spcPct val="85000"/>
              </a:lnSpc>
              <a:spcBef>
                <a:spcPts val="600"/>
              </a:spcBef>
              <a:spcAft>
                <a:spcPts val="600"/>
              </a:spcAft>
              <a:buClr>
                <a:srgbClr val="3A7EE4"/>
              </a:buClr>
              <a:buChar char="•"/>
              <a:tabLst>
                <a:tab pos="262255" algn="l"/>
              </a:tabLst>
            </a:pPr>
            <a:r>
              <a:rPr lang="en-US" altLang="zh-CN" sz="2900" b="1">
                <a:latin typeface="Times New Roman" panose="02020603050405020304" charset="0"/>
                <a:cs typeface="Times New Roman" panose="02020603050405020304" charset="0"/>
              </a:rPr>
              <a:t>Efficient Protocol</a:t>
            </a:r>
            <a:r>
              <a:rPr lang="zh-CN" altLang="en-US" sz="2900" b="1">
                <a:latin typeface="Times New Roman" panose="02020603050405020304" charset="0"/>
                <a:ea typeface="宋体" panose="02010600030101010101" pitchFamily="2" charset="-122"/>
                <a:cs typeface="Times New Roman" panose="02020603050405020304" charset="0"/>
              </a:rPr>
              <a:t>：</a:t>
            </a:r>
            <a:r>
              <a:rPr lang="en-US" altLang="zh-CN" sz="2900">
                <a:latin typeface="Times New Roman" panose="02020603050405020304" charset="0"/>
                <a:cs typeface="Times New Roman" panose="02020603050405020304" charset="0"/>
              </a:rPr>
              <a:t>Migrate from  JSON to a binary format like Protocol Buffers (Protobuf) to reduce  network overhead, critical for real-world applications.</a:t>
            </a:r>
            <a:endParaRPr lang="en-US" altLang="zh-CN" sz="2900">
              <a:latin typeface="Times New Roman" panose="02020603050405020304" charset="0"/>
              <a:cs typeface="Times New Roman" panose="02020603050405020304" charset="0"/>
            </a:endParaRPr>
          </a:p>
          <a:p>
            <a:pPr marL="257175" marR="276860" indent="-243840" eaLnBrk="1" fontAlgn="auto" latinLnBrk="0" hangingPunct="1">
              <a:lnSpc>
                <a:spcPts val="3000"/>
              </a:lnSpc>
              <a:spcBef>
                <a:spcPts val="600"/>
              </a:spcBef>
              <a:spcAft>
                <a:spcPts val="600"/>
              </a:spcAft>
              <a:buClr>
                <a:srgbClr val="3B82E4"/>
              </a:buClr>
              <a:buChar char="•"/>
              <a:tabLst>
                <a:tab pos="260985" algn="l"/>
              </a:tabLst>
            </a:pPr>
            <a:r>
              <a:rPr lang="en-US" altLang="zh-CN" sz="2750" b="1">
                <a:latin typeface="Times New Roman" panose="02020603050405020304" charset="0"/>
                <a:cs typeface="Times New Roman" panose="02020603050405020304" charset="0"/>
              </a:rPr>
              <a:t>Resilience: </a:t>
            </a:r>
            <a:r>
              <a:rPr lang="en-US" altLang="zh-CN" sz="2750">
                <a:latin typeface="Times New Roman" panose="02020603050405020304" charset="0"/>
                <a:cs typeface="Times New Roman" panose="02020603050405020304" charset="0"/>
              </a:rPr>
              <a:t>Implement a heartbeat mechanism and 	automatic reconnection logic for drones.</a:t>
            </a:r>
            <a:endParaRPr lang="en-US" altLang="zh-CN" sz="2750">
              <a:latin typeface="Times New Roman" panose="02020603050405020304" charset="0"/>
              <a:cs typeface="Times New Roman" panose="02020603050405020304" charset="0"/>
            </a:endParaRPr>
          </a:p>
          <a:p>
            <a:pPr marL="257175" marR="276860" indent="-243840" eaLnBrk="1" fontAlgn="auto" latinLnBrk="0" hangingPunct="1">
              <a:lnSpc>
                <a:spcPts val="3000"/>
              </a:lnSpc>
              <a:spcBef>
                <a:spcPts val="600"/>
              </a:spcBef>
              <a:spcAft>
                <a:spcPts val="600"/>
              </a:spcAft>
              <a:buClr>
                <a:srgbClr val="3B82E4"/>
              </a:buClr>
              <a:buChar char="•"/>
              <a:tabLst>
                <a:tab pos="260985" algn="l"/>
              </a:tabLst>
            </a:pPr>
            <a:endParaRPr lang="en-US" altLang="zh-CN" sz="2750">
              <a:latin typeface="Times New Roman" panose="02020603050405020304" charset="0"/>
              <a:cs typeface="Times New Roman" panose="02020603050405020304" charset="0"/>
            </a:endParaRPr>
          </a:p>
        </p:txBody>
      </p:sp>
      <p:sp>
        <p:nvSpPr>
          <p:cNvPr id="26" name="object 26"/>
          <p:cNvSpPr txBox="1"/>
          <p:nvPr/>
        </p:nvSpPr>
        <p:spPr>
          <a:xfrm>
            <a:off x="12834073" y="4098925"/>
            <a:ext cx="3049905" cy="1522730"/>
          </a:xfrm>
          <a:prstGeom prst="rect">
            <a:avLst/>
          </a:prstGeom>
        </p:spPr>
        <p:txBody>
          <a:bodyPr vert="horz" wrap="square" lIns="0" tIns="71120" rIns="0" bIns="0" rtlCol="0">
            <a:spAutoFit/>
          </a:bodyPr>
          <a:lstStyle/>
          <a:p>
            <a:pPr marL="12065" marR="436880" indent="28575" algn="ctr">
              <a:lnSpc>
                <a:spcPct val="80000"/>
              </a:lnSpc>
              <a:spcBef>
                <a:spcPts val="560"/>
              </a:spcBef>
            </a:pPr>
            <a:r>
              <a:rPr sz="1850" spc="-145" dirty="0">
                <a:latin typeface="Arial MT"/>
                <a:cs typeface="Arial MT"/>
              </a:rPr>
              <a:t>Advanced</a:t>
            </a:r>
            <a:r>
              <a:rPr sz="1850" spc="-100" dirty="0">
                <a:latin typeface="Arial MT"/>
                <a:cs typeface="Arial MT"/>
              </a:rPr>
              <a:t> </a:t>
            </a:r>
            <a:r>
              <a:rPr sz="1850" spc="-70" dirty="0">
                <a:latin typeface="Arial MT"/>
                <a:cs typeface="Arial MT"/>
              </a:rPr>
              <a:t>Flight</a:t>
            </a:r>
            <a:r>
              <a:rPr sz="1850" spc="-135" dirty="0">
                <a:latin typeface="Arial MT"/>
                <a:cs typeface="Arial MT"/>
              </a:rPr>
              <a:t> </a:t>
            </a:r>
            <a:r>
              <a:rPr sz="1850" spc="-110" dirty="0">
                <a:latin typeface="Arial MT"/>
                <a:cs typeface="Arial MT"/>
              </a:rPr>
              <a:t>Planning</a:t>
            </a:r>
            <a:r>
              <a:rPr sz="1850" spc="10" dirty="0">
                <a:latin typeface="Arial MT"/>
                <a:cs typeface="Arial MT"/>
              </a:rPr>
              <a:t> </a:t>
            </a:r>
            <a:r>
              <a:rPr sz="1850" spc="-50" dirty="0">
                <a:latin typeface="Arial MT"/>
                <a:cs typeface="Arial MT"/>
              </a:rPr>
              <a:t>- </a:t>
            </a:r>
            <a:r>
              <a:rPr sz="1950" spc="-125" dirty="0">
                <a:latin typeface="Arial MT"/>
                <a:cs typeface="Arial MT"/>
              </a:rPr>
              <a:t>Multi-</a:t>
            </a:r>
            <a:r>
              <a:rPr sz="1950" spc="-140" dirty="0">
                <a:latin typeface="Arial MT"/>
                <a:cs typeface="Arial MT"/>
              </a:rPr>
              <a:t>waypotnt,</a:t>
            </a:r>
            <a:r>
              <a:rPr sz="1950" spc="-204" dirty="0">
                <a:latin typeface="Arial MT"/>
                <a:cs typeface="Arial MT"/>
              </a:rPr>
              <a:t> </a:t>
            </a:r>
            <a:r>
              <a:rPr sz="1950" spc="-125" dirty="0">
                <a:latin typeface="Arial MT"/>
                <a:cs typeface="Arial MT"/>
              </a:rPr>
              <a:t>Pathfinding, </a:t>
            </a:r>
            <a:r>
              <a:rPr sz="1650" dirty="0">
                <a:latin typeface="Arial MT"/>
                <a:cs typeface="Arial MT"/>
              </a:rPr>
              <a:t>No-fly</a:t>
            </a:r>
            <a:r>
              <a:rPr sz="1650" spc="20" dirty="0">
                <a:latin typeface="Arial MT"/>
                <a:cs typeface="Arial MT"/>
              </a:rPr>
              <a:t> </a:t>
            </a:r>
            <a:r>
              <a:rPr sz="1650" spc="-10" dirty="0">
                <a:latin typeface="Arial MT"/>
                <a:cs typeface="Arial MT"/>
              </a:rPr>
              <a:t>Zones</a:t>
            </a:r>
            <a:endParaRPr sz="1650">
              <a:latin typeface="Arial MT"/>
              <a:cs typeface="Arial MT"/>
            </a:endParaRPr>
          </a:p>
          <a:p>
            <a:pPr marL="414655">
              <a:lnSpc>
                <a:spcPts val="1815"/>
              </a:lnSpc>
              <a:spcBef>
                <a:spcPts val="520"/>
              </a:spcBef>
            </a:pPr>
            <a:r>
              <a:rPr sz="1650" dirty="0">
                <a:latin typeface="Arial MT"/>
                <a:cs typeface="Arial MT"/>
              </a:rPr>
              <a:t>Security</a:t>
            </a:r>
            <a:r>
              <a:rPr sz="1650" spc="95" dirty="0">
                <a:latin typeface="Arial MT"/>
                <a:cs typeface="Arial MT"/>
              </a:rPr>
              <a:t> </a:t>
            </a:r>
            <a:r>
              <a:rPr sz="1650" spc="-50" dirty="0">
                <a:latin typeface="Arial MT"/>
                <a:cs typeface="Arial MT"/>
              </a:rPr>
              <a:t>-</a:t>
            </a:r>
            <a:endParaRPr sz="1650">
              <a:latin typeface="Arial MT"/>
              <a:cs typeface="Arial MT"/>
            </a:endParaRPr>
          </a:p>
          <a:p>
            <a:pPr marL="412115" marR="5080">
              <a:lnSpc>
                <a:spcPts val="1750"/>
              </a:lnSpc>
              <a:spcBef>
                <a:spcPts val="235"/>
              </a:spcBef>
            </a:pPr>
            <a:r>
              <a:rPr sz="1800" spc="-55" dirty="0">
                <a:latin typeface="Arial MT"/>
                <a:cs typeface="Arial MT"/>
              </a:rPr>
              <a:t>Authentication</a:t>
            </a:r>
            <a:r>
              <a:rPr sz="1800" spc="-25" dirty="0">
                <a:latin typeface="Arial MT"/>
                <a:cs typeface="Arial MT"/>
              </a:rPr>
              <a:t> </a:t>
            </a:r>
            <a:r>
              <a:rPr sz="1800" spc="-50" dirty="0">
                <a:latin typeface="Arial MT"/>
                <a:cs typeface="Arial MT"/>
              </a:rPr>
              <a:t>&amp; </a:t>
            </a:r>
            <a:r>
              <a:rPr sz="1800" spc="-60" dirty="0">
                <a:latin typeface="Arial MT"/>
                <a:cs typeface="Arial MT"/>
              </a:rPr>
              <a:t>Authorization,</a:t>
            </a:r>
            <a:r>
              <a:rPr sz="1800" spc="-220" dirty="0">
                <a:latin typeface="Arial MT"/>
                <a:cs typeface="Arial MT"/>
              </a:rPr>
              <a:t> </a:t>
            </a:r>
            <a:r>
              <a:rPr sz="1800" spc="-160" dirty="0">
                <a:latin typeface="Arial MT"/>
                <a:cs typeface="Arial MT"/>
              </a:rPr>
              <a:t>Command</a:t>
            </a:r>
            <a:r>
              <a:rPr sz="1800" spc="135" dirty="0">
                <a:latin typeface="Arial MT"/>
                <a:cs typeface="Arial MT"/>
              </a:rPr>
              <a:t> </a:t>
            </a:r>
            <a:r>
              <a:rPr sz="1800" spc="-185" dirty="0">
                <a:latin typeface="Arial MT"/>
                <a:cs typeface="Arial MT"/>
              </a:rPr>
              <a:t>API</a:t>
            </a:r>
            <a:endParaRPr sz="1800">
              <a:latin typeface="Arial MT"/>
              <a:cs typeface="Arial MT"/>
            </a:endParaRPr>
          </a:p>
        </p:txBody>
      </p:sp>
      <p:sp>
        <p:nvSpPr>
          <p:cNvPr id="27" name="object 27"/>
          <p:cNvSpPr txBox="1"/>
          <p:nvPr/>
        </p:nvSpPr>
        <p:spPr>
          <a:xfrm>
            <a:off x="9290325" y="5813072"/>
            <a:ext cx="7568565" cy="3442335"/>
          </a:xfrm>
          <a:prstGeom prst="rect">
            <a:avLst/>
          </a:prstGeom>
        </p:spPr>
        <p:txBody>
          <a:bodyPr vert="horz" wrap="square" lIns="0" tIns="57150" rIns="0" bIns="0" rtlCol="0">
            <a:spAutoFit/>
          </a:bodyPr>
          <a:lstStyle/>
          <a:p>
            <a:pPr marL="257175" marR="276860" indent="-243840" algn="l" rtl="0" eaLnBrk="1" fontAlgn="auto" latinLnBrk="0" hangingPunct="1">
              <a:lnSpc>
                <a:spcPts val="3000"/>
              </a:lnSpc>
              <a:spcBef>
                <a:spcPts val="600"/>
              </a:spcBef>
              <a:spcAft>
                <a:spcPts val="600"/>
              </a:spcAft>
              <a:buClr>
                <a:srgbClr val="3B82E4"/>
              </a:buClr>
              <a:buSzTx/>
              <a:buFontTx/>
              <a:buChar char="•"/>
              <a:tabLst>
                <a:tab pos="260985" algn="l"/>
              </a:tabLst>
            </a:pPr>
            <a:r>
              <a:rPr kumimoji="0" lang="en-US" altLang="zh-CN" sz="2750" b="1" i="0" u="none" strike="noStrike" kern="0" cap="none" spc="0" normalizeH="0" baseline="0" noProof="1">
                <a:latin typeface="Times New Roman" panose="02020603050405020304" charset="0"/>
                <a:ea typeface="Arial" panose="020B0604020202020204" pitchFamily="34" charset="0"/>
                <a:cs typeface="Times New Roman" panose="02020603050405020304" charset="0"/>
              </a:rPr>
              <a:t>Data Persistence: </a:t>
            </a:r>
            <a:r>
              <a:rPr kumimoji="0" lang="en-US" altLang="zh-CN" sz="2750" b="0" i="0" u="none" strike="noStrike" kern="0" cap="none" spc="0" normalizeH="0" baseline="0" noProof="1">
                <a:latin typeface="Times New Roman" panose="02020603050405020304" charset="0"/>
                <a:ea typeface="Arial" panose="020B0604020202020204" pitchFamily="34" charset="0"/>
                <a:cs typeface="Times New Roman" panose="02020603050405020304" charset="0"/>
              </a:rPr>
              <a:t>Integrate a database to store flight logs and historical trajectories for post-mission analysis and playback.</a:t>
            </a:r>
            <a:endParaRPr kumimoji="0" lang="en-US" altLang="zh-CN" sz="2750" b="0" i="0" u="none" strike="noStrike" kern="0" cap="none" spc="0" normalizeH="0" baseline="0" noProof="1">
              <a:latin typeface="Times New Roman" panose="02020603050405020304" charset="0"/>
              <a:ea typeface="Arial" panose="020B0604020202020204" pitchFamily="34" charset="0"/>
              <a:cs typeface="Times New Roman" panose="02020603050405020304" charset="0"/>
            </a:endParaRPr>
          </a:p>
          <a:p>
            <a:pPr marL="257175" marR="276860" indent="-243840" algn="l" rtl="0" eaLnBrk="1" fontAlgn="auto" latinLnBrk="0" hangingPunct="1">
              <a:lnSpc>
                <a:spcPts val="3000"/>
              </a:lnSpc>
              <a:spcBef>
                <a:spcPts val="600"/>
              </a:spcBef>
              <a:spcAft>
                <a:spcPts val="600"/>
              </a:spcAft>
              <a:buClr>
                <a:srgbClr val="3B82E4"/>
              </a:buClr>
              <a:buSzTx/>
              <a:buFontTx/>
              <a:buChar char="•"/>
              <a:tabLst>
                <a:tab pos="260985" algn="l"/>
              </a:tabLst>
            </a:pPr>
            <a:r>
              <a:rPr kumimoji="0" lang="en-US" altLang="zh-CN" sz="2750" b="0" i="0" u="none" strike="noStrike" kern="0" cap="none" spc="0" normalizeH="0" baseline="0" noProof="1">
                <a:latin typeface="Times New Roman" panose="02020603050405020304" charset="0"/>
                <a:ea typeface="Arial" panose="020B0604020202020204" pitchFamily="34" charset="0"/>
                <a:cs typeface="Times New Roman" panose="02020603050405020304" charset="0"/>
              </a:rPr>
              <a:t>	</a:t>
            </a:r>
            <a:r>
              <a:rPr kumimoji="0" lang="en-US" altLang="zh-CN" sz="2750" b="1" i="0" u="none" strike="noStrike" kern="0" cap="none" spc="0" normalizeH="0" baseline="0" noProof="1">
                <a:latin typeface="Times New Roman" panose="02020603050405020304" charset="0"/>
                <a:ea typeface="Arial" panose="020B0604020202020204" pitchFamily="34" charset="0"/>
                <a:cs typeface="Times New Roman" panose="02020603050405020304" charset="0"/>
              </a:rPr>
              <a:t>Advanced Flight Planning:</a:t>
            </a:r>
            <a:r>
              <a:rPr kumimoji="0" lang="en-US" altLang="zh-CN" sz="2750" b="0" i="0" u="none" strike="noStrike" kern="0" cap="none" spc="0" normalizeH="0" baseline="0" noProof="1">
                <a:latin typeface="Times New Roman" panose="02020603050405020304" charset="0"/>
                <a:ea typeface="Arial" panose="020B0604020202020204" pitchFamily="34" charset="0"/>
                <a:cs typeface="Times New Roman" panose="02020603050405020304" charset="0"/>
              </a:rPr>
              <a:t> Implement multi-waypoint missions, automated pathfinding, and no-fly zone detection.</a:t>
            </a:r>
            <a:endParaRPr kumimoji="0" lang="en-US" altLang="zh-CN" sz="2750" b="0" i="0" u="none" strike="noStrike" kern="0" cap="none" spc="0" normalizeH="0" baseline="0" noProof="1">
              <a:latin typeface="Times New Roman" panose="02020603050405020304" charset="0"/>
              <a:ea typeface="Arial" panose="020B0604020202020204" pitchFamily="34" charset="0"/>
              <a:cs typeface="Times New Roman" panose="02020603050405020304" charset="0"/>
            </a:endParaRPr>
          </a:p>
          <a:p>
            <a:pPr marL="257175" marR="276860" indent="-243840" algn="l" rtl="0" eaLnBrk="1" fontAlgn="auto" latinLnBrk="0" hangingPunct="1">
              <a:lnSpc>
                <a:spcPts val="3000"/>
              </a:lnSpc>
              <a:spcBef>
                <a:spcPts val="600"/>
              </a:spcBef>
              <a:spcAft>
                <a:spcPts val="600"/>
              </a:spcAft>
              <a:buClr>
                <a:srgbClr val="3B82E4"/>
              </a:buClr>
              <a:buSzTx/>
              <a:buFontTx/>
              <a:buChar char="•"/>
              <a:tabLst>
                <a:tab pos="260985" algn="l"/>
              </a:tabLst>
            </a:pPr>
            <a:r>
              <a:rPr kumimoji="0" lang="en-US" altLang="zh-CN" sz="2750" b="1" i="0" u="none" strike="noStrike" kern="0" cap="none" spc="0" normalizeH="0" baseline="0" noProof="1">
                <a:latin typeface="Times New Roman" panose="02020603050405020304" charset="0"/>
                <a:ea typeface="Arial" panose="020B0604020202020204" pitchFamily="34" charset="0"/>
                <a:cs typeface="Times New Roman" panose="02020603050405020304" charset="0"/>
              </a:rPr>
              <a:t>Security: </a:t>
            </a:r>
            <a:r>
              <a:rPr kumimoji="0" lang="en-US" altLang="zh-CN" sz="2750" b="0" i="0" u="none" strike="noStrike" kern="0" cap="none" spc="0" normalizeH="0" baseline="0" noProof="1">
                <a:latin typeface="Times New Roman" panose="02020603050405020304" charset="0"/>
                <a:ea typeface="Arial" panose="020B0604020202020204" pitchFamily="34" charset="0"/>
                <a:cs typeface="Times New Roman" panose="02020603050405020304" charset="0"/>
              </a:rPr>
              <a:t>Add authentication and authorization to 	secure the command API.</a:t>
            </a:r>
            <a:endParaRPr kumimoji="0" lang="en-US" altLang="zh-CN" sz="2750" b="0" i="0" u="none" strike="noStrike" kern="0" cap="none" spc="0" normalizeH="0" baseline="0" noProof="1">
              <a:latin typeface="Times New Roman" panose="02020603050405020304" charset="0"/>
              <a:ea typeface="Arial" panose="020B0604020202020204" pitchFamily="34" charset="0"/>
              <a:cs typeface="Times New Roman" panose="02020603050405020304" charset="0"/>
            </a:endParaRPr>
          </a:p>
        </p:txBody>
      </p:sp>
    </p:spTree>
  </p:cSld>
  <p:clrMapOvr>
    <a:masterClrMapping/>
  </p:clrMapOvr>
</p:sld>
</file>

<file path=ppt/tags/tag1.xml><?xml version="1.0" encoding="utf-8"?>
<p:tagLst xmlns:p="http://schemas.openxmlformats.org/presentationml/2006/main">
  <p:tag name="KSO_WM_UNIT_TABLE_BEAUTIFY" val="smartTable{03ff7df8-17a9-4806-9c79-067ac924fdb8}"/>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9385</Words>
  <Application>WPS 演示</Application>
  <PresentationFormat>On-screen Show (4:3)</PresentationFormat>
  <Paragraphs>388</Paragraphs>
  <Slides>16</Slides>
  <Notes>0</Notes>
  <HiddenSlides>0</HiddenSlides>
  <MMClips>0</MMClips>
  <ScaleCrop>false</ScaleCrop>
  <HeadingPairs>
    <vt:vector size="6" baseType="variant">
      <vt:variant>
        <vt:lpstr>已用的字体</vt:lpstr>
      </vt:variant>
      <vt:variant>
        <vt:i4>14</vt:i4>
      </vt:variant>
      <vt:variant>
        <vt:lpstr>主题</vt:lpstr>
      </vt:variant>
      <vt:variant>
        <vt:i4>1</vt:i4>
      </vt:variant>
      <vt:variant>
        <vt:lpstr>幻灯片标题</vt:lpstr>
      </vt:variant>
      <vt:variant>
        <vt:i4>16</vt:i4>
      </vt:variant>
    </vt:vector>
  </HeadingPairs>
  <TitlesOfParts>
    <vt:vector size="31" baseType="lpstr">
      <vt:lpstr>Arial</vt:lpstr>
      <vt:lpstr>宋体</vt:lpstr>
      <vt:lpstr>Wingdings</vt:lpstr>
      <vt:lpstr>Arial MT</vt:lpstr>
      <vt:lpstr>Times New Roman</vt:lpstr>
      <vt:lpstr>Trebuchet MS</vt:lpstr>
      <vt:lpstr>Consolas</vt:lpstr>
      <vt:lpstr>Times New Roman</vt:lpstr>
      <vt:lpstr>Cambria</vt:lpstr>
      <vt:lpstr>Arial</vt:lpstr>
      <vt:lpstr>微软雅黑</vt:lpstr>
      <vt:lpstr>Arial Unicode MS</vt:lpstr>
      <vt:lpstr>Calibri</vt:lpstr>
      <vt:lpstr>Arial Black</vt:lpstr>
      <vt:lpstr>Office Theme</vt:lpstr>
      <vt:lpstr>Management System</vt:lpstr>
      <vt:lpstr>Project Overview: A Centralized Command &amp; Control Simulation</vt:lpstr>
      <vt:lpstr>System Architecture: A Four-Component Design</vt:lpstr>
      <vt:lpstr>Three Core Engineering Pillars</vt:lpstr>
      <vt:lpstr>Pillar I: The Communication Protocol</vt:lpstr>
      <vt:lpstr>Protocol in Detail: Data Structures and Message Flow</vt:lpstr>
      <vt:lpstr>Pillar II: The Asynchronous Server Core</vt:lpstr>
      <vt:lpstr>Server Architecture: Decoupled Tasks and Safe State</vt:lpstr>
      <vt:lpstr>PowerPoint 演示文稿</vt:lpstr>
      <vt:lpstr>Pillar III: The Real-Time GUI Architecture</vt:lpstr>
      <vt:lpstr>Achieving ‘Real-Time’ with Data-Driven Updates</vt:lpstr>
      <vt:lpstr>The System in Action</vt:lpstr>
      <vt:lpstr>Implemented Features Checklist</vt:lpstr>
      <vt:lpstr>Technical Learnings and Reflections</vt:lpstr>
      <vt:lpstr>A System of Systems: Where Architecture Defines Function</vt:lpstr>
      <vt:lpstr>Potential Extensions and Future Work</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Autonomous Drone FleetManagement System</dc:title>
  <dc:creator/>
  <cp:lastModifiedBy>11</cp:lastModifiedBy>
  <cp:revision>22</cp:revision>
  <dcterms:created xsi:type="dcterms:W3CDTF">2025-11-29T11:22:00Z</dcterms:created>
  <dcterms:modified xsi:type="dcterms:W3CDTF">2025-12-03T09:57:13Z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2025-11-30T08:00:00Z</vt:filetime>
  </property>
  <property fmtid="{D5CDD505-2E9C-101B-9397-08002B2CF9AE}" pid="3" name="LastSaved">
    <vt:filetime>2025-11-30T08:00:00Z</vt:filetime>
  </property>
  <property fmtid="{D5CDD505-2E9C-101B-9397-08002B2CF9AE}" pid="4" name="ICV">
    <vt:lpwstr>D52AC6C18F1148CDB578CF55343BD4AE_13</vt:lpwstr>
  </property>
  <property fmtid="{D5CDD505-2E9C-101B-9397-08002B2CF9AE}" pid="5" name="KSOProductBuildVer">
    <vt:lpwstr>2052-12.1.0.23125</vt:lpwstr>
  </property>
</Properties>
</file>